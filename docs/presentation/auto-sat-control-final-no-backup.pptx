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4"/>
  </p:sldMasterIdLst>
  <p:notesMasterIdLst>
    <p:notesMasterId r:id="rId27"/>
  </p:notesMasterIdLst>
  <p:sldIdLst>
    <p:sldId id="259" r:id="rId5"/>
    <p:sldId id="277" r:id="rId6"/>
    <p:sldId id="261" r:id="rId7"/>
    <p:sldId id="278" r:id="rId8"/>
    <p:sldId id="263" r:id="rId9"/>
    <p:sldId id="279" r:id="rId10"/>
    <p:sldId id="284" r:id="rId11"/>
    <p:sldId id="326" r:id="rId12"/>
    <p:sldId id="328" r:id="rId13"/>
    <p:sldId id="288" r:id="rId14"/>
    <p:sldId id="290" r:id="rId15"/>
    <p:sldId id="289" r:id="rId16"/>
    <p:sldId id="329" r:id="rId17"/>
    <p:sldId id="324" r:id="rId18"/>
    <p:sldId id="325" r:id="rId19"/>
    <p:sldId id="322" r:id="rId20"/>
    <p:sldId id="323" r:id="rId21"/>
    <p:sldId id="327" r:id="rId22"/>
    <p:sldId id="287" r:id="rId23"/>
    <p:sldId id="286" r:id="rId24"/>
    <p:sldId id="262" r:id="rId25"/>
    <p:sldId id="285"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81FB5F-F9A2-4483-8ABE-0B6AAE4253FD}" v="15" dt="2026-07-05T13:54:10.688"/>
  </p1510:revLst>
</p1510:revInfo>
</file>

<file path=ppt/tableStyles.xml><?xml version="1.0" encoding="utf-8"?>
<a:tblStyleLst xmlns:a="http://schemas.openxmlformats.org/drawingml/2006/main" def="{8CE324DF-E4CA-492E-AE2F-25B033C11A72}">
  <a:tblStyle styleId="{8CE324DF-E4CA-492E-AE2F-25B033C11A7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fill>
          <a:solidFill>
            <a:schemeClr val="dk1">
              <a:alpha val="20000"/>
            </a:schemeClr>
          </a:solidFill>
        </a:fill>
      </a:tcStyle>
    </a:band1H>
    <a:band2H>
      <a:tcTxStyle/>
      <a:tcStyle>
        <a:tcBdr/>
      </a:tcStyle>
    </a:band2H>
    <a:band1V>
      <a:tcTxStyle/>
      <a:tcStyle>
        <a:tcBdr/>
        <a:fill>
          <a:solidFill>
            <a:schemeClr val="dk1">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12700" cap="flat" cmpd="sng">
              <a:solidFill>
                <a:schemeClr val="dk1"/>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12700" cap="flat" cmpd="sng">
              <a:solidFill>
                <a:schemeClr val="dk1"/>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de-CH"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0EF3B-93A3-1CD9-6F9A-48A670EEA7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680689-E42A-1C33-AA3F-58E9C9B617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5F851F-81D8-9978-EC73-2F7803CFBA0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CH" sz="1200" b="0" i="0" kern="1200" dirty="0" err="1">
                <a:solidFill>
                  <a:schemeClr val="tx1"/>
                </a:solidFill>
                <a:effectLst/>
                <a:latin typeface="+mn-lt"/>
                <a:ea typeface="+mn-ea"/>
                <a:cs typeface="+mn-cs"/>
              </a:rPr>
              <a:t>the</a:t>
            </a:r>
            <a:r>
              <a:rPr lang="de-CH" sz="1200" b="0" i="0" kern="1200" dirty="0">
                <a:solidFill>
                  <a:schemeClr val="tx1"/>
                </a:solidFill>
                <a:effectLst/>
                <a:latin typeface="+mn-lt"/>
                <a:ea typeface="+mn-ea"/>
                <a:cs typeface="+mn-cs"/>
              </a:rPr>
              <a:t> </a:t>
            </a:r>
            <a:r>
              <a:rPr lang="de-CH" sz="1200" b="0" i="0" kern="1200" dirty="0" err="1">
                <a:solidFill>
                  <a:schemeClr val="tx1"/>
                </a:solidFill>
                <a:effectLst/>
                <a:latin typeface="+mn-lt"/>
                <a:ea typeface="+mn-ea"/>
                <a:cs typeface="+mn-cs"/>
              </a:rPr>
              <a:t>satellite</a:t>
            </a:r>
            <a:r>
              <a:rPr lang="de-CH" sz="1200" b="0" i="0" kern="1200" dirty="0">
                <a:solidFill>
                  <a:schemeClr val="tx1"/>
                </a:solidFill>
                <a:effectLst/>
                <a:latin typeface="+mn-lt"/>
                <a:ea typeface="+mn-ea"/>
                <a:cs typeface="+mn-cs"/>
              </a:rPr>
              <a:t> </a:t>
            </a:r>
            <a:r>
              <a:rPr lang="de-CH" sz="1200" b="0" i="0" kern="1200" dirty="0" err="1">
                <a:solidFill>
                  <a:schemeClr val="tx1"/>
                </a:solidFill>
                <a:effectLst/>
                <a:latin typeface="+mn-lt"/>
                <a:ea typeface="+mn-ea"/>
                <a:cs typeface="+mn-cs"/>
              </a:rPr>
              <a:t>may</a:t>
            </a:r>
            <a:r>
              <a:rPr lang="de-CH" sz="1200" b="0" i="0" kern="1200" dirty="0">
                <a:solidFill>
                  <a:schemeClr val="tx1"/>
                </a:solidFill>
                <a:effectLst/>
                <a:latin typeface="+mn-lt"/>
                <a:ea typeface="+mn-ea"/>
                <a:cs typeface="+mn-cs"/>
              </a:rPr>
              <a:t> </a:t>
            </a:r>
            <a:r>
              <a:rPr lang="de-CH" sz="1200" b="0" i="0" kern="1200" dirty="0" err="1">
                <a:solidFill>
                  <a:schemeClr val="tx1"/>
                </a:solidFill>
                <a:effectLst/>
                <a:latin typeface="+mn-lt"/>
                <a:ea typeface="+mn-ea"/>
                <a:cs typeface="+mn-cs"/>
              </a:rPr>
              <a:t>be</a:t>
            </a:r>
            <a:r>
              <a:rPr lang="de-CH" sz="1200" b="0" i="0" kern="1200" dirty="0">
                <a:solidFill>
                  <a:schemeClr val="tx1"/>
                </a:solidFill>
                <a:effectLst/>
                <a:latin typeface="+mn-lt"/>
                <a:ea typeface="+mn-ea"/>
                <a:cs typeface="+mn-cs"/>
              </a:rPr>
              <a:t> in </a:t>
            </a:r>
            <a:r>
              <a:rPr lang="de-CH" sz="1200" b="0" i="0" kern="1200" dirty="0" err="1">
                <a:solidFill>
                  <a:schemeClr val="tx1"/>
                </a:solidFill>
                <a:effectLst/>
                <a:latin typeface="+mn-lt"/>
                <a:ea typeface="+mn-ea"/>
                <a:cs typeface="+mn-cs"/>
              </a:rPr>
              <a:t>the</a:t>
            </a:r>
            <a:r>
              <a:rPr lang="de-CH" sz="1200" b="0" i="0" kern="1200" dirty="0">
                <a:solidFill>
                  <a:schemeClr val="tx1"/>
                </a:solidFill>
                <a:effectLst/>
                <a:latin typeface="+mn-lt"/>
                <a:ea typeface="+mn-ea"/>
                <a:cs typeface="+mn-cs"/>
              </a:rPr>
              <a:t> </a:t>
            </a:r>
            <a:r>
              <a:rPr lang="de-CH" sz="1200" b="0" i="0" kern="1200" dirty="0" err="1">
                <a:solidFill>
                  <a:schemeClr val="tx1"/>
                </a:solidFill>
                <a:effectLst/>
                <a:latin typeface="+mn-lt"/>
                <a:ea typeface="+mn-ea"/>
                <a:cs typeface="+mn-cs"/>
              </a:rPr>
              <a:t>right</a:t>
            </a:r>
            <a:r>
              <a:rPr lang="de-CH" sz="1200" b="0" i="0" kern="1200" dirty="0">
                <a:solidFill>
                  <a:schemeClr val="tx1"/>
                </a:solidFill>
                <a:effectLst/>
                <a:latin typeface="+mn-lt"/>
                <a:ea typeface="+mn-ea"/>
                <a:cs typeface="+mn-cs"/>
              </a:rPr>
              <a:t> </a:t>
            </a:r>
            <a:r>
              <a:rPr lang="de-CH" sz="1200" b="0" i="0" kern="1200" dirty="0" err="1">
                <a:solidFill>
                  <a:schemeClr val="tx1"/>
                </a:solidFill>
                <a:effectLst/>
                <a:latin typeface="+mn-lt"/>
                <a:ea typeface="+mn-ea"/>
                <a:cs typeface="+mn-cs"/>
              </a:rPr>
              <a:t>place</a:t>
            </a:r>
            <a:r>
              <a:rPr lang="de-CH" sz="1200" b="0" i="0" kern="1200" dirty="0">
                <a:solidFill>
                  <a:schemeClr val="tx1"/>
                </a:solidFill>
                <a:effectLst/>
                <a:latin typeface="+mn-lt"/>
                <a:ea typeface="+mn-ea"/>
                <a:cs typeface="+mn-cs"/>
              </a:rPr>
              <a:t>, but </a:t>
            </a:r>
            <a:r>
              <a:rPr lang="de-CH" sz="1200" b="0" i="0" kern="1200" dirty="0" err="1">
                <a:solidFill>
                  <a:schemeClr val="tx1"/>
                </a:solidFill>
                <a:effectLst/>
                <a:latin typeface="+mn-lt"/>
                <a:ea typeface="+mn-ea"/>
                <a:cs typeface="+mn-cs"/>
              </a:rPr>
              <a:t>clouds</a:t>
            </a:r>
            <a:r>
              <a:rPr lang="de-CH" sz="1200" b="0" i="0" kern="1200" dirty="0">
                <a:solidFill>
                  <a:schemeClr val="tx1"/>
                </a:solidFill>
                <a:effectLst/>
                <a:latin typeface="+mn-lt"/>
                <a:ea typeface="+mn-ea"/>
                <a:cs typeface="+mn-cs"/>
              </a:rPr>
              <a:t> </a:t>
            </a:r>
            <a:r>
              <a:rPr lang="de-CH" sz="1200" b="0" i="0" kern="1200" dirty="0" err="1">
                <a:solidFill>
                  <a:schemeClr val="tx1"/>
                </a:solidFill>
                <a:effectLst/>
                <a:latin typeface="+mn-lt"/>
                <a:ea typeface="+mn-ea"/>
                <a:cs typeface="+mn-cs"/>
              </a:rPr>
              <a:t>can</a:t>
            </a:r>
            <a:r>
              <a:rPr lang="de-CH" sz="1200" b="0" i="0" kern="1200" dirty="0">
                <a:solidFill>
                  <a:schemeClr val="tx1"/>
                </a:solidFill>
                <a:effectLst/>
                <a:latin typeface="+mn-lt"/>
                <a:ea typeface="+mn-ea"/>
                <a:cs typeface="+mn-cs"/>
              </a:rPr>
              <a:t> still </a:t>
            </a:r>
            <a:r>
              <a:rPr lang="de-CH" sz="1200" b="0" i="0" kern="1200" dirty="0" err="1">
                <a:solidFill>
                  <a:schemeClr val="tx1"/>
                </a:solidFill>
                <a:effectLst/>
                <a:latin typeface="+mn-lt"/>
                <a:ea typeface="+mn-ea"/>
                <a:cs typeface="+mn-cs"/>
              </a:rPr>
              <a:t>make</a:t>
            </a:r>
            <a:r>
              <a:rPr lang="de-CH" sz="1200" b="0" i="0" kern="1200" dirty="0">
                <a:solidFill>
                  <a:schemeClr val="tx1"/>
                </a:solidFill>
                <a:effectLst/>
                <a:latin typeface="+mn-lt"/>
                <a:ea typeface="+mn-ea"/>
                <a:cs typeface="+mn-cs"/>
              </a:rPr>
              <a:t> </a:t>
            </a:r>
            <a:r>
              <a:rPr lang="de-CH" sz="1200" b="0" i="0" kern="1200" dirty="0" err="1">
                <a:solidFill>
                  <a:schemeClr val="tx1"/>
                </a:solidFill>
                <a:effectLst/>
                <a:latin typeface="+mn-lt"/>
                <a:ea typeface="+mn-ea"/>
                <a:cs typeface="+mn-cs"/>
              </a:rPr>
              <a:t>the</a:t>
            </a:r>
            <a:r>
              <a:rPr lang="de-CH" sz="1200" b="0" i="0" kern="1200" dirty="0">
                <a:solidFill>
                  <a:schemeClr val="tx1"/>
                </a:solidFill>
                <a:effectLst/>
                <a:latin typeface="+mn-lt"/>
                <a:ea typeface="+mn-ea"/>
                <a:cs typeface="+mn-cs"/>
              </a:rPr>
              <a:t> </a:t>
            </a:r>
            <a:r>
              <a:rPr lang="de-CH" sz="1200" b="0" i="0" kern="1200" dirty="0" err="1">
                <a:solidFill>
                  <a:schemeClr val="tx1"/>
                </a:solidFill>
                <a:effectLst/>
                <a:latin typeface="+mn-lt"/>
                <a:ea typeface="+mn-ea"/>
                <a:cs typeface="+mn-cs"/>
              </a:rPr>
              <a:t>image</a:t>
            </a:r>
            <a:r>
              <a:rPr lang="de-CH" sz="1200" b="0" i="0" kern="1200" dirty="0">
                <a:solidFill>
                  <a:schemeClr val="tx1"/>
                </a:solidFill>
                <a:effectLst/>
                <a:latin typeface="+mn-lt"/>
                <a:ea typeface="+mn-ea"/>
                <a:cs typeface="+mn-cs"/>
              </a:rPr>
              <a:t> </a:t>
            </a:r>
            <a:r>
              <a:rPr lang="de-CH" sz="1200" b="0" i="0" kern="1200" dirty="0" err="1">
                <a:solidFill>
                  <a:schemeClr val="tx1"/>
                </a:solidFill>
                <a:effectLst/>
                <a:latin typeface="+mn-lt"/>
                <a:ea typeface="+mn-ea"/>
                <a:cs typeface="+mn-cs"/>
              </a:rPr>
              <a:t>useless</a:t>
            </a:r>
            <a:r>
              <a:rPr lang="de-CH" sz="1200" b="0" i="0" kern="1200" dirty="0">
                <a:solidFill>
                  <a:schemeClr val="tx1"/>
                </a:solidFill>
                <a:effectLst/>
                <a:latin typeface="+mn-lt"/>
                <a:ea typeface="+mn-ea"/>
                <a:cs typeface="+mn-cs"/>
              </a:rPr>
              <a:t>. This </a:t>
            </a:r>
            <a:r>
              <a:rPr lang="de-CH" sz="1200" b="0" i="0" kern="1200" dirty="0" err="1">
                <a:solidFill>
                  <a:schemeClr val="tx1"/>
                </a:solidFill>
                <a:effectLst/>
                <a:latin typeface="+mn-lt"/>
                <a:ea typeface="+mn-ea"/>
                <a:cs typeface="+mn-cs"/>
              </a:rPr>
              <a:t>motivates</a:t>
            </a:r>
            <a:r>
              <a:rPr lang="de-CH" sz="1200" b="0" i="0" kern="1200" dirty="0">
                <a:solidFill>
                  <a:schemeClr val="tx1"/>
                </a:solidFill>
                <a:effectLst/>
                <a:latin typeface="+mn-lt"/>
                <a:ea typeface="+mn-ea"/>
                <a:cs typeface="+mn-cs"/>
              </a:rPr>
              <a:t> </a:t>
            </a:r>
            <a:r>
              <a:rPr lang="de-CH" sz="1200" b="0" i="0" kern="1200" dirty="0" err="1">
                <a:solidFill>
                  <a:schemeClr val="tx1"/>
                </a:solidFill>
                <a:effectLst/>
                <a:latin typeface="+mn-lt"/>
                <a:ea typeface="+mn-ea"/>
                <a:cs typeface="+mn-cs"/>
              </a:rPr>
              <a:t>onboard</a:t>
            </a:r>
            <a:r>
              <a:rPr lang="de-CH" sz="1200" b="0" i="0" kern="1200" dirty="0">
                <a:solidFill>
                  <a:schemeClr val="tx1"/>
                </a:solidFill>
                <a:effectLst/>
                <a:latin typeface="+mn-lt"/>
                <a:ea typeface="+mn-ea"/>
                <a:cs typeface="+mn-cs"/>
              </a:rPr>
              <a:t> </a:t>
            </a:r>
            <a:r>
              <a:rPr lang="de-CH" sz="1200" b="0" i="0" kern="1200" dirty="0" err="1">
                <a:solidFill>
                  <a:schemeClr val="tx1"/>
                </a:solidFill>
                <a:effectLst/>
                <a:latin typeface="+mn-lt"/>
                <a:ea typeface="+mn-ea"/>
                <a:cs typeface="+mn-cs"/>
              </a:rPr>
              <a:t>decision-making</a:t>
            </a:r>
            <a:r>
              <a:rPr lang="de-CH" sz="1200" b="0" i="0" kern="1200" dirty="0">
                <a:solidFill>
                  <a:schemeClr val="tx1"/>
                </a:solidFill>
                <a:effectLst/>
                <a:latin typeface="+mn-lt"/>
                <a:ea typeface="+mn-ea"/>
                <a:cs typeface="+mn-cs"/>
              </a:rPr>
              <a:t>.</a:t>
            </a:r>
            <a:endParaRPr lang="en-GB" dirty="0"/>
          </a:p>
        </p:txBody>
      </p:sp>
      <p:sp>
        <p:nvSpPr>
          <p:cNvPr id="4" name="Slide Number Placeholder 3">
            <a:extLst>
              <a:ext uri="{FF2B5EF4-FFF2-40B4-BE49-F238E27FC236}">
                <a16:creationId xmlns:a16="http://schemas.microsoft.com/office/drawing/2014/main" id="{775C519B-F3AA-9612-B34D-9272FC91CEA8}"/>
              </a:ext>
            </a:extLst>
          </p:cNvPr>
          <p:cNvSpPr>
            <a:spLocks noGrp="1"/>
          </p:cNvSpPr>
          <p:nvPr>
            <p:ph type="sldNum" sz="quarter" idx="5"/>
          </p:nvPr>
        </p:nvSpPr>
        <p:spPr/>
        <p:txBody>
          <a:bodyPr/>
          <a:lstStyle/>
          <a:p>
            <a:fld id="{D3103D58-B32D-4730-BA23-F9FDF23CB5A2}" type="slidenum">
              <a:rPr lang="it-CH" smtClean="0"/>
              <a:t>3</a:t>
            </a:fld>
            <a:endParaRPr lang="it-CH"/>
          </a:p>
        </p:txBody>
      </p:sp>
    </p:spTree>
    <p:extLst>
      <p:ext uri="{BB962C8B-B14F-4D97-AF65-F5344CB8AC3E}">
        <p14:creationId xmlns:p14="http://schemas.microsoft.com/office/powerpoint/2010/main" val="5814710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de-CH" sz="1200" b="0" i="0" u="none" strike="noStrike" cap="none" smtClean="0">
                <a:solidFill>
                  <a:schemeClr val="dk1"/>
                </a:solidFill>
                <a:latin typeface="Arial"/>
                <a:ea typeface="Arial"/>
                <a:cs typeface="Arial"/>
                <a:sym typeface="Arial"/>
              </a:rPr>
              <a:t>20</a:t>
            </a:fld>
            <a:endParaRPr lang="de-CH"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952493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environment-hyperparameters.md</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elfolie 04">
  <p:cSld name="Titelfolie 04">
    <p:spTree>
      <p:nvGrpSpPr>
        <p:cNvPr id="1" name="Shape 39"/>
        <p:cNvGrpSpPr/>
        <p:nvPr/>
      </p:nvGrpSpPr>
      <p:grpSpPr>
        <a:xfrm>
          <a:off x="0" y="0"/>
          <a:ext cx="0" cy="0"/>
          <a:chOff x="0" y="0"/>
          <a:chExt cx="0" cy="0"/>
        </a:xfrm>
      </p:grpSpPr>
      <p:sp>
        <p:nvSpPr>
          <p:cNvPr id="40" name="Google Shape;40;p5"/>
          <p:cNvSpPr txBox="1">
            <a:spLocks noGrp="1"/>
          </p:cNvSpPr>
          <p:nvPr>
            <p:ph type="ctrTitle"/>
          </p:nvPr>
        </p:nvSpPr>
        <p:spPr>
          <a:xfrm>
            <a:off x="731837" y="1016000"/>
            <a:ext cx="10728326" cy="5256000"/>
          </a:xfrm>
          <a:prstGeom prst="rect">
            <a:avLst/>
          </a:prstGeom>
          <a:solidFill>
            <a:schemeClr val="accent2"/>
          </a:solidFill>
          <a:ln>
            <a:noFill/>
          </a:ln>
        </p:spPr>
        <p:txBody>
          <a:bodyPr spcFirstLastPara="1" wrap="square" lIns="324000" tIns="1152000" rIns="0" bIns="0" anchor="t" anchorCtr="0">
            <a:noAutofit/>
          </a:bodyPr>
          <a:lstStyle>
            <a:lvl1pPr lvl="0" algn="l">
              <a:lnSpc>
                <a:spcPct val="10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41" name="Google Shape;41;p5"/>
          <p:cNvPicPr preferRelativeResize="0"/>
          <p:nvPr/>
        </p:nvPicPr>
        <p:blipFill rotWithShape="1">
          <a:blip r:embed="rId2">
            <a:alphaModFix/>
          </a:blip>
          <a:srcRect/>
          <a:stretch/>
        </p:blipFill>
        <p:spPr>
          <a:xfrm>
            <a:off x="731838" y="360538"/>
            <a:ext cx="1765565" cy="288000"/>
          </a:xfrm>
          <a:prstGeom prst="rect">
            <a:avLst/>
          </a:prstGeom>
          <a:noFill/>
          <a:ln>
            <a:noFill/>
          </a:ln>
        </p:spPr>
      </p:pic>
      <p:sp>
        <p:nvSpPr>
          <p:cNvPr id="42" name="Google Shape;42;p5"/>
          <p:cNvSpPr txBox="1">
            <a:spLocks noGrp="1"/>
          </p:cNvSpPr>
          <p:nvPr>
            <p:ph type="body" idx="1"/>
          </p:nvPr>
        </p:nvSpPr>
        <p:spPr>
          <a:xfrm>
            <a:off x="1078515" y="5122625"/>
            <a:ext cx="10044000" cy="1008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1800"/>
              <a:buNone/>
              <a:defRPr>
                <a:solidFill>
                  <a:schemeClr val="lt1"/>
                </a:solidFill>
              </a:defRPr>
            </a:lvl1pPr>
            <a:lvl2pPr marL="914400" lvl="1" indent="-228600" algn="l">
              <a:lnSpc>
                <a:spcPct val="100000"/>
              </a:lnSpc>
              <a:spcBef>
                <a:spcPts val="0"/>
              </a:spcBef>
              <a:spcAft>
                <a:spcPts val="0"/>
              </a:spcAft>
              <a:buClr>
                <a:schemeClr val="lt1"/>
              </a:buClr>
              <a:buSzPts val="1800"/>
              <a:buNone/>
              <a:defRPr>
                <a:solidFill>
                  <a:schemeClr val="lt1"/>
                </a:solidFill>
              </a:defRPr>
            </a:lvl2pPr>
            <a:lvl3pPr marL="1371600" lvl="2" indent="-228600" algn="l">
              <a:lnSpc>
                <a:spcPct val="100000"/>
              </a:lnSpc>
              <a:spcBef>
                <a:spcPts val="0"/>
              </a:spcBef>
              <a:spcAft>
                <a:spcPts val="0"/>
              </a:spcAft>
              <a:buClr>
                <a:schemeClr val="lt1"/>
              </a:buClr>
              <a:buSzPts val="1800"/>
              <a:buNone/>
              <a:defRPr>
                <a:solidFill>
                  <a:schemeClr val="lt1"/>
                </a:solidFill>
              </a:defRPr>
            </a:lvl3pPr>
            <a:lvl4pPr marL="1828800" lvl="3" indent="-228600" algn="l">
              <a:lnSpc>
                <a:spcPct val="100000"/>
              </a:lnSpc>
              <a:spcBef>
                <a:spcPts val="0"/>
              </a:spcBef>
              <a:spcAft>
                <a:spcPts val="0"/>
              </a:spcAft>
              <a:buClr>
                <a:schemeClr val="lt1"/>
              </a:buClr>
              <a:buSzPts val="1800"/>
              <a:buNone/>
              <a:defRPr>
                <a:solidFill>
                  <a:schemeClr val="lt1"/>
                </a:solidFill>
              </a:defRPr>
            </a:lvl4pPr>
            <a:lvl5pPr marL="2286000" lvl="4" indent="-228600" algn="l">
              <a:lnSpc>
                <a:spcPct val="100000"/>
              </a:lnSpc>
              <a:spcBef>
                <a:spcPts val="0"/>
              </a:spcBef>
              <a:spcAft>
                <a:spcPts val="0"/>
              </a:spcAft>
              <a:buClr>
                <a:schemeClr val="lt1"/>
              </a:buClr>
              <a:buSzPts val="1800"/>
              <a:buNone/>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5"/>
          <p:cNvSpPr>
            <a:spLocks noGrp="1"/>
          </p:cNvSpPr>
          <p:nvPr>
            <p:ph type="pic" idx="2"/>
          </p:nvPr>
        </p:nvSpPr>
        <p:spPr>
          <a:xfrm>
            <a:off x="10200163" y="6489088"/>
            <a:ext cx="1260000" cy="180000"/>
          </a:xfrm>
          <a:prstGeom prst="rect">
            <a:avLst/>
          </a:prstGeom>
          <a:noFill/>
          <a:ln>
            <a:noFill/>
          </a:ln>
        </p:spPr>
        <p:txBody>
          <a:bodyPr spcFirstLastPara="1" wrap="square" lIns="0" tIns="0" rIns="0" bIns="0" anchor="t" anchorCtr="0">
            <a:noAutofit/>
          </a:bodyPr>
          <a:lstStyle>
            <a:lvl1pPr marR="0" lvl="0" algn="l" rtl="0">
              <a:lnSpc>
                <a:spcPct val="100000"/>
              </a:lnSpc>
              <a:spcBef>
                <a:spcPts val="10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R="0" lvl="1" algn="l" rtl="0">
              <a:lnSpc>
                <a:spcPct val="100000"/>
              </a:lnSpc>
              <a:spcBef>
                <a:spcPts val="500"/>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2pPr>
            <a:lvl3pPr marR="0" lvl="2" algn="l" rtl="0">
              <a:lnSpc>
                <a:spcPct val="100000"/>
              </a:lnSpc>
              <a:spcBef>
                <a:spcPts val="500"/>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3pPr>
            <a:lvl4pPr marR="0" lvl="3" algn="l" rtl="0">
              <a:lnSpc>
                <a:spcPct val="100000"/>
              </a:lnSpc>
              <a:spcBef>
                <a:spcPts val="500"/>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4pPr>
            <a:lvl5pPr marR="0" lvl="4" algn="l" rtl="0">
              <a:lnSpc>
                <a:spcPct val="100000"/>
              </a:lnSpc>
              <a:spcBef>
                <a:spcPts val="500"/>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4" name="Google Shape;44;p5"/>
          <p:cNvSpPr txBox="1">
            <a:spLocks noGrp="1"/>
          </p:cNvSpPr>
          <p:nvPr>
            <p:ph type="body" idx="3"/>
          </p:nvPr>
        </p:nvSpPr>
        <p:spPr>
          <a:xfrm>
            <a:off x="9696449" y="316800"/>
            <a:ext cx="1800000" cy="3600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dk1"/>
              </a:buClr>
              <a:buSzPts val="1150"/>
              <a:buNone/>
              <a:defRPr sz="1150"/>
            </a:lvl1pPr>
            <a:lvl2pPr marL="914400" lvl="1" indent="-301625" algn="l">
              <a:lnSpc>
                <a:spcPct val="100000"/>
              </a:lnSpc>
              <a:spcBef>
                <a:spcPts val="500"/>
              </a:spcBef>
              <a:spcAft>
                <a:spcPts val="0"/>
              </a:spcAft>
              <a:buClr>
                <a:schemeClr val="dk1"/>
              </a:buClr>
              <a:buSzPts val="1150"/>
              <a:buChar char="−"/>
              <a:defRPr sz="1150"/>
            </a:lvl2pPr>
            <a:lvl3pPr marL="1371600" lvl="2" indent="-301625" algn="l">
              <a:lnSpc>
                <a:spcPct val="100000"/>
              </a:lnSpc>
              <a:spcBef>
                <a:spcPts val="500"/>
              </a:spcBef>
              <a:spcAft>
                <a:spcPts val="0"/>
              </a:spcAft>
              <a:buClr>
                <a:schemeClr val="dk1"/>
              </a:buClr>
              <a:buSzPts val="1150"/>
              <a:buChar char="−"/>
              <a:defRPr sz="1150"/>
            </a:lvl3pPr>
            <a:lvl4pPr marL="1828800" lvl="3" indent="-301625" algn="l">
              <a:lnSpc>
                <a:spcPct val="100000"/>
              </a:lnSpc>
              <a:spcBef>
                <a:spcPts val="500"/>
              </a:spcBef>
              <a:spcAft>
                <a:spcPts val="0"/>
              </a:spcAft>
              <a:buClr>
                <a:schemeClr val="dk1"/>
              </a:buClr>
              <a:buSzPts val="1150"/>
              <a:buChar char="−"/>
              <a:defRPr sz="1150"/>
            </a:lvl4pPr>
            <a:lvl5pPr marL="2286000" lvl="4" indent="-301625" algn="l">
              <a:lnSpc>
                <a:spcPct val="100000"/>
              </a:lnSpc>
              <a:spcBef>
                <a:spcPts val="500"/>
              </a:spcBef>
              <a:spcAft>
                <a:spcPts val="0"/>
              </a:spcAft>
              <a:buClr>
                <a:schemeClr val="dk1"/>
              </a:buClr>
              <a:buSzPts val="1150"/>
              <a:buChar char="−"/>
              <a:defRPr sz="115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45" name="Google Shape;45;p5"/>
          <p:cNvPicPr preferRelativeResize="0"/>
          <p:nvPr/>
        </p:nvPicPr>
        <p:blipFill>
          <a:blip r:embed="rId3">
            <a:alphaModFix/>
          </a:blip>
          <a:stretch>
            <a:fillRect/>
          </a:stretch>
        </p:blipFill>
        <p:spPr>
          <a:xfrm>
            <a:off x="10200171" y="260350"/>
            <a:ext cx="1260001" cy="493405"/>
          </a:xfrm>
          <a:prstGeom prst="rect">
            <a:avLst/>
          </a:prstGeom>
          <a:noFill/>
          <a:ln>
            <a:noFill/>
          </a:ln>
        </p:spPr>
      </p:pic>
      <p:pic>
        <p:nvPicPr>
          <p:cNvPr id="2" name="Google Shape;18;p2">
            <a:extLst>
              <a:ext uri="{FF2B5EF4-FFF2-40B4-BE49-F238E27FC236}">
                <a16:creationId xmlns:a16="http://schemas.microsoft.com/office/drawing/2014/main" id="{07E86482-5124-EFFE-3705-F1A1DA393747}"/>
              </a:ext>
            </a:extLst>
          </p:cNvPr>
          <p:cNvPicPr preferRelativeResize="0"/>
          <p:nvPr userDrawn="1"/>
        </p:nvPicPr>
        <p:blipFill rotWithShape="1">
          <a:blip r:embed="rId2">
            <a:alphaModFix/>
          </a:blip>
          <a:srcRect/>
          <a:stretch/>
        </p:blipFill>
        <p:spPr>
          <a:xfrm>
            <a:off x="731838" y="360538"/>
            <a:ext cx="1765565" cy="288000"/>
          </a:xfrm>
          <a:prstGeom prst="rect">
            <a:avLst/>
          </a:prstGeom>
          <a:noFill/>
          <a:ln>
            <a:noFill/>
          </a:ln>
        </p:spPr>
      </p:pic>
      <p:pic>
        <p:nvPicPr>
          <p:cNvPr id="3" name="Google Shape;22;p2">
            <a:extLst>
              <a:ext uri="{FF2B5EF4-FFF2-40B4-BE49-F238E27FC236}">
                <a16:creationId xmlns:a16="http://schemas.microsoft.com/office/drawing/2014/main" id="{924FBF87-943D-4309-91CC-7C4E19AD0633}"/>
              </a:ext>
            </a:extLst>
          </p:cNvPr>
          <p:cNvPicPr preferRelativeResize="0"/>
          <p:nvPr userDrawn="1"/>
        </p:nvPicPr>
        <p:blipFill>
          <a:blip r:embed="rId3">
            <a:alphaModFix/>
          </a:blip>
          <a:stretch>
            <a:fillRect/>
          </a:stretch>
        </p:blipFill>
        <p:spPr>
          <a:xfrm>
            <a:off x="10200171" y="260350"/>
            <a:ext cx="1260001" cy="493405"/>
          </a:xfrm>
          <a:prstGeom prst="rect">
            <a:avLst/>
          </a:prstGeom>
          <a:noFill/>
          <a:ln>
            <a:noFill/>
          </a:ln>
        </p:spPr>
      </p:pic>
      <p:pic>
        <p:nvPicPr>
          <p:cNvPr id="4" name="Picture 3">
            <a:extLst>
              <a:ext uri="{FF2B5EF4-FFF2-40B4-BE49-F238E27FC236}">
                <a16:creationId xmlns:a16="http://schemas.microsoft.com/office/drawing/2014/main" id="{FF850F40-417D-85A5-B3E7-C82BC87BA30F}"/>
              </a:ext>
            </a:extLst>
          </p:cNvPr>
          <p:cNvPicPr>
            <a:picLocks noChangeAspect="1"/>
          </p:cNvPicPr>
          <p:nvPr userDrawn="1"/>
        </p:nvPicPr>
        <p:blipFill>
          <a:blip r:embed="rId4"/>
          <a:stretch>
            <a:fillRect/>
          </a:stretch>
        </p:blipFill>
        <p:spPr>
          <a:xfrm>
            <a:off x="6763979" y="0"/>
            <a:ext cx="2932470" cy="853158"/>
          </a:xfrm>
          <a:prstGeom prst="rect">
            <a:avLst/>
          </a:prstGeom>
        </p:spPr>
      </p:pic>
    </p:spTree>
  </p:cSld>
  <p:clrMapOvr>
    <a:masterClrMapping/>
  </p:clrMapOvr>
  <p:extLst>
    <p:ext uri="{DCECCB84-F9BA-43D5-87BE-67443E8EF086}">
      <p15:sldGuideLst xmlns:p15="http://schemas.microsoft.com/office/powerpoint/2012/main">
        <p15:guide id="1" orient="horz" pos="640">
          <p15:clr>
            <a:srgbClr val="FBAE40"/>
          </p15:clr>
        </p15:guide>
        <p15:guide id="2" orient="horz" pos="395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Agenda" type="obj">
  <p:cSld name="OBJECT">
    <p:spTree>
      <p:nvGrpSpPr>
        <p:cNvPr id="1" name="Shape 54"/>
        <p:cNvGrpSpPr/>
        <p:nvPr/>
      </p:nvGrpSpPr>
      <p:grpSpPr>
        <a:xfrm>
          <a:off x="0" y="0"/>
          <a:ext cx="0" cy="0"/>
          <a:chOff x="0" y="0"/>
          <a:chExt cx="0" cy="0"/>
        </a:xfrm>
      </p:grpSpPr>
      <p:sp>
        <p:nvSpPr>
          <p:cNvPr id="55" name="Google Shape;55;p7"/>
          <p:cNvSpPr txBox="1">
            <a:spLocks noGrp="1"/>
          </p:cNvSpPr>
          <p:nvPr>
            <p:ph type="title"/>
          </p:nvPr>
        </p:nvSpPr>
        <p:spPr>
          <a:xfrm>
            <a:off x="731837" y="260351"/>
            <a:ext cx="10728325" cy="900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7"/>
          <p:cNvSpPr txBox="1">
            <a:spLocks noGrp="1"/>
          </p:cNvSpPr>
          <p:nvPr>
            <p:ph type="body" idx="1"/>
          </p:nvPr>
        </p:nvSpPr>
        <p:spPr>
          <a:xfrm>
            <a:off x="731837" y="1412875"/>
            <a:ext cx="10728325" cy="4680000"/>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1000"/>
              </a:spcBef>
              <a:spcAft>
                <a:spcPts val="0"/>
              </a:spcAft>
              <a:buClr>
                <a:schemeClr val="dk1"/>
              </a:buClr>
              <a:buSzPts val="1800"/>
              <a:buFont typeface="Arial"/>
              <a:buAutoNum type="arabicPeriod"/>
              <a:defRPr/>
            </a:lvl1pPr>
            <a:lvl2pPr marL="914400" lvl="1" indent="-342900" algn="l">
              <a:lnSpc>
                <a:spcPct val="100000"/>
              </a:lnSpc>
              <a:spcBef>
                <a:spcPts val="500"/>
              </a:spcBef>
              <a:spcAft>
                <a:spcPts val="0"/>
              </a:spcAft>
              <a:buClr>
                <a:schemeClr val="dk1"/>
              </a:buClr>
              <a:buSzPts val="1800"/>
              <a:buFont typeface="Arial"/>
              <a:buAutoNum type="arabicPeriod"/>
              <a:defRPr/>
            </a:lvl2pPr>
            <a:lvl3pPr marL="1371600" lvl="2" indent="-342900" algn="l">
              <a:lnSpc>
                <a:spcPct val="100000"/>
              </a:lnSpc>
              <a:spcBef>
                <a:spcPts val="500"/>
              </a:spcBef>
              <a:spcAft>
                <a:spcPts val="0"/>
              </a:spcAft>
              <a:buClr>
                <a:schemeClr val="dk1"/>
              </a:buClr>
              <a:buSzPts val="1800"/>
              <a:buFont typeface="Arial"/>
              <a:buAutoNum type="arabicPeriod"/>
              <a:defRPr/>
            </a:lvl3pPr>
            <a:lvl4pPr marL="1828800" lvl="3" indent="-342900" algn="l">
              <a:lnSpc>
                <a:spcPct val="100000"/>
              </a:lnSpc>
              <a:spcBef>
                <a:spcPts val="500"/>
              </a:spcBef>
              <a:spcAft>
                <a:spcPts val="0"/>
              </a:spcAft>
              <a:buClr>
                <a:schemeClr val="dk1"/>
              </a:buClr>
              <a:buSzPts val="1800"/>
              <a:buFont typeface="Arial"/>
              <a:buAutoNum type="arabicPeriod"/>
              <a:defRPr/>
            </a:lvl4pPr>
            <a:lvl5pPr marL="2286000" lvl="4" indent="-342900" algn="l">
              <a:lnSpc>
                <a:spcPct val="100000"/>
              </a:lnSpc>
              <a:spcBef>
                <a:spcPts val="500"/>
              </a:spcBef>
              <a:spcAft>
                <a:spcPts val="0"/>
              </a:spcAft>
              <a:buClr>
                <a:schemeClr val="dk1"/>
              </a:buClr>
              <a:buSzPts val="1800"/>
              <a:buFont typeface="Arial"/>
              <a:buAutoNum type="arabicPeriod"/>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7"/>
          <p:cNvSpPr txBox="1">
            <a:spLocks noGrp="1"/>
          </p:cNvSpPr>
          <p:nvPr>
            <p:ph type="dt" idx="10"/>
          </p:nvPr>
        </p:nvSpPr>
        <p:spPr>
          <a:xfrm>
            <a:off x="10473692" y="6522444"/>
            <a:ext cx="612000" cy="2160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7"/>
          <p:cNvSpPr txBox="1">
            <a:spLocks noGrp="1"/>
          </p:cNvSpPr>
          <p:nvPr>
            <p:ph type="sldNum" idx="12"/>
          </p:nvPr>
        </p:nvSpPr>
        <p:spPr>
          <a:xfrm>
            <a:off x="11137585" y="6522444"/>
            <a:ext cx="322577" cy="2160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CH"/>
              <a:t>‹#›</a:t>
            </a:fld>
            <a:endParaRPr/>
          </a:p>
        </p:txBody>
      </p:sp>
      <p:pic>
        <p:nvPicPr>
          <p:cNvPr id="2" name="Google Shape;140;p16">
            <a:extLst>
              <a:ext uri="{FF2B5EF4-FFF2-40B4-BE49-F238E27FC236}">
                <a16:creationId xmlns:a16="http://schemas.microsoft.com/office/drawing/2014/main" id="{F4C9206E-5FD4-66EC-14E4-3CC3B6D006D7}"/>
              </a:ext>
            </a:extLst>
          </p:cNvPr>
          <p:cNvPicPr preferRelativeResize="0"/>
          <p:nvPr userDrawn="1"/>
        </p:nvPicPr>
        <p:blipFill rotWithShape="1">
          <a:blip r:embed="rId2">
            <a:alphaModFix/>
          </a:blip>
          <a:srcRect/>
          <a:stretch/>
        </p:blipFill>
        <p:spPr>
          <a:xfrm>
            <a:off x="731837" y="6507088"/>
            <a:ext cx="984462" cy="162000"/>
          </a:xfrm>
          <a:prstGeom prst="rect">
            <a:avLst/>
          </a:prstGeom>
          <a:noFill/>
          <a:ln>
            <a:noFill/>
          </a:ln>
        </p:spPr>
      </p:pic>
      <p:pic>
        <p:nvPicPr>
          <p:cNvPr id="3" name="Google Shape;141;p16">
            <a:extLst>
              <a:ext uri="{FF2B5EF4-FFF2-40B4-BE49-F238E27FC236}">
                <a16:creationId xmlns:a16="http://schemas.microsoft.com/office/drawing/2014/main" id="{9AE02FD0-4F85-83BF-172A-FAEDE5AF3B7D}"/>
              </a:ext>
            </a:extLst>
          </p:cNvPr>
          <p:cNvPicPr preferRelativeResize="0"/>
          <p:nvPr userDrawn="1"/>
        </p:nvPicPr>
        <p:blipFill>
          <a:blip r:embed="rId3">
            <a:alphaModFix/>
          </a:blip>
          <a:stretch>
            <a:fillRect/>
          </a:stretch>
        </p:blipFill>
        <p:spPr>
          <a:xfrm>
            <a:off x="1997126" y="6414749"/>
            <a:ext cx="826640" cy="323700"/>
          </a:xfrm>
          <a:prstGeom prst="rect">
            <a:avLst/>
          </a:prstGeom>
          <a:noFill/>
          <a:ln>
            <a:noFill/>
          </a:ln>
        </p:spPr>
      </p:pic>
      <p:pic>
        <p:nvPicPr>
          <p:cNvPr id="4" name="Picture 3">
            <a:extLst>
              <a:ext uri="{FF2B5EF4-FFF2-40B4-BE49-F238E27FC236}">
                <a16:creationId xmlns:a16="http://schemas.microsoft.com/office/drawing/2014/main" id="{9DA100C0-16BD-4F82-A4B0-7D9F3CDF769A}"/>
              </a:ext>
            </a:extLst>
          </p:cNvPr>
          <p:cNvPicPr>
            <a:picLocks noChangeAspect="1"/>
          </p:cNvPicPr>
          <p:nvPr userDrawn="1"/>
        </p:nvPicPr>
        <p:blipFill>
          <a:blip r:embed="rId4"/>
          <a:stretch>
            <a:fillRect/>
          </a:stretch>
        </p:blipFill>
        <p:spPr>
          <a:xfrm>
            <a:off x="2875659" y="6226732"/>
            <a:ext cx="2032828" cy="591421"/>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731837" y="260351"/>
            <a:ext cx="10728325" cy="900000"/>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dk1"/>
              </a:buClr>
              <a:buSzPts val="2600"/>
              <a:buFont typeface="Arial"/>
              <a:buNone/>
              <a:defRPr sz="26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731837" y="1412875"/>
            <a:ext cx="10728325" cy="4680000"/>
          </a:xfrm>
          <a:prstGeom prst="rect">
            <a:avLst/>
          </a:prstGeom>
          <a:noFill/>
          <a:ln>
            <a:noFill/>
          </a:ln>
        </p:spPr>
        <p:txBody>
          <a:bodyPr spcFirstLastPara="1" wrap="square" lIns="0" tIns="0" rIns="0" bIns="0" anchor="t" anchorCtr="0">
            <a:noAutofit/>
          </a:bodyPr>
          <a:lstStyle>
            <a:lvl1pPr marL="457200" marR="0" lvl="0"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1pPr>
            <a:lvl2pPr marL="914400" marR="0" lvl="1" indent="-342900" algn="l" rtl="0">
              <a:lnSpc>
                <a:spcPct val="100000"/>
              </a:lnSpc>
              <a:spcBef>
                <a:spcPts val="500"/>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2pPr>
            <a:lvl3pPr marL="1371600" marR="0" lvl="2" indent="-342900" algn="l" rtl="0">
              <a:lnSpc>
                <a:spcPct val="100000"/>
              </a:lnSpc>
              <a:spcBef>
                <a:spcPts val="500"/>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3pPr>
            <a:lvl4pPr marL="1828800" marR="0" lvl="3" indent="-342900" algn="l" rtl="0">
              <a:lnSpc>
                <a:spcPct val="100000"/>
              </a:lnSpc>
              <a:spcBef>
                <a:spcPts val="500"/>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4pPr>
            <a:lvl5pPr marL="2286000" marR="0" lvl="4" indent="-342900" algn="l" rtl="0">
              <a:lnSpc>
                <a:spcPct val="100000"/>
              </a:lnSpc>
              <a:spcBef>
                <a:spcPts val="500"/>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dt" idx="10"/>
          </p:nvPr>
        </p:nvSpPr>
        <p:spPr>
          <a:xfrm>
            <a:off x="10473692" y="6522444"/>
            <a:ext cx="612000" cy="21600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2171700" y="6522444"/>
            <a:ext cx="5400000" cy="21600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11137585" y="6522444"/>
            <a:ext cx="322577" cy="216000"/>
          </a:xfrm>
          <a:prstGeom prst="rect">
            <a:avLst/>
          </a:prstGeom>
          <a:noFill/>
          <a:ln>
            <a:noFill/>
          </a:ln>
        </p:spPr>
        <p:txBody>
          <a:bodyPr spcFirstLastPara="1" wrap="square" lIns="0" tIns="0" rIns="0" bIns="0" anchor="ctr" anchorCtr="0">
            <a:noAutofit/>
          </a:bodyPr>
          <a:lstStyle>
            <a:lvl1pPr marL="0" marR="0" lvl="0" indent="0" algn="r" rtl="0">
              <a:spcBef>
                <a:spcPts val="0"/>
              </a:spcBef>
              <a:buNone/>
              <a:defRPr sz="800" b="0" i="0" u="none" strike="noStrike" cap="none">
                <a:solidFill>
                  <a:schemeClr val="dk1"/>
                </a:solidFill>
                <a:latin typeface="Arial"/>
                <a:ea typeface="Arial"/>
                <a:cs typeface="Arial"/>
                <a:sym typeface="Arial"/>
              </a:defRPr>
            </a:lvl1pPr>
            <a:lvl2pPr marL="0" marR="0" lvl="1" indent="0" algn="r" rtl="0">
              <a:spcBef>
                <a:spcPts val="0"/>
              </a:spcBef>
              <a:buNone/>
              <a:defRPr sz="800" b="0" i="0" u="none" strike="noStrike" cap="none">
                <a:solidFill>
                  <a:schemeClr val="dk1"/>
                </a:solidFill>
                <a:latin typeface="Arial"/>
                <a:ea typeface="Arial"/>
                <a:cs typeface="Arial"/>
                <a:sym typeface="Arial"/>
              </a:defRPr>
            </a:lvl2pPr>
            <a:lvl3pPr marL="0" marR="0" lvl="2" indent="0" algn="r" rtl="0">
              <a:spcBef>
                <a:spcPts val="0"/>
              </a:spcBef>
              <a:buNone/>
              <a:defRPr sz="800" b="0" i="0" u="none" strike="noStrike" cap="none">
                <a:solidFill>
                  <a:schemeClr val="dk1"/>
                </a:solidFill>
                <a:latin typeface="Arial"/>
                <a:ea typeface="Arial"/>
                <a:cs typeface="Arial"/>
                <a:sym typeface="Arial"/>
              </a:defRPr>
            </a:lvl3pPr>
            <a:lvl4pPr marL="0" marR="0" lvl="3" indent="0" algn="r" rtl="0">
              <a:spcBef>
                <a:spcPts val="0"/>
              </a:spcBef>
              <a:buNone/>
              <a:defRPr sz="800" b="0" i="0" u="none" strike="noStrike" cap="none">
                <a:solidFill>
                  <a:schemeClr val="dk1"/>
                </a:solidFill>
                <a:latin typeface="Arial"/>
                <a:ea typeface="Arial"/>
                <a:cs typeface="Arial"/>
                <a:sym typeface="Arial"/>
              </a:defRPr>
            </a:lvl4pPr>
            <a:lvl5pPr marL="0" marR="0" lvl="4" indent="0" algn="r" rtl="0">
              <a:spcBef>
                <a:spcPts val="0"/>
              </a:spcBef>
              <a:buNone/>
              <a:defRPr sz="800" b="0" i="0" u="none" strike="noStrike" cap="none">
                <a:solidFill>
                  <a:schemeClr val="dk1"/>
                </a:solidFill>
                <a:latin typeface="Arial"/>
                <a:ea typeface="Arial"/>
                <a:cs typeface="Arial"/>
                <a:sym typeface="Arial"/>
              </a:defRPr>
            </a:lvl5pPr>
            <a:lvl6pPr marL="0" marR="0" lvl="5" indent="0" algn="r" rtl="0">
              <a:spcBef>
                <a:spcPts val="0"/>
              </a:spcBef>
              <a:buNone/>
              <a:defRPr sz="800" b="0" i="0" u="none" strike="noStrike" cap="none">
                <a:solidFill>
                  <a:schemeClr val="dk1"/>
                </a:solidFill>
                <a:latin typeface="Arial"/>
                <a:ea typeface="Arial"/>
                <a:cs typeface="Arial"/>
                <a:sym typeface="Arial"/>
              </a:defRPr>
            </a:lvl6pPr>
            <a:lvl7pPr marL="0" marR="0" lvl="6" indent="0" algn="r" rtl="0">
              <a:spcBef>
                <a:spcPts val="0"/>
              </a:spcBef>
              <a:buNone/>
              <a:defRPr sz="800" b="0" i="0" u="none" strike="noStrike" cap="none">
                <a:solidFill>
                  <a:schemeClr val="dk1"/>
                </a:solidFill>
                <a:latin typeface="Arial"/>
                <a:ea typeface="Arial"/>
                <a:cs typeface="Arial"/>
                <a:sym typeface="Arial"/>
              </a:defRPr>
            </a:lvl7pPr>
            <a:lvl8pPr marL="0" marR="0" lvl="7" indent="0" algn="r" rtl="0">
              <a:spcBef>
                <a:spcPts val="0"/>
              </a:spcBef>
              <a:buNone/>
              <a:defRPr sz="800" b="0" i="0" u="none" strike="noStrike" cap="none">
                <a:solidFill>
                  <a:schemeClr val="dk1"/>
                </a:solidFill>
                <a:latin typeface="Arial"/>
                <a:ea typeface="Arial"/>
                <a:cs typeface="Arial"/>
                <a:sym typeface="Arial"/>
              </a:defRPr>
            </a:lvl8pPr>
            <a:lvl9pPr marL="0" marR="0" lvl="8" indent="0" algn="r" rtl="0">
              <a:spcBef>
                <a:spcPts val="0"/>
              </a:spcBef>
              <a:buNone/>
              <a:defRPr sz="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de-CH"/>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3"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61">
          <p15:clr>
            <a:srgbClr val="F26B43"/>
          </p15:clr>
        </p15:guide>
        <p15:guide id="2" pos="7219">
          <p15:clr>
            <a:srgbClr val="F26B43"/>
          </p15:clr>
        </p15:guide>
        <p15:guide id="3" orient="horz" pos="164">
          <p15:clr>
            <a:srgbClr val="F26B43"/>
          </p15:clr>
        </p15:guide>
        <p15:guide id="4" orient="horz" pos="890">
          <p15:clr>
            <a:srgbClr val="F26B43"/>
          </p15:clr>
        </p15:guide>
        <p15:guide id="5" orient="horz" pos="4201">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3.mp4"/><Relationship Id="rId1" Type="http://schemas.microsoft.com/office/2007/relationships/media" Target="../media/media3.mp4"/><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1"/>
          <p:cNvSpPr txBox="1">
            <a:spLocks noGrp="1"/>
          </p:cNvSpPr>
          <p:nvPr>
            <p:ph type="ctrTitle"/>
          </p:nvPr>
        </p:nvSpPr>
        <p:spPr>
          <a:xfrm>
            <a:off x="731837" y="1016000"/>
            <a:ext cx="10728326" cy="5256000"/>
          </a:xfrm>
          <a:prstGeom prst="rect">
            <a:avLst/>
          </a:prstGeom>
          <a:solidFill>
            <a:schemeClr val="accent3"/>
          </a:solidFill>
          <a:ln>
            <a:noFill/>
          </a:ln>
        </p:spPr>
        <p:txBody>
          <a:bodyPr spcFirstLastPara="1" wrap="square" lIns="324000" tIns="1152000" rIns="0" bIns="0" anchor="t" anchorCtr="0">
            <a:noAutofit/>
          </a:bodyPr>
          <a:lstStyle/>
          <a:p>
            <a:pPr marL="0" lvl="0" indent="0" algn="l" rtl="0">
              <a:lnSpc>
                <a:spcPct val="100000"/>
              </a:lnSpc>
              <a:spcBef>
                <a:spcPts val="0"/>
              </a:spcBef>
              <a:spcAft>
                <a:spcPts val="0"/>
              </a:spcAft>
              <a:buClr>
                <a:schemeClr val="lt1"/>
              </a:buClr>
              <a:buSzPts val="3600"/>
              <a:buFont typeface="Arial"/>
              <a:buNone/>
            </a:pPr>
            <a:r>
              <a:rPr lang="de-CH" b="1" dirty="0" err="1"/>
              <a:t>Autonomous</a:t>
            </a:r>
            <a:r>
              <a:rPr lang="de-CH" b="1" dirty="0"/>
              <a:t> </a:t>
            </a:r>
            <a:r>
              <a:rPr lang="de-CH" b="1" dirty="0" err="1"/>
              <a:t>Satellite</a:t>
            </a:r>
            <a:r>
              <a:rPr lang="de-CH" b="1" dirty="0"/>
              <a:t> </a:t>
            </a:r>
            <a:r>
              <a:rPr lang="de-CH" b="1" dirty="0" err="1"/>
              <a:t>control</a:t>
            </a:r>
            <a:br>
              <a:rPr lang="de-CH" dirty="0"/>
            </a:br>
            <a:br>
              <a:rPr lang="de-CH" dirty="0"/>
            </a:br>
            <a:r>
              <a:rPr lang="de-CH" sz="2400" dirty="0"/>
              <a:t>Cloud </a:t>
            </a:r>
            <a:r>
              <a:rPr lang="de-CH" sz="2400" dirty="0" err="1"/>
              <a:t>aware</a:t>
            </a:r>
            <a:r>
              <a:rPr lang="de-CH" sz="2400" dirty="0"/>
              <a:t> </a:t>
            </a:r>
            <a:r>
              <a:rPr lang="de-CH" sz="2400" dirty="0" err="1"/>
              <a:t>learned</a:t>
            </a:r>
            <a:r>
              <a:rPr lang="de-CH" sz="2400" dirty="0"/>
              <a:t> </a:t>
            </a:r>
            <a:r>
              <a:rPr lang="de-CH" sz="2400" dirty="0" err="1"/>
              <a:t>pointing</a:t>
            </a:r>
            <a:endParaRPr dirty="0"/>
          </a:p>
        </p:txBody>
      </p:sp>
      <p:sp>
        <p:nvSpPr>
          <p:cNvPr id="175" name="Google Shape;175;p21"/>
          <p:cNvSpPr txBox="1">
            <a:spLocks noGrp="1"/>
          </p:cNvSpPr>
          <p:nvPr>
            <p:ph type="body" idx="1"/>
          </p:nvPr>
        </p:nvSpPr>
        <p:spPr>
          <a:xfrm>
            <a:off x="1078515" y="5122625"/>
            <a:ext cx="10044000" cy="1008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lt1"/>
              </a:buClr>
              <a:buSzPts val="1800"/>
              <a:buNone/>
            </a:pPr>
            <a:r>
              <a:rPr lang="de-CH" b="1" dirty="0"/>
              <a:t>Cédric Grieder</a:t>
            </a:r>
            <a:endParaRPr b="1" dirty="0"/>
          </a:p>
          <a:p>
            <a:pPr marL="0" lvl="0" indent="0" algn="l" rtl="0">
              <a:lnSpc>
                <a:spcPct val="100000"/>
              </a:lnSpc>
              <a:spcBef>
                <a:spcPts val="0"/>
              </a:spcBef>
              <a:spcAft>
                <a:spcPts val="0"/>
              </a:spcAft>
              <a:buClr>
                <a:schemeClr val="lt1"/>
              </a:buClr>
              <a:buSzPts val="1800"/>
              <a:buNone/>
            </a:pPr>
            <a:r>
              <a:rPr lang="de-CH" dirty="0" err="1"/>
              <a:t>MSc</a:t>
            </a:r>
            <a:r>
              <a:rPr lang="de-CH" dirty="0"/>
              <a:t> </a:t>
            </a:r>
            <a:r>
              <a:rPr lang="de-CH" dirty="0" err="1"/>
              <a:t>Mechanical</a:t>
            </a:r>
            <a:r>
              <a:rPr lang="de-CH" dirty="0"/>
              <a:t> Engineering Student ETHZ</a:t>
            </a:r>
            <a:endParaRPr dirty="0"/>
          </a:p>
          <a:p>
            <a:pPr marL="0" lvl="0" indent="0" algn="l" rtl="0">
              <a:lnSpc>
                <a:spcPct val="100000"/>
              </a:lnSpc>
              <a:spcBef>
                <a:spcPts val="0"/>
              </a:spcBef>
              <a:spcAft>
                <a:spcPts val="0"/>
              </a:spcAft>
              <a:buClr>
                <a:schemeClr val="lt1"/>
              </a:buClr>
              <a:buSzPts val="1800"/>
              <a:buNone/>
            </a:pPr>
            <a:r>
              <a:rPr lang="de-CH" dirty="0"/>
              <a:t>06. </a:t>
            </a:r>
            <a:r>
              <a:rPr lang="de-CH" dirty="0" err="1"/>
              <a:t>July</a:t>
            </a:r>
            <a:r>
              <a:rPr lang="de-CH" dirty="0"/>
              <a:t> 2026</a:t>
            </a:r>
            <a:endParaRPr dirty="0"/>
          </a:p>
        </p:txBody>
      </p:sp>
      <p:sp>
        <p:nvSpPr>
          <p:cNvPr id="176" name="Google Shape;176;p21"/>
          <p:cNvSpPr>
            <a:spLocks noGrp="1"/>
          </p:cNvSpPr>
          <p:nvPr>
            <p:ph type="pic" idx="2"/>
          </p:nvPr>
        </p:nvSpPr>
        <p:spPr>
          <a:xfrm>
            <a:off x="10200163" y="6489088"/>
            <a:ext cx="1260000" cy="180000"/>
          </a:xfrm>
          <a:prstGeom prst="rect">
            <a:avLst/>
          </a:prstGeom>
          <a:noFill/>
          <a:ln>
            <a:noFill/>
          </a:ln>
        </p:spPr>
        <p:txBody>
          <a:bodyPr spcFirstLastPara="1" wrap="square" lIns="0" tIns="0" rIns="0" bIns="0" anchor="t" anchorCtr="0">
            <a:noAutofit/>
          </a:bodyPr>
          <a:lstStyle/>
          <a:p>
            <a:pPr marL="0" lvl="0" indent="0" algn="l" rtl="0">
              <a:spcBef>
                <a:spcPts val="100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1EB5DE-19ED-B800-3828-5817DAE0D72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de-CH" smtClean="0"/>
              <a:t>2</a:t>
            </a:fld>
            <a:endParaRPr lang="de-CH"/>
          </a:p>
        </p:txBody>
      </p:sp>
      <p:sp>
        <p:nvSpPr>
          <p:cNvPr id="10" name="Title 1">
            <a:extLst>
              <a:ext uri="{FF2B5EF4-FFF2-40B4-BE49-F238E27FC236}">
                <a16:creationId xmlns:a16="http://schemas.microsoft.com/office/drawing/2014/main" id="{F15B7E24-9EA5-6111-D5D2-D1103A8E1071}"/>
              </a:ext>
            </a:extLst>
          </p:cNvPr>
          <p:cNvSpPr txBox="1">
            <a:spLocks/>
          </p:cNvSpPr>
          <p:nvPr/>
        </p:nvSpPr>
        <p:spPr>
          <a:xfrm>
            <a:off x="731837" y="260351"/>
            <a:ext cx="10728325" cy="9000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Arial"/>
              <a:buNone/>
              <a:defRPr sz="2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dirty="0"/>
              <a:t>Motivation: clouds waste satellite imaging opportunities</a:t>
            </a:r>
          </a:p>
        </p:txBody>
      </p:sp>
      <p:sp>
        <p:nvSpPr>
          <p:cNvPr id="12" name="Content Placeholder 2">
            <a:extLst>
              <a:ext uri="{FF2B5EF4-FFF2-40B4-BE49-F238E27FC236}">
                <a16:creationId xmlns:a16="http://schemas.microsoft.com/office/drawing/2014/main" id="{D9D2A50E-80C9-C048-3D46-FB70A5F3E227}"/>
              </a:ext>
            </a:extLst>
          </p:cNvPr>
          <p:cNvSpPr txBox="1">
            <a:spLocks/>
          </p:cNvSpPr>
          <p:nvPr/>
        </p:nvSpPr>
        <p:spPr>
          <a:xfrm>
            <a:off x="479425" y="1849437"/>
            <a:ext cx="5461000" cy="4351338"/>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1000"/>
              </a:spcBef>
              <a:spcAft>
                <a:spcPts val="0"/>
              </a:spcAft>
              <a:buClr>
                <a:schemeClr val="dk1"/>
              </a:buClr>
              <a:buSzPts val="1800"/>
              <a:buFont typeface="Arial"/>
              <a:buAutoNum type="arabicPeriod"/>
              <a:defRPr sz="1800" b="0" i="0" u="none" strike="noStrike" cap="none">
                <a:solidFill>
                  <a:schemeClr val="dk1"/>
                </a:solidFill>
                <a:latin typeface="Arial"/>
                <a:ea typeface="Arial"/>
                <a:cs typeface="Arial"/>
                <a:sym typeface="Arial"/>
              </a:defRPr>
            </a:lvl1pPr>
            <a:lvl2pPr marL="914400" marR="0" lvl="1" indent="-342900" algn="l" rtl="0">
              <a:lnSpc>
                <a:spcPct val="100000"/>
              </a:lnSpc>
              <a:spcBef>
                <a:spcPts val="500"/>
              </a:spcBef>
              <a:spcAft>
                <a:spcPts val="0"/>
              </a:spcAft>
              <a:buClr>
                <a:schemeClr val="dk1"/>
              </a:buClr>
              <a:buSzPts val="1800"/>
              <a:buFont typeface="Arial"/>
              <a:buAutoNum type="arabicPeriod"/>
              <a:defRPr sz="1800" b="0" i="0" u="none" strike="noStrike" cap="none">
                <a:solidFill>
                  <a:schemeClr val="dk1"/>
                </a:solidFill>
                <a:latin typeface="Arial"/>
                <a:ea typeface="Arial"/>
                <a:cs typeface="Arial"/>
                <a:sym typeface="Arial"/>
              </a:defRPr>
            </a:lvl2pPr>
            <a:lvl3pPr marL="1371600" marR="0" lvl="2" indent="-342900" algn="l" rtl="0">
              <a:lnSpc>
                <a:spcPct val="100000"/>
              </a:lnSpc>
              <a:spcBef>
                <a:spcPts val="500"/>
              </a:spcBef>
              <a:spcAft>
                <a:spcPts val="0"/>
              </a:spcAft>
              <a:buClr>
                <a:schemeClr val="dk1"/>
              </a:buClr>
              <a:buSzPts val="1800"/>
              <a:buFont typeface="Arial"/>
              <a:buAutoNum type="arabicPeriod"/>
              <a:defRPr sz="1800" b="0" i="0" u="none" strike="noStrike" cap="none">
                <a:solidFill>
                  <a:schemeClr val="dk1"/>
                </a:solidFill>
                <a:latin typeface="Arial"/>
                <a:ea typeface="Arial"/>
                <a:cs typeface="Arial"/>
                <a:sym typeface="Arial"/>
              </a:defRPr>
            </a:lvl3pPr>
            <a:lvl4pPr marL="1828800" marR="0" lvl="3" indent="-342900" algn="l" rtl="0">
              <a:lnSpc>
                <a:spcPct val="100000"/>
              </a:lnSpc>
              <a:spcBef>
                <a:spcPts val="500"/>
              </a:spcBef>
              <a:spcAft>
                <a:spcPts val="0"/>
              </a:spcAft>
              <a:buClr>
                <a:schemeClr val="dk1"/>
              </a:buClr>
              <a:buSzPts val="1800"/>
              <a:buFont typeface="Arial"/>
              <a:buAutoNum type="arabicPeriod"/>
              <a:defRPr sz="1800" b="0" i="0" u="none" strike="noStrike" cap="none">
                <a:solidFill>
                  <a:schemeClr val="dk1"/>
                </a:solidFill>
                <a:latin typeface="Arial"/>
                <a:ea typeface="Arial"/>
                <a:cs typeface="Arial"/>
                <a:sym typeface="Arial"/>
              </a:defRPr>
            </a:lvl4pPr>
            <a:lvl5pPr marL="2286000" marR="0" lvl="4" indent="-342900" algn="l" rtl="0">
              <a:lnSpc>
                <a:spcPct val="100000"/>
              </a:lnSpc>
              <a:spcBef>
                <a:spcPts val="500"/>
              </a:spcBef>
              <a:spcAft>
                <a:spcPts val="0"/>
              </a:spcAft>
              <a:buClr>
                <a:schemeClr val="dk1"/>
              </a:buClr>
              <a:buSzPts val="1800"/>
              <a:buFont typeface="Arial"/>
              <a:buAutoNum type="arabicPeriod"/>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r>
              <a:rPr lang="en-US" dirty="0"/>
              <a:t>Satellites have limited onboard storage and downlink capacity.</a:t>
            </a:r>
          </a:p>
          <a:p>
            <a:r>
              <a:rPr lang="en-US" dirty="0"/>
              <a:t>Cloud-blocked captures waste scarce imaging opportunities.</a:t>
            </a:r>
          </a:p>
          <a:p>
            <a:r>
              <a:rPr lang="en-US" dirty="0"/>
              <a:t>The valuable decision is not only where to image, but also when.</a:t>
            </a:r>
          </a:p>
        </p:txBody>
      </p:sp>
      <p:sp>
        <p:nvSpPr>
          <p:cNvPr id="5" name="Slide Number Placeholder 3">
            <a:extLst>
              <a:ext uri="{FF2B5EF4-FFF2-40B4-BE49-F238E27FC236}">
                <a16:creationId xmlns:a16="http://schemas.microsoft.com/office/drawing/2014/main" id="{C3A5F166-0089-EA94-8D92-1FD7A28950E2}"/>
              </a:ext>
            </a:extLst>
          </p:cNvPr>
          <p:cNvSpPr txBox="1">
            <a:spLocks/>
          </p:cNvSpPr>
          <p:nvPr/>
        </p:nvSpPr>
        <p:spPr>
          <a:xfrm>
            <a:off x="11137585" y="6522444"/>
            <a:ext cx="322577" cy="216000"/>
          </a:xfrm>
          <a:prstGeom prst="rect">
            <a:avLst/>
          </a:prstGeom>
          <a:noFill/>
          <a:ln>
            <a:noFill/>
          </a:ln>
        </p:spPr>
        <p:txBody>
          <a:bodyPr spcFirstLastPara="1" wrap="none" lIns="0" tIns="0" rIns="0" bIns="0" anchor="t" anchorCtr="0">
            <a:norm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800" b="0" i="0" u="none" strike="noStrike" cap="none">
                <a:solidFill>
                  <a:schemeClr val="dk1"/>
                </a:solidFill>
                <a:latin typeface="Arial"/>
                <a:ea typeface="Arial"/>
                <a:cs typeface="Arial"/>
                <a:sym typeface="Arial"/>
              </a:defRPr>
            </a:lvl9pPr>
          </a:lstStyle>
          <a:p>
            <a:pPr>
              <a:spcAft>
                <a:spcPts val="600"/>
              </a:spcAft>
            </a:pPr>
            <a:fld id="{4F98EA4D-B0F8-40F3-B0F2-D3764ED79625}" type="slidenum">
              <a:rPr lang="en-GB" smtClean="0"/>
              <a:pPr>
                <a:spcAft>
                  <a:spcPts val="600"/>
                </a:spcAft>
              </a:pPr>
              <a:t>2</a:t>
            </a:fld>
            <a:endParaRPr lang="en-GB"/>
          </a:p>
        </p:txBody>
      </p:sp>
      <p:pic>
        <p:nvPicPr>
          <p:cNvPr id="6" name="Picture 5" descr="m01_cloudy_rainforest.jpg">
            <a:extLst>
              <a:ext uri="{FF2B5EF4-FFF2-40B4-BE49-F238E27FC236}">
                <a16:creationId xmlns:a16="http://schemas.microsoft.com/office/drawing/2014/main" id="{5E0E0E18-13C7-60B7-1FF0-D465DA3293CA}"/>
              </a:ext>
            </a:extLst>
          </p:cNvPr>
          <p:cNvPicPr>
            <a:picLocks noChangeAspect="1"/>
          </p:cNvPicPr>
          <p:nvPr/>
        </p:nvPicPr>
        <p:blipFill>
          <a:blip r:embed="rId2"/>
          <a:srcRect l="19212" r="10193" b="-1"/>
          <a:stretch>
            <a:fillRect/>
          </a:stretch>
        </p:blipFill>
        <p:spPr>
          <a:xfrm>
            <a:off x="6253160" y="1849437"/>
            <a:ext cx="5461000" cy="4351338"/>
          </a:xfrm>
          <a:prstGeom prst="rect">
            <a:avLst/>
          </a:prstGeom>
          <a:noFill/>
        </p:spPr>
      </p:pic>
    </p:spTree>
    <p:extLst>
      <p:ext uri="{BB962C8B-B14F-4D97-AF65-F5344CB8AC3E}">
        <p14:creationId xmlns:p14="http://schemas.microsoft.com/office/powerpoint/2010/main" val="1365618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CEBA0-BDE6-0F96-52A5-DD2CE4BF16F7}"/>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7D3C0CF8-F0CE-01AA-CC38-7B7C75EE06BD}"/>
              </a:ext>
            </a:extLst>
          </p:cNvPr>
          <p:cNvSpPr>
            <a:spLocks noGrp="1"/>
          </p:cNvSpPr>
          <p:nvPr>
            <p:ph type="title"/>
          </p:nvPr>
        </p:nvSpPr>
        <p:spPr/>
        <p:txBody>
          <a:bodyPr/>
          <a:lstStyle/>
          <a:p>
            <a:r>
              <a:rPr lang="en-US" dirty="0"/>
              <a:t>Current approach: Deterministic Planning</a:t>
            </a:r>
          </a:p>
        </p:txBody>
      </p:sp>
      <p:sp>
        <p:nvSpPr>
          <p:cNvPr id="12" name="Content Placeholder 2">
            <a:extLst>
              <a:ext uri="{FF2B5EF4-FFF2-40B4-BE49-F238E27FC236}">
                <a16:creationId xmlns:a16="http://schemas.microsoft.com/office/drawing/2014/main" id="{2B8904F1-7CF9-CA6B-FB3B-C04FC320A093}"/>
              </a:ext>
            </a:extLst>
          </p:cNvPr>
          <p:cNvSpPr>
            <a:spLocks noGrp="1"/>
          </p:cNvSpPr>
          <p:nvPr>
            <p:ph type="body" idx="1"/>
          </p:nvPr>
        </p:nvSpPr>
        <p:spPr>
          <a:xfrm>
            <a:off x="731838" y="1412875"/>
            <a:ext cx="6580748" cy="4680000"/>
          </a:xfrm>
        </p:spPr>
        <p:txBody>
          <a:bodyPr/>
          <a:lstStyle/>
          <a:p>
            <a:r>
              <a:rPr lang="en-US" dirty="0"/>
              <a:t>Targets are scheduled before the pass</a:t>
            </a:r>
          </a:p>
          <a:p>
            <a:r>
              <a:rPr lang="en-US" dirty="0"/>
              <a:t>The satellite points to each target and captures at the best estimated moment</a:t>
            </a:r>
          </a:p>
          <a:p>
            <a:r>
              <a:rPr lang="en-US" dirty="0"/>
              <a:t>Cloudy images are filtered later in post-processing</a:t>
            </a:r>
          </a:p>
          <a:p>
            <a:r>
              <a:rPr lang="en-US" dirty="0"/>
              <a:t>Limitation: no onboard reaction to current cloud cover.</a:t>
            </a:r>
          </a:p>
        </p:txBody>
      </p:sp>
      <p:sp>
        <p:nvSpPr>
          <p:cNvPr id="4" name="Slide Number Placeholder 3">
            <a:extLst>
              <a:ext uri="{FF2B5EF4-FFF2-40B4-BE49-F238E27FC236}">
                <a16:creationId xmlns:a16="http://schemas.microsoft.com/office/drawing/2014/main" id="{7F774C7C-A727-AE75-1C76-5E453C89E7D8}"/>
              </a:ext>
            </a:extLst>
          </p:cNvPr>
          <p:cNvSpPr>
            <a:spLocks noGrp="1"/>
          </p:cNvSpPr>
          <p:nvPr>
            <p:ph type="sldNum" idx="12"/>
          </p:nvPr>
        </p:nvSpPr>
        <p:spPr/>
        <p:txBody>
          <a:bodyPr wrap="none" anchor="t">
            <a:normAutofit/>
          </a:bodyPr>
          <a:lstStyle/>
          <a:p>
            <a:pPr>
              <a:spcAft>
                <a:spcPts val="600"/>
              </a:spcAft>
            </a:pPr>
            <a:fld id="{4F98EA4D-B0F8-40F3-B0F2-D3764ED79625}" type="slidenum">
              <a:rPr lang="en-GB" smtClean="0"/>
              <a:pPr>
                <a:spcAft>
                  <a:spcPts val="600"/>
                </a:spcAft>
              </a:pPr>
              <a:t>3</a:t>
            </a:fld>
            <a:endParaRPr lang="en-GB"/>
          </a:p>
        </p:txBody>
      </p:sp>
      <p:sp>
        <p:nvSpPr>
          <p:cNvPr id="3" name="Rectangle 2">
            <a:extLst>
              <a:ext uri="{FF2B5EF4-FFF2-40B4-BE49-F238E27FC236}">
                <a16:creationId xmlns:a16="http://schemas.microsoft.com/office/drawing/2014/main" id="{A48D81D7-C93E-E6AE-2A15-2A8A84BB187C}"/>
              </a:ext>
            </a:extLst>
          </p:cNvPr>
          <p:cNvSpPr/>
          <p:nvPr/>
        </p:nvSpPr>
        <p:spPr>
          <a:xfrm>
            <a:off x="7572375" y="1294547"/>
            <a:ext cx="3257550" cy="753359"/>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Mission Control: decide obs. targets</a:t>
            </a:r>
          </a:p>
        </p:txBody>
      </p:sp>
      <p:sp>
        <p:nvSpPr>
          <p:cNvPr id="6" name="Rectangle 5">
            <a:extLst>
              <a:ext uri="{FF2B5EF4-FFF2-40B4-BE49-F238E27FC236}">
                <a16:creationId xmlns:a16="http://schemas.microsoft.com/office/drawing/2014/main" id="{E37D478E-E3EE-A1BB-1C6E-3A766FB77758}"/>
              </a:ext>
            </a:extLst>
          </p:cNvPr>
          <p:cNvSpPr/>
          <p:nvPr/>
        </p:nvSpPr>
        <p:spPr>
          <a:xfrm>
            <a:off x="7572375" y="2221558"/>
            <a:ext cx="3257550" cy="753358"/>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Satellite images areas; fixed budget</a:t>
            </a:r>
          </a:p>
        </p:txBody>
      </p:sp>
      <p:sp>
        <p:nvSpPr>
          <p:cNvPr id="7" name="Rectangle 6">
            <a:extLst>
              <a:ext uri="{FF2B5EF4-FFF2-40B4-BE49-F238E27FC236}">
                <a16:creationId xmlns:a16="http://schemas.microsoft.com/office/drawing/2014/main" id="{20CB1251-2269-13EA-1206-0BE7DFE0EAE0}"/>
              </a:ext>
            </a:extLst>
          </p:cNvPr>
          <p:cNvSpPr/>
          <p:nvPr/>
        </p:nvSpPr>
        <p:spPr>
          <a:xfrm>
            <a:off x="7572375" y="3148568"/>
            <a:ext cx="3257550" cy="582026"/>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Downlink image data</a:t>
            </a:r>
          </a:p>
        </p:txBody>
      </p:sp>
      <p:sp>
        <p:nvSpPr>
          <p:cNvPr id="8" name="Rectangle 7">
            <a:extLst>
              <a:ext uri="{FF2B5EF4-FFF2-40B4-BE49-F238E27FC236}">
                <a16:creationId xmlns:a16="http://schemas.microsoft.com/office/drawing/2014/main" id="{06772DAF-2C48-31A9-5A22-21659F485C77}"/>
              </a:ext>
            </a:extLst>
          </p:cNvPr>
          <p:cNvSpPr/>
          <p:nvPr/>
        </p:nvSpPr>
        <p:spPr>
          <a:xfrm>
            <a:off x="7572375" y="3916946"/>
            <a:ext cx="3257550" cy="582026"/>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Postprocess</a:t>
            </a:r>
          </a:p>
        </p:txBody>
      </p:sp>
      <p:sp>
        <p:nvSpPr>
          <p:cNvPr id="9" name="Arrow: Right 8">
            <a:extLst>
              <a:ext uri="{FF2B5EF4-FFF2-40B4-BE49-F238E27FC236}">
                <a16:creationId xmlns:a16="http://schemas.microsoft.com/office/drawing/2014/main" id="{55E29854-5D8C-E61B-FF02-7966FD4657A6}"/>
              </a:ext>
            </a:extLst>
          </p:cNvPr>
          <p:cNvSpPr/>
          <p:nvPr/>
        </p:nvSpPr>
        <p:spPr>
          <a:xfrm rot="6784359" flipV="1">
            <a:off x="8008590" y="4920026"/>
            <a:ext cx="1314450" cy="603841"/>
          </a:xfrm>
          <a:prstGeom prst="rightArrow">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Cloud</a:t>
            </a:r>
          </a:p>
        </p:txBody>
      </p:sp>
      <p:sp>
        <p:nvSpPr>
          <p:cNvPr id="14" name="Arrow: Right 13">
            <a:extLst>
              <a:ext uri="{FF2B5EF4-FFF2-40B4-BE49-F238E27FC236}">
                <a16:creationId xmlns:a16="http://schemas.microsoft.com/office/drawing/2014/main" id="{D767C64D-25C0-AA3B-4555-9ADB24447A42}"/>
              </a:ext>
            </a:extLst>
          </p:cNvPr>
          <p:cNvSpPr/>
          <p:nvPr/>
        </p:nvSpPr>
        <p:spPr>
          <a:xfrm rot="3270899">
            <a:off x="9049038" y="4917875"/>
            <a:ext cx="1420434" cy="608144"/>
          </a:xfrm>
          <a:prstGeom prst="rightArrow">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No Cloud</a:t>
            </a:r>
          </a:p>
        </p:txBody>
      </p:sp>
      <p:pic>
        <p:nvPicPr>
          <p:cNvPr id="16" name="Graphic 15" descr="Garbage with solid fill">
            <a:extLst>
              <a:ext uri="{FF2B5EF4-FFF2-40B4-BE49-F238E27FC236}">
                <a16:creationId xmlns:a16="http://schemas.microsoft.com/office/drawing/2014/main" id="{4297DC27-7259-0002-4F04-9DB940063F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48785" y="5743575"/>
            <a:ext cx="914400" cy="914400"/>
          </a:xfrm>
          <a:prstGeom prst="rect">
            <a:avLst/>
          </a:prstGeom>
        </p:spPr>
      </p:pic>
      <p:cxnSp>
        <p:nvCxnSpPr>
          <p:cNvPr id="20" name="Straight Arrow Connector 19">
            <a:extLst>
              <a:ext uri="{FF2B5EF4-FFF2-40B4-BE49-F238E27FC236}">
                <a16:creationId xmlns:a16="http://schemas.microsoft.com/office/drawing/2014/main" id="{79FC5FCC-B3A4-F2C4-9506-F9501031DBE3}"/>
              </a:ext>
            </a:extLst>
          </p:cNvPr>
          <p:cNvCxnSpPr>
            <a:stCxn id="3" idx="2"/>
            <a:endCxn id="6" idx="0"/>
          </p:cNvCxnSpPr>
          <p:nvPr/>
        </p:nvCxnSpPr>
        <p:spPr>
          <a:xfrm>
            <a:off x="9201150" y="2047906"/>
            <a:ext cx="0" cy="173652"/>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A7171EC-5F58-7D79-E4AF-A2CEFC206D3C}"/>
              </a:ext>
            </a:extLst>
          </p:cNvPr>
          <p:cNvCxnSpPr/>
          <p:nvPr/>
        </p:nvCxnSpPr>
        <p:spPr>
          <a:xfrm>
            <a:off x="9213850" y="2974916"/>
            <a:ext cx="0" cy="173652"/>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12BC8E2-DBFF-BFE9-97E1-276FDB568FF5}"/>
              </a:ext>
            </a:extLst>
          </p:cNvPr>
          <p:cNvCxnSpPr/>
          <p:nvPr/>
        </p:nvCxnSpPr>
        <p:spPr>
          <a:xfrm>
            <a:off x="9220200" y="3730594"/>
            <a:ext cx="0" cy="173652"/>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pic>
        <p:nvPicPr>
          <p:cNvPr id="24" name="Graphic 23" descr="Aspiration outline">
            <a:extLst>
              <a:ext uri="{FF2B5EF4-FFF2-40B4-BE49-F238E27FC236}">
                <a16:creationId xmlns:a16="http://schemas.microsoft.com/office/drawing/2014/main" id="{0ED73BAA-A26E-6476-BA6D-42625A30B4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15524" y="5612547"/>
            <a:ext cx="1012825" cy="1012825"/>
          </a:xfrm>
          <a:prstGeom prst="rect">
            <a:avLst/>
          </a:prstGeom>
        </p:spPr>
      </p:pic>
      <p:sp>
        <p:nvSpPr>
          <p:cNvPr id="2" name="Arrow: Left 1">
            <a:extLst>
              <a:ext uri="{FF2B5EF4-FFF2-40B4-BE49-F238E27FC236}">
                <a16:creationId xmlns:a16="http://schemas.microsoft.com/office/drawing/2014/main" id="{0016DA4E-65EC-889B-8C8D-CD12ED933A21}"/>
              </a:ext>
            </a:extLst>
          </p:cNvPr>
          <p:cNvSpPr/>
          <p:nvPr/>
        </p:nvSpPr>
        <p:spPr>
          <a:xfrm>
            <a:off x="10829925" y="1739988"/>
            <a:ext cx="1102779" cy="753358"/>
          </a:xfrm>
          <a:prstGeom prst="left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FIX</a:t>
            </a:r>
            <a:endParaRPr lang="en-CH" dirty="0"/>
          </a:p>
        </p:txBody>
      </p:sp>
      <p:sp>
        <p:nvSpPr>
          <p:cNvPr id="11" name="Arrow: Left 10">
            <a:extLst>
              <a:ext uri="{FF2B5EF4-FFF2-40B4-BE49-F238E27FC236}">
                <a16:creationId xmlns:a16="http://schemas.microsoft.com/office/drawing/2014/main" id="{6F5F839D-A59C-C1D7-AF8B-313CFB375B86}"/>
              </a:ext>
            </a:extLst>
          </p:cNvPr>
          <p:cNvSpPr/>
          <p:nvPr/>
        </p:nvSpPr>
        <p:spPr>
          <a:xfrm>
            <a:off x="8579047" y="5791250"/>
            <a:ext cx="1336477" cy="753358"/>
          </a:xfrm>
          <a:prstGeom prst="left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Less thrash</a:t>
            </a:r>
            <a:endParaRPr lang="en-CH" dirty="0"/>
          </a:p>
        </p:txBody>
      </p:sp>
    </p:spTree>
    <p:extLst>
      <p:ext uri="{BB962C8B-B14F-4D97-AF65-F5344CB8AC3E}">
        <p14:creationId xmlns:p14="http://schemas.microsoft.com/office/powerpoint/2010/main" val="150845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9295A-F5F3-2909-A442-35FB7288FF08}"/>
              </a:ext>
            </a:extLst>
          </p:cNvPr>
          <p:cNvSpPr>
            <a:spLocks noGrp="1"/>
          </p:cNvSpPr>
          <p:nvPr>
            <p:ph type="title"/>
          </p:nvPr>
        </p:nvSpPr>
        <p:spPr/>
        <p:txBody>
          <a:bodyPr/>
          <a:lstStyle/>
          <a:p>
            <a:r>
              <a:rPr lang="en-GB" dirty="0"/>
              <a:t>Research Question</a:t>
            </a:r>
          </a:p>
        </p:txBody>
      </p:sp>
      <p:sp>
        <p:nvSpPr>
          <p:cNvPr id="3" name="Text Placeholder 2">
            <a:extLst>
              <a:ext uri="{FF2B5EF4-FFF2-40B4-BE49-F238E27FC236}">
                <a16:creationId xmlns:a16="http://schemas.microsoft.com/office/drawing/2014/main" id="{3AFB29F6-EC9D-E3E8-BD94-7E36B25965EB}"/>
              </a:ext>
            </a:extLst>
          </p:cNvPr>
          <p:cNvSpPr>
            <a:spLocks noGrp="1"/>
          </p:cNvSpPr>
          <p:nvPr>
            <p:ph type="body" idx="1"/>
          </p:nvPr>
        </p:nvSpPr>
        <p:spPr/>
        <p:txBody>
          <a:bodyPr/>
          <a:lstStyle/>
          <a:p>
            <a:pPr fontAlgn="t">
              <a:lnSpc>
                <a:spcPts val="1500"/>
              </a:lnSpc>
              <a:buNone/>
            </a:pPr>
            <a:r>
              <a:rPr lang="de-CH" sz="2000" b="1" dirty="0">
                <a:latin typeface="Segoe UI" panose="020B0502040204020203" pitchFamily="34" charset="0"/>
              </a:rPr>
              <a:t>Can a </a:t>
            </a:r>
            <a:r>
              <a:rPr lang="de-CH" sz="2000" b="1" dirty="0" err="1">
                <a:latin typeface="Segoe UI" panose="020B0502040204020203" pitchFamily="34" charset="0"/>
              </a:rPr>
              <a:t>learned</a:t>
            </a:r>
            <a:r>
              <a:rPr lang="de-CH" sz="2000" b="1" dirty="0">
                <a:latin typeface="Segoe UI" panose="020B0502040204020203" pitchFamily="34" charset="0"/>
              </a:rPr>
              <a:t> </a:t>
            </a:r>
            <a:r>
              <a:rPr lang="de-CH" sz="2000" b="1" dirty="0" err="1">
                <a:latin typeface="Segoe UI" panose="020B0502040204020203" pitchFamily="34" charset="0"/>
              </a:rPr>
              <a:t>cloud</a:t>
            </a:r>
            <a:r>
              <a:rPr lang="de-CH" sz="2000" b="1" dirty="0">
                <a:latin typeface="Segoe UI" panose="020B0502040204020203" pitchFamily="34" charset="0"/>
              </a:rPr>
              <a:t>-aware </a:t>
            </a:r>
            <a:r>
              <a:rPr lang="de-CH" sz="2000" b="1" dirty="0" err="1">
                <a:latin typeface="Segoe UI" panose="020B0502040204020203" pitchFamily="34" charset="0"/>
              </a:rPr>
              <a:t>policy</a:t>
            </a:r>
            <a:r>
              <a:rPr lang="de-CH" sz="2000" b="1" dirty="0">
                <a:latin typeface="Segoe UI" panose="020B0502040204020203" pitchFamily="34" charset="0"/>
              </a:rPr>
              <a:t> </a:t>
            </a:r>
            <a:r>
              <a:rPr lang="de-CH" sz="2000" b="1" dirty="0" err="1">
                <a:latin typeface="Segoe UI" panose="020B0502040204020203" pitchFamily="34" charset="0"/>
              </a:rPr>
              <a:t>make</a:t>
            </a:r>
            <a:r>
              <a:rPr lang="de-CH" sz="2000" b="1" dirty="0">
                <a:latin typeface="Segoe UI" panose="020B0502040204020203" pitchFamily="34" charset="0"/>
              </a:rPr>
              <a:t> </a:t>
            </a:r>
            <a:r>
              <a:rPr lang="de-CH" sz="2000" b="1" dirty="0" err="1">
                <a:latin typeface="Segoe UI" panose="020B0502040204020203" pitchFamily="34" charset="0"/>
              </a:rPr>
              <a:t>better</a:t>
            </a:r>
            <a:r>
              <a:rPr lang="de-CH" sz="2000" b="1" dirty="0">
                <a:latin typeface="Segoe UI" panose="020B0502040204020203" pitchFamily="34" charset="0"/>
              </a:rPr>
              <a:t> </a:t>
            </a:r>
            <a:r>
              <a:rPr lang="de-CH" sz="2000" b="1" dirty="0" err="1">
                <a:latin typeface="Segoe UI" panose="020B0502040204020203" pitchFamily="34" charset="0"/>
              </a:rPr>
              <a:t>capture</a:t>
            </a:r>
            <a:r>
              <a:rPr lang="de-CH" sz="2000" b="1" dirty="0">
                <a:latin typeface="Segoe UI" panose="020B0502040204020203" pitchFamily="34" charset="0"/>
              </a:rPr>
              <a:t> </a:t>
            </a:r>
            <a:r>
              <a:rPr lang="de-CH" sz="2000" b="1" dirty="0" err="1">
                <a:latin typeface="Segoe UI" panose="020B0502040204020203" pitchFamily="34" charset="0"/>
              </a:rPr>
              <a:t>decisions</a:t>
            </a:r>
            <a:r>
              <a:rPr lang="de-CH" sz="2000" b="1" dirty="0">
                <a:latin typeface="Segoe UI" panose="020B0502040204020203" pitchFamily="34" charset="0"/>
              </a:rPr>
              <a:t> </a:t>
            </a:r>
            <a:r>
              <a:rPr lang="de-CH" sz="2000" b="1" dirty="0" err="1">
                <a:latin typeface="Segoe UI" panose="020B0502040204020203" pitchFamily="34" charset="0"/>
              </a:rPr>
              <a:t>than</a:t>
            </a:r>
            <a:r>
              <a:rPr lang="de-CH" sz="2000" b="1" dirty="0">
                <a:latin typeface="Segoe UI" panose="020B0502040204020203" pitchFamily="34" charset="0"/>
              </a:rPr>
              <a:t> a </a:t>
            </a:r>
            <a:r>
              <a:rPr lang="de-CH" sz="2000" b="1" dirty="0" err="1">
                <a:latin typeface="Segoe UI" panose="020B0502040204020203" pitchFamily="34" charset="0"/>
              </a:rPr>
              <a:t>fixed</a:t>
            </a:r>
            <a:r>
              <a:rPr lang="de-CH" sz="2000" b="1" dirty="0">
                <a:latin typeface="Segoe UI" panose="020B0502040204020203" pitchFamily="34" charset="0"/>
              </a:rPr>
              <a:t> </a:t>
            </a:r>
            <a:r>
              <a:rPr lang="de-CH" sz="2000" b="1" dirty="0" err="1">
                <a:latin typeface="Segoe UI" panose="020B0502040204020203" pitchFamily="34" charset="0"/>
              </a:rPr>
              <a:t>deterministic</a:t>
            </a:r>
            <a:r>
              <a:rPr lang="de-CH" sz="2000" b="1" dirty="0">
                <a:latin typeface="Segoe UI" panose="020B0502040204020203" pitchFamily="34" charset="0"/>
              </a:rPr>
              <a:t> </a:t>
            </a:r>
            <a:r>
              <a:rPr lang="de-CH" sz="2000" b="1" dirty="0" err="1">
                <a:latin typeface="Segoe UI" panose="020B0502040204020203" pitchFamily="34" charset="0"/>
              </a:rPr>
              <a:t>baseline</a:t>
            </a:r>
            <a:r>
              <a:rPr lang="de-CH" sz="2000" b="1" dirty="0">
                <a:latin typeface="Segoe UI" panose="020B0502040204020203" pitchFamily="34" charset="0"/>
              </a:rPr>
              <a:t>?</a:t>
            </a:r>
          </a:p>
          <a:p>
            <a:pPr fontAlgn="t">
              <a:lnSpc>
                <a:spcPts val="1500"/>
              </a:lnSpc>
              <a:buNone/>
            </a:pPr>
            <a:endParaRPr lang="de-CH" sz="2000" b="1" dirty="0">
              <a:latin typeface="Segoe UI" panose="020B0502040204020203" pitchFamily="34" charset="0"/>
            </a:endParaRPr>
          </a:p>
          <a:p>
            <a:pPr fontAlgn="t">
              <a:lnSpc>
                <a:spcPts val="1500"/>
              </a:lnSpc>
              <a:buFont typeface="Wingdings" panose="05000000000000000000" pitchFamily="2" charset="2"/>
              <a:buChar char="Ø"/>
            </a:pPr>
            <a:r>
              <a:rPr lang="de-CH" dirty="0" err="1">
                <a:latin typeface="Segoe UI" panose="020B0502040204020203" pitchFamily="34" charset="0"/>
              </a:rPr>
              <a:t>Compare</a:t>
            </a:r>
            <a:r>
              <a:rPr lang="de-CH" dirty="0">
                <a:latin typeface="Segoe UI" panose="020B0502040204020203" pitchFamily="34" charset="0"/>
              </a:rPr>
              <a:t> </a:t>
            </a:r>
            <a:r>
              <a:rPr lang="de-CH" dirty="0" err="1">
                <a:latin typeface="Segoe UI" panose="020B0502040204020203" pitchFamily="34" charset="0"/>
              </a:rPr>
              <a:t>learned</a:t>
            </a:r>
            <a:r>
              <a:rPr lang="de-CH" dirty="0">
                <a:latin typeface="Segoe UI" panose="020B0502040204020203" pitchFamily="34" charset="0"/>
              </a:rPr>
              <a:t> </a:t>
            </a:r>
            <a:r>
              <a:rPr lang="de-CH" dirty="0" err="1">
                <a:latin typeface="Segoe UI" panose="020B0502040204020203" pitchFamily="34" charset="0"/>
              </a:rPr>
              <a:t>policy</a:t>
            </a:r>
            <a:r>
              <a:rPr lang="de-CH" dirty="0">
                <a:latin typeface="Segoe UI" panose="020B0502040204020203" pitchFamily="34" charset="0"/>
              </a:rPr>
              <a:t> </a:t>
            </a:r>
            <a:r>
              <a:rPr lang="de-CH" dirty="0" err="1">
                <a:latin typeface="Segoe UI" panose="020B0502040204020203" pitchFamily="34" charset="0"/>
              </a:rPr>
              <a:t>against</a:t>
            </a:r>
            <a:r>
              <a:rPr lang="de-CH" dirty="0">
                <a:latin typeface="Segoe UI" panose="020B0502040204020203" pitchFamily="34" charset="0"/>
              </a:rPr>
              <a:t> </a:t>
            </a:r>
            <a:r>
              <a:rPr lang="de-CH" dirty="0" err="1">
                <a:latin typeface="Segoe UI" panose="020B0502040204020203" pitchFamily="34" charset="0"/>
              </a:rPr>
              <a:t>deterministic</a:t>
            </a:r>
            <a:r>
              <a:rPr lang="de-CH" dirty="0">
                <a:latin typeface="Segoe UI" panose="020B0502040204020203" pitchFamily="34" charset="0"/>
              </a:rPr>
              <a:t> </a:t>
            </a:r>
            <a:r>
              <a:rPr lang="de-CH" dirty="0" err="1">
                <a:latin typeface="Segoe UI" panose="020B0502040204020203" pitchFamily="34" charset="0"/>
              </a:rPr>
              <a:t>baseline</a:t>
            </a:r>
            <a:endParaRPr lang="de-CH" dirty="0">
              <a:latin typeface="Segoe UI" panose="020B0502040204020203" pitchFamily="34" charset="0"/>
            </a:endParaRPr>
          </a:p>
          <a:p>
            <a:pPr fontAlgn="t">
              <a:lnSpc>
                <a:spcPts val="1500"/>
              </a:lnSpc>
              <a:buFont typeface="Wingdings" panose="05000000000000000000" pitchFamily="2" charset="2"/>
              <a:buChar char="Ø"/>
            </a:pPr>
            <a:r>
              <a:rPr lang="de-CH" dirty="0">
                <a:latin typeface="Segoe UI" panose="020B0502040204020203" pitchFamily="34" charset="0"/>
              </a:rPr>
              <a:t>Use </a:t>
            </a:r>
            <a:r>
              <a:rPr lang="de-CH" dirty="0" err="1">
                <a:latin typeface="Segoe UI" panose="020B0502040204020203" pitchFamily="34" charset="0"/>
              </a:rPr>
              <a:t>matched</a:t>
            </a:r>
            <a:r>
              <a:rPr lang="de-CH" dirty="0">
                <a:latin typeface="Segoe UI" panose="020B0502040204020203" pitchFamily="34" charset="0"/>
              </a:rPr>
              <a:t> </a:t>
            </a:r>
            <a:r>
              <a:rPr lang="de-CH" dirty="0" err="1">
                <a:latin typeface="Segoe UI" panose="020B0502040204020203" pitchFamily="34" charset="0"/>
              </a:rPr>
              <a:t>simulation</a:t>
            </a:r>
            <a:r>
              <a:rPr lang="de-CH" dirty="0">
                <a:latin typeface="Segoe UI" panose="020B0502040204020203" pitchFamily="34" charset="0"/>
              </a:rPr>
              <a:t> </a:t>
            </a:r>
            <a:r>
              <a:rPr lang="de-CH" dirty="0" err="1">
                <a:latin typeface="Segoe UI" panose="020B0502040204020203" pitchFamily="34" charset="0"/>
              </a:rPr>
              <a:t>conditions</a:t>
            </a:r>
            <a:endParaRPr lang="de-CH" dirty="0">
              <a:latin typeface="Segoe UI" panose="020B0502040204020203" pitchFamily="34" charset="0"/>
            </a:endParaRPr>
          </a:p>
          <a:p>
            <a:pPr fontAlgn="t">
              <a:lnSpc>
                <a:spcPts val="1500"/>
              </a:lnSpc>
              <a:buFont typeface="Wingdings" panose="05000000000000000000" pitchFamily="2" charset="2"/>
              <a:buChar char="Ø"/>
            </a:pPr>
            <a:r>
              <a:rPr lang="de-CH" dirty="0">
                <a:latin typeface="Segoe UI" panose="020B0502040204020203" pitchFamily="34" charset="0"/>
              </a:rPr>
              <a:t>Focus on </a:t>
            </a:r>
            <a:r>
              <a:rPr lang="de-CH" dirty="0" err="1">
                <a:latin typeface="Segoe UI" panose="020B0502040204020203" pitchFamily="34" charset="0"/>
              </a:rPr>
              <a:t>useful</a:t>
            </a:r>
            <a:r>
              <a:rPr lang="de-CH" dirty="0">
                <a:latin typeface="Segoe UI" panose="020B0502040204020203" pitchFamily="34" charset="0"/>
              </a:rPr>
              <a:t> </a:t>
            </a:r>
            <a:r>
              <a:rPr lang="de-CH" dirty="0" err="1">
                <a:latin typeface="Segoe UI" panose="020B0502040204020203" pitchFamily="34" charset="0"/>
              </a:rPr>
              <a:t>observation</a:t>
            </a:r>
            <a:r>
              <a:rPr lang="de-CH" dirty="0">
                <a:latin typeface="Segoe UI" panose="020B0502040204020203" pitchFamily="34" charset="0"/>
              </a:rPr>
              <a:t> </a:t>
            </a:r>
            <a:r>
              <a:rPr lang="de-CH" dirty="0" err="1">
                <a:latin typeface="Segoe UI" panose="020B0502040204020203" pitchFamily="34" charset="0"/>
              </a:rPr>
              <a:t>value</a:t>
            </a:r>
            <a:r>
              <a:rPr lang="de-CH" dirty="0">
                <a:latin typeface="Segoe UI" panose="020B0502040204020203" pitchFamily="34" charset="0"/>
              </a:rPr>
              <a:t>, not just </a:t>
            </a:r>
            <a:r>
              <a:rPr lang="de-CH" dirty="0" err="1">
                <a:latin typeface="Segoe UI" panose="020B0502040204020203" pitchFamily="34" charset="0"/>
              </a:rPr>
              <a:t>movement</a:t>
            </a:r>
            <a:r>
              <a:rPr lang="de-CH" dirty="0">
                <a:latin typeface="Segoe UI" panose="020B0502040204020203" pitchFamily="34" charset="0"/>
              </a:rPr>
              <a:t> </a:t>
            </a:r>
            <a:r>
              <a:rPr lang="de-CH" dirty="0" err="1">
                <a:latin typeface="Segoe UI" panose="020B0502040204020203" pitchFamily="34" charset="0"/>
              </a:rPr>
              <a:t>behavior</a:t>
            </a:r>
            <a:r>
              <a:rPr lang="de-CH" dirty="0">
                <a:latin typeface="Segoe UI" panose="020B0502040204020203" pitchFamily="34" charset="0"/>
              </a:rPr>
              <a:t>.</a:t>
            </a:r>
          </a:p>
          <a:p>
            <a:endParaRPr lang="en-GB" dirty="0"/>
          </a:p>
        </p:txBody>
      </p:sp>
      <p:sp>
        <p:nvSpPr>
          <p:cNvPr id="4" name="Slide Number Placeholder 3">
            <a:extLst>
              <a:ext uri="{FF2B5EF4-FFF2-40B4-BE49-F238E27FC236}">
                <a16:creationId xmlns:a16="http://schemas.microsoft.com/office/drawing/2014/main" id="{6C50D3D5-3ABC-D60F-A1E8-87117BB8016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de-CH" smtClean="0"/>
              <a:t>4</a:t>
            </a:fld>
            <a:endParaRPr lang="de-CH"/>
          </a:p>
        </p:txBody>
      </p:sp>
      <p:pic>
        <p:nvPicPr>
          <p:cNvPr id="6" name="Graphic 5" descr="Badge Question Mark outline">
            <a:extLst>
              <a:ext uri="{FF2B5EF4-FFF2-40B4-BE49-F238E27FC236}">
                <a16:creationId xmlns:a16="http://schemas.microsoft.com/office/drawing/2014/main" id="{40B93F71-3B4F-122F-6953-755A93A8231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715381" y="3144999"/>
            <a:ext cx="3200400" cy="3200400"/>
          </a:xfrm>
          <a:prstGeom prst="rect">
            <a:avLst/>
          </a:prstGeom>
        </p:spPr>
      </p:pic>
    </p:spTree>
    <p:extLst>
      <p:ext uri="{BB962C8B-B14F-4D97-AF65-F5344CB8AC3E}">
        <p14:creationId xmlns:p14="http://schemas.microsoft.com/office/powerpoint/2010/main" val="34543977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23A4B-01B8-ECD9-2FB0-AEAF22EB72C9}"/>
              </a:ext>
            </a:extLst>
          </p:cNvPr>
          <p:cNvSpPr>
            <a:spLocks noGrp="1"/>
          </p:cNvSpPr>
          <p:nvPr>
            <p:ph type="title"/>
          </p:nvPr>
        </p:nvSpPr>
        <p:spPr>
          <a:xfrm>
            <a:off x="731837" y="315125"/>
            <a:ext cx="10728325" cy="900000"/>
          </a:xfrm>
        </p:spPr>
        <p:txBody>
          <a:bodyPr/>
          <a:lstStyle/>
          <a:p>
            <a:r>
              <a:rPr lang="en-GB" b="1" dirty="0"/>
              <a:t>Deterministic baseline model: Demo</a:t>
            </a:r>
          </a:p>
        </p:txBody>
      </p:sp>
      <p:sp>
        <p:nvSpPr>
          <p:cNvPr id="3" name="Content Placeholder 2">
            <a:extLst>
              <a:ext uri="{FF2B5EF4-FFF2-40B4-BE49-F238E27FC236}">
                <a16:creationId xmlns:a16="http://schemas.microsoft.com/office/drawing/2014/main" id="{1153BE39-3542-A36D-E749-888D31A26B16}"/>
              </a:ext>
            </a:extLst>
          </p:cNvPr>
          <p:cNvSpPr>
            <a:spLocks noGrp="1"/>
          </p:cNvSpPr>
          <p:nvPr>
            <p:ph type="body" idx="1"/>
          </p:nvPr>
        </p:nvSpPr>
        <p:spPr>
          <a:xfrm>
            <a:off x="687387" y="5261563"/>
            <a:ext cx="5529264" cy="900000"/>
          </a:xfrm>
        </p:spPr>
        <p:txBody>
          <a:bodyPr/>
          <a:lstStyle/>
          <a:p>
            <a:pPr>
              <a:buFont typeface="Arial" panose="020B0604020202020204" pitchFamily="34" charset="0"/>
              <a:buChar char="•"/>
            </a:pPr>
            <a:r>
              <a:rPr lang="en-US" dirty="0"/>
              <a:t>Sequentially tracks scheduled targets.</a:t>
            </a:r>
          </a:p>
          <a:p>
            <a:pPr>
              <a:buFont typeface="Arial" panose="020B0604020202020204" pitchFamily="34" charset="0"/>
              <a:buChar char="•"/>
            </a:pPr>
            <a:r>
              <a:rPr lang="en-US" dirty="0"/>
              <a:t>Captures near the best geometric imaging opportunity.</a:t>
            </a:r>
            <a:endParaRPr lang="en-GB" dirty="0"/>
          </a:p>
        </p:txBody>
      </p:sp>
      <p:sp>
        <p:nvSpPr>
          <p:cNvPr id="5" name="Slide Number Placeholder 4">
            <a:extLst>
              <a:ext uri="{FF2B5EF4-FFF2-40B4-BE49-F238E27FC236}">
                <a16:creationId xmlns:a16="http://schemas.microsoft.com/office/drawing/2014/main" id="{40159E65-3BEB-CD6F-8A92-219C9592C5E2}"/>
              </a:ext>
            </a:extLst>
          </p:cNvPr>
          <p:cNvSpPr>
            <a:spLocks noGrp="1"/>
          </p:cNvSpPr>
          <p:nvPr>
            <p:ph type="sldNum" idx="12"/>
          </p:nvPr>
        </p:nvSpPr>
        <p:spPr/>
        <p:txBody>
          <a:bodyPr/>
          <a:lstStyle/>
          <a:p>
            <a:fld id="{42C4200E-C0B8-49E1-BC7A-2B8B2D8DA90B}" type="slidenum">
              <a:rPr lang="en-GB" smtClean="0"/>
              <a:pPr/>
              <a:t>5</a:t>
            </a:fld>
            <a:endParaRPr lang="en-GB" dirty="0"/>
          </a:p>
        </p:txBody>
      </p:sp>
      <p:pic>
        <p:nvPicPr>
          <p:cNvPr id="4" name="07-baseline-overflight-torque">
            <a:hlinkClick r:id="" action="ppaction://media"/>
            <a:extLst>
              <a:ext uri="{FF2B5EF4-FFF2-40B4-BE49-F238E27FC236}">
                <a16:creationId xmlns:a16="http://schemas.microsoft.com/office/drawing/2014/main" id="{2B11D016-BE9C-4338-FB9C-1F50628C907C}"/>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160588" y="619562"/>
            <a:ext cx="8443913" cy="4749701"/>
          </a:xfrm>
          <a:prstGeom prst="rect">
            <a:avLst/>
          </a:prstGeom>
        </p:spPr>
      </p:pic>
      <p:sp>
        <p:nvSpPr>
          <p:cNvPr id="7" name="Content Placeholder 2">
            <a:extLst>
              <a:ext uri="{FF2B5EF4-FFF2-40B4-BE49-F238E27FC236}">
                <a16:creationId xmlns:a16="http://schemas.microsoft.com/office/drawing/2014/main" id="{72E8ACC0-3BCA-5AA0-23D2-00E44CE3D40F}"/>
              </a:ext>
            </a:extLst>
          </p:cNvPr>
          <p:cNvSpPr txBox="1">
            <a:spLocks/>
          </p:cNvSpPr>
          <p:nvPr/>
        </p:nvSpPr>
        <p:spPr>
          <a:xfrm>
            <a:off x="5769609" y="5261563"/>
            <a:ext cx="5529264" cy="9000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1000"/>
              </a:spcBef>
              <a:spcAft>
                <a:spcPts val="0"/>
              </a:spcAft>
              <a:buClr>
                <a:schemeClr val="dk1"/>
              </a:buClr>
              <a:buSzPts val="1800"/>
              <a:buFont typeface="Arial"/>
              <a:buAutoNum type="arabicPeriod"/>
              <a:defRPr sz="1800" b="0" i="0" u="none" strike="noStrike" cap="none">
                <a:solidFill>
                  <a:schemeClr val="dk1"/>
                </a:solidFill>
                <a:latin typeface="Arial"/>
                <a:ea typeface="Arial"/>
                <a:cs typeface="Arial"/>
                <a:sym typeface="Arial"/>
              </a:defRPr>
            </a:lvl1pPr>
            <a:lvl2pPr marL="914400" marR="0" lvl="1" indent="-342900" algn="l" rtl="0">
              <a:lnSpc>
                <a:spcPct val="100000"/>
              </a:lnSpc>
              <a:spcBef>
                <a:spcPts val="500"/>
              </a:spcBef>
              <a:spcAft>
                <a:spcPts val="0"/>
              </a:spcAft>
              <a:buClr>
                <a:schemeClr val="dk1"/>
              </a:buClr>
              <a:buSzPts val="1800"/>
              <a:buFont typeface="Arial"/>
              <a:buAutoNum type="arabicPeriod"/>
              <a:defRPr sz="1800" b="0" i="0" u="none" strike="noStrike" cap="none">
                <a:solidFill>
                  <a:schemeClr val="dk1"/>
                </a:solidFill>
                <a:latin typeface="Arial"/>
                <a:ea typeface="Arial"/>
                <a:cs typeface="Arial"/>
                <a:sym typeface="Arial"/>
              </a:defRPr>
            </a:lvl2pPr>
            <a:lvl3pPr marL="1371600" marR="0" lvl="2" indent="-342900" algn="l" rtl="0">
              <a:lnSpc>
                <a:spcPct val="100000"/>
              </a:lnSpc>
              <a:spcBef>
                <a:spcPts val="500"/>
              </a:spcBef>
              <a:spcAft>
                <a:spcPts val="0"/>
              </a:spcAft>
              <a:buClr>
                <a:schemeClr val="dk1"/>
              </a:buClr>
              <a:buSzPts val="1800"/>
              <a:buFont typeface="Arial"/>
              <a:buAutoNum type="arabicPeriod"/>
              <a:defRPr sz="1800" b="0" i="0" u="none" strike="noStrike" cap="none">
                <a:solidFill>
                  <a:schemeClr val="dk1"/>
                </a:solidFill>
                <a:latin typeface="Arial"/>
                <a:ea typeface="Arial"/>
                <a:cs typeface="Arial"/>
                <a:sym typeface="Arial"/>
              </a:defRPr>
            </a:lvl3pPr>
            <a:lvl4pPr marL="1828800" marR="0" lvl="3" indent="-342900" algn="l" rtl="0">
              <a:lnSpc>
                <a:spcPct val="100000"/>
              </a:lnSpc>
              <a:spcBef>
                <a:spcPts val="500"/>
              </a:spcBef>
              <a:spcAft>
                <a:spcPts val="0"/>
              </a:spcAft>
              <a:buClr>
                <a:schemeClr val="dk1"/>
              </a:buClr>
              <a:buSzPts val="1800"/>
              <a:buFont typeface="Arial"/>
              <a:buAutoNum type="arabicPeriod"/>
              <a:defRPr sz="1800" b="0" i="0" u="none" strike="noStrike" cap="none">
                <a:solidFill>
                  <a:schemeClr val="dk1"/>
                </a:solidFill>
                <a:latin typeface="Arial"/>
                <a:ea typeface="Arial"/>
                <a:cs typeface="Arial"/>
                <a:sym typeface="Arial"/>
              </a:defRPr>
            </a:lvl4pPr>
            <a:lvl5pPr marL="2286000" marR="0" lvl="4" indent="-342900" algn="l" rtl="0">
              <a:lnSpc>
                <a:spcPct val="100000"/>
              </a:lnSpc>
              <a:spcBef>
                <a:spcPts val="500"/>
              </a:spcBef>
              <a:spcAft>
                <a:spcPts val="0"/>
              </a:spcAft>
              <a:buClr>
                <a:schemeClr val="dk1"/>
              </a:buClr>
              <a:buSzPts val="1800"/>
              <a:buFont typeface="Arial"/>
              <a:buAutoNum type="arabicPeriod"/>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a:buFont typeface="Arial" panose="020B0604020202020204" pitchFamily="34" charset="0"/>
              <a:buChar char="•"/>
            </a:pPr>
            <a:r>
              <a:rPr lang="en-US" dirty="0"/>
              <a:t>Does not use live cloud awareness.</a:t>
            </a:r>
          </a:p>
          <a:p>
            <a:pPr>
              <a:buFont typeface="Arial" panose="020B0604020202020204" pitchFamily="34" charset="0"/>
              <a:buChar char="•"/>
            </a:pPr>
            <a:r>
              <a:rPr lang="en-US" dirty="0"/>
              <a:t>Used as the reference policy for learned approaches.</a:t>
            </a:r>
            <a:endParaRPr lang="en-GB" dirty="0"/>
          </a:p>
        </p:txBody>
      </p:sp>
      <p:sp>
        <p:nvSpPr>
          <p:cNvPr id="6" name="Text Placeholder 2">
            <a:extLst>
              <a:ext uri="{FF2B5EF4-FFF2-40B4-BE49-F238E27FC236}">
                <a16:creationId xmlns:a16="http://schemas.microsoft.com/office/drawing/2014/main" id="{AEF286F3-774A-F49B-1141-0AE9CEDB0A1A}"/>
              </a:ext>
            </a:extLst>
          </p:cNvPr>
          <p:cNvSpPr txBox="1">
            <a:spLocks/>
          </p:cNvSpPr>
          <p:nvPr/>
        </p:nvSpPr>
        <p:spPr>
          <a:xfrm>
            <a:off x="279400" y="765125"/>
            <a:ext cx="2641601" cy="46800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1000"/>
              </a:spcBef>
              <a:spcAft>
                <a:spcPts val="0"/>
              </a:spcAft>
              <a:buClr>
                <a:schemeClr val="dk1"/>
              </a:buClr>
              <a:buSzPts val="1800"/>
              <a:buFont typeface="Arial"/>
              <a:buAutoNum type="arabicPeriod"/>
              <a:defRPr sz="1800" b="0" i="0" u="none" strike="noStrike" cap="none">
                <a:solidFill>
                  <a:schemeClr val="dk1"/>
                </a:solidFill>
                <a:latin typeface="Arial"/>
                <a:ea typeface="Arial"/>
                <a:cs typeface="Arial"/>
                <a:sym typeface="Arial"/>
              </a:defRPr>
            </a:lvl1pPr>
            <a:lvl2pPr marL="914400" marR="0" lvl="1" indent="-342900" algn="l" rtl="0">
              <a:lnSpc>
                <a:spcPct val="100000"/>
              </a:lnSpc>
              <a:spcBef>
                <a:spcPts val="500"/>
              </a:spcBef>
              <a:spcAft>
                <a:spcPts val="0"/>
              </a:spcAft>
              <a:buClr>
                <a:schemeClr val="dk1"/>
              </a:buClr>
              <a:buSzPts val="1800"/>
              <a:buFont typeface="Arial"/>
              <a:buAutoNum type="arabicPeriod"/>
              <a:defRPr sz="1800" b="0" i="0" u="none" strike="noStrike" cap="none">
                <a:solidFill>
                  <a:schemeClr val="dk1"/>
                </a:solidFill>
                <a:latin typeface="Arial"/>
                <a:ea typeface="Arial"/>
                <a:cs typeface="Arial"/>
                <a:sym typeface="Arial"/>
              </a:defRPr>
            </a:lvl2pPr>
            <a:lvl3pPr marL="1371600" marR="0" lvl="2" indent="-342900" algn="l" rtl="0">
              <a:lnSpc>
                <a:spcPct val="100000"/>
              </a:lnSpc>
              <a:spcBef>
                <a:spcPts val="500"/>
              </a:spcBef>
              <a:spcAft>
                <a:spcPts val="0"/>
              </a:spcAft>
              <a:buClr>
                <a:schemeClr val="dk1"/>
              </a:buClr>
              <a:buSzPts val="1800"/>
              <a:buFont typeface="Arial"/>
              <a:buAutoNum type="arabicPeriod"/>
              <a:defRPr sz="1800" b="0" i="0" u="none" strike="noStrike" cap="none">
                <a:solidFill>
                  <a:schemeClr val="dk1"/>
                </a:solidFill>
                <a:latin typeface="Arial"/>
                <a:ea typeface="Arial"/>
                <a:cs typeface="Arial"/>
                <a:sym typeface="Arial"/>
              </a:defRPr>
            </a:lvl3pPr>
            <a:lvl4pPr marL="1828800" marR="0" lvl="3" indent="-342900" algn="l" rtl="0">
              <a:lnSpc>
                <a:spcPct val="100000"/>
              </a:lnSpc>
              <a:spcBef>
                <a:spcPts val="500"/>
              </a:spcBef>
              <a:spcAft>
                <a:spcPts val="0"/>
              </a:spcAft>
              <a:buClr>
                <a:schemeClr val="dk1"/>
              </a:buClr>
              <a:buSzPts val="1800"/>
              <a:buFont typeface="Arial"/>
              <a:buAutoNum type="arabicPeriod"/>
              <a:defRPr sz="1800" b="0" i="0" u="none" strike="noStrike" cap="none">
                <a:solidFill>
                  <a:schemeClr val="dk1"/>
                </a:solidFill>
                <a:latin typeface="Arial"/>
                <a:ea typeface="Arial"/>
                <a:cs typeface="Arial"/>
                <a:sym typeface="Arial"/>
              </a:defRPr>
            </a:lvl4pPr>
            <a:lvl5pPr marL="2286000" marR="0" lvl="4" indent="-342900" algn="l" rtl="0">
              <a:lnSpc>
                <a:spcPct val="100000"/>
              </a:lnSpc>
              <a:spcBef>
                <a:spcPts val="500"/>
              </a:spcBef>
              <a:spcAft>
                <a:spcPts val="0"/>
              </a:spcAft>
              <a:buClr>
                <a:schemeClr val="dk1"/>
              </a:buClr>
              <a:buSzPts val="1800"/>
              <a:buFont typeface="Arial"/>
              <a:buAutoNum type="arabicPeriod"/>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114300" indent="0">
              <a:buFont typeface="Arial"/>
              <a:buNone/>
            </a:pPr>
            <a:r>
              <a:rPr lang="en-US" b="1" dirty="0"/>
              <a:t>Control mode:</a:t>
            </a:r>
          </a:p>
          <a:p>
            <a:pPr marL="400050" indent="-285750">
              <a:buFontTx/>
              <a:buChar char="-"/>
            </a:pPr>
            <a:r>
              <a:rPr lang="en-US" dirty="0"/>
              <a:t>Torque</a:t>
            </a:r>
          </a:p>
          <a:p>
            <a:pPr marL="114300" indent="0">
              <a:buFont typeface="Arial"/>
              <a:buNone/>
            </a:pPr>
            <a:r>
              <a:rPr lang="en-US" b="1" dirty="0"/>
              <a:t>Algorithm:</a:t>
            </a:r>
          </a:p>
          <a:p>
            <a:pPr marL="400050" indent="-285750">
              <a:buFontTx/>
              <a:buChar char="-"/>
            </a:pPr>
            <a:r>
              <a:rPr lang="en-US" dirty="0"/>
              <a:t>Baseline</a:t>
            </a:r>
          </a:p>
          <a:p>
            <a:pPr marL="114300" indent="0">
              <a:buFont typeface="Arial"/>
              <a:buNone/>
            </a:pPr>
            <a:r>
              <a:rPr lang="en-US" b="1" dirty="0"/>
              <a:t>Reward:</a:t>
            </a:r>
          </a:p>
          <a:p>
            <a:pPr marL="114300" indent="0">
              <a:buFont typeface="Arial"/>
              <a:buNone/>
            </a:pPr>
            <a:r>
              <a:rPr lang="en-US" dirty="0"/>
              <a:t>- sparse</a:t>
            </a:r>
            <a:endParaRPr lang="en-CH" dirty="0"/>
          </a:p>
        </p:txBody>
      </p:sp>
    </p:spTree>
    <p:extLst>
      <p:ext uri="{BB962C8B-B14F-4D97-AF65-F5344CB8AC3E}">
        <p14:creationId xmlns:p14="http://schemas.microsoft.com/office/powerpoint/2010/main" val="2392154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19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83D23-FC50-B8D9-04DF-7BBA328342C3}"/>
              </a:ext>
            </a:extLst>
          </p:cNvPr>
          <p:cNvSpPr>
            <a:spLocks noGrp="1"/>
          </p:cNvSpPr>
          <p:nvPr>
            <p:ph type="title"/>
          </p:nvPr>
        </p:nvSpPr>
        <p:spPr/>
        <p:txBody>
          <a:bodyPr/>
          <a:lstStyle/>
          <a:p>
            <a:r>
              <a:rPr lang="en-GB" dirty="0"/>
              <a:t>Experiment Setup</a:t>
            </a:r>
          </a:p>
        </p:txBody>
      </p:sp>
      <p:sp>
        <p:nvSpPr>
          <p:cNvPr id="3" name="Text Placeholder 2">
            <a:extLst>
              <a:ext uri="{FF2B5EF4-FFF2-40B4-BE49-F238E27FC236}">
                <a16:creationId xmlns:a16="http://schemas.microsoft.com/office/drawing/2014/main" id="{C698816E-2AA1-863A-B9AB-5BAF9ADC1E13}"/>
              </a:ext>
            </a:extLst>
          </p:cNvPr>
          <p:cNvSpPr>
            <a:spLocks noGrp="1"/>
          </p:cNvSpPr>
          <p:nvPr>
            <p:ph type="body" idx="1"/>
          </p:nvPr>
        </p:nvSpPr>
        <p:spPr>
          <a:xfrm>
            <a:off x="731837" y="1412875"/>
            <a:ext cx="4566495" cy="4680000"/>
          </a:xfrm>
        </p:spPr>
        <p:txBody>
          <a:bodyPr/>
          <a:lstStyle/>
          <a:p>
            <a:pPr fontAlgn="t">
              <a:lnSpc>
                <a:spcPts val="1500"/>
              </a:lnSpc>
              <a:buFont typeface="Arial" panose="020B0604020202020204" pitchFamily="34" charset="0"/>
              <a:buChar char="•"/>
            </a:pPr>
            <a:r>
              <a:rPr lang="de-CH" dirty="0">
                <a:latin typeface="Segoe UI" panose="020B0502040204020203" pitchFamily="34" charset="0"/>
              </a:rPr>
              <a:t>2D </a:t>
            </a:r>
            <a:r>
              <a:rPr lang="de-CH" dirty="0" err="1">
                <a:latin typeface="Segoe UI" panose="020B0502040204020203" pitchFamily="34" charset="0"/>
              </a:rPr>
              <a:t>satellite</a:t>
            </a:r>
            <a:r>
              <a:rPr lang="de-CH" dirty="0">
                <a:latin typeface="Segoe UI" panose="020B0502040204020203" pitchFamily="34" charset="0"/>
              </a:rPr>
              <a:t> </a:t>
            </a:r>
            <a:r>
              <a:rPr lang="de-CH" dirty="0" err="1">
                <a:latin typeface="Segoe UI" panose="020B0502040204020203" pitchFamily="34" charset="0"/>
              </a:rPr>
              <a:t>overflight</a:t>
            </a:r>
            <a:r>
              <a:rPr lang="de-CH" dirty="0">
                <a:latin typeface="Segoe UI" panose="020B0502040204020203" pitchFamily="34" charset="0"/>
              </a:rPr>
              <a:t> </a:t>
            </a:r>
            <a:r>
              <a:rPr lang="de-CH" dirty="0" err="1">
                <a:latin typeface="Segoe UI" panose="020B0502040204020203" pitchFamily="34" charset="0"/>
              </a:rPr>
              <a:t>simulation</a:t>
            </a:r>
            <a:endParaRPr lang="de-CH" dirty="0">
              <a:latin typeface="Segoe UI" panose="020B0502040204020203" pitchFamily="34" charset="0"/>
            </a:endParaRPr>
          </a:p>
          <a:p>
            <a:pPr fontAlgn="t">
              <a:lnSpc>
                <a:spcPts val="1500"/>
              </a:lnSpc>
              <a:buFont typeface="Arial" panose="020B0604020202020204" pitchFamily="34" charset="0"/>
              <a:buChar char="•"/>
            </a:pPr>
            <a:r>
              <a:rPr lang="de-CH" dirty="0">
                <a:latin typeface="Segoe UI" panose="020B0502040204020203" pitchFamily="34" charset="0"/>
              </a:rPr>
              <a:t>Cloud-aware </a:t>
            </a:r>
            <a:r>
              <a:rPr lang="de-CH" dirty="0" err="1">
                <a:latin typeface="Segoe UI" panose="020B0502040204020203" pitchFamily="34" charset="0"/>
              </a:rPr>
              <a:t>sensing</a:t>
            </a:r>
            <a:r>
              <a:rPr lang="de-CH" dirty="0">
                <a:latin typeface="Segoe UI" panose="020B0502040204020203" pitchFamily="34" charset="0"/>
              </a:rPr>
              <a:t> and </a:t>
            </a:r>
            <a:r>
              <a:rPr lang="de-CH" dirty="0" err="1">
                <a:latin typeface="Segoe UI" panose="020B0502040204020203" pitchFamily="34" charset="0"/>
              </a:rPr>
              <a:t>target</a:t>
            </a:r>
            <a:r>
              <a:rPr lang="de-CH" dirty="0">
                <a:latin typeface="Segoe UI" panose="020B0502040204020203" pitchFamily="34" charset="0"/>
              </a:rPr>
              <a:t> </a:t>
            </a:r>
            <a:r>
              <a:rPr lang="de-CH" dirty="0" err="1">
                <a:latin typeface="Segoe UI" panose="020B0502040204020203" pitchFamily="34" charset="0"/>
              </a:rPr>
              <a:t>geometry</a:t>
            </a:r>
            <a:endParaRPr lang="de-CH" dirty="0">
              <a:latin typeface="Segoe UI" panose="020B0502040204020203" pitchFamily="34" charset="0"/>
            </a:endParaRPr>
          </a:p>
          <a:p>
            <a:pPr fontAlgn="t">
              <a:lnSpc>
                <a:spcPts val="1500"/>
              </a:lnSpc>
              <a:buFont typeface="Arial" panose="020B0604020202020204" pitchFamily="34" charset="0"/>
              <a:buChar char="•"/>
            </a:pPr>
            <a:r>
              <a:rPr lang="de-CH" dirty="0" err="1">
                <a:latin typeface="Segoe UI" panose="020B0502040204020203" pitchFamily="34" charset="0"/>
              </a:rPr>
              <a:t>Reward</a:t>
            </a:r>
            <a:r>
              <a:rPr lang="de-CH" dirty="0">
                <a:latin typeface="Segoe UI" panose="020B0502040204020203" pitchFamily="34" charset="0"/>
              </a:rPr>
              <a:t> </a:t>
            </a:r>
            <a:r>
              <a:rPr lang="de-CH" dirty="0" err="1">
                <a:latin typeface="Segoe UI" panose="020B0502040204020203" pitchFamily="34" charset="0"/>
              </a:rPr>
              <a:t>model</a:t>
            </a:r>
            <a:r>
              <a:rPr lang="de-CH" dirty="0">
                <a:latin typeface="Segoe UI" panose="020B0502040204020203" pitchFamily="34" charset="0"/>
              </a:rPr>
              <a:t> </a:t>
            </a:r>
            <a:r>
              <a:rPr lang="de-CH" dirty="0" err="1">
                <a:latin typeface="Segoe UI" panose="020B0502040204020203" pitchFamily="34" charset="0"/>
              </a:rPr>
              <a:t>for</a:t>
            </a:r>
            <a:r>
              <a:rPr lang="de-CH" dirty="0">
                <a:latin typeface="Segoe UI" panose="020B0502040204020203" pitchFamily="34" charset="0"/>
              </a:rPr>
              <a:t> </a:t>
            </a:r>
            <a:r>
              <a:rPr lang="de-CH" dirty="0" err="1">
                <a:latin typeface="Segoe UI" panose="020B0502040204020203" pitchFamily="34" charset="0"/>
              </a:rPr>
              <a:t>useful</a:t>
            </a:r>
            <a:r>
              <a:rPr lang="de-CH" dirty="0">
                <a:latin typeface="Segoe UI" panose="020B0502040204020203" pitchFamily="34" charset="0"/>
              </a:rPr>
              <a:t> </a:t>
            </a:r>
            <a:r>
              <a:rPr lang="de-CH" dirty="0" err="1">
                <a:latin typeface="Segoe UI" panose="020B0502040204020203" pitchFamily="34" charset="0"/>
              </a:rPr>
              <a:t>captures</a:t>
            </a:r>
            <a:endParaRPr lang="de-CH" dirty="0">
              <a:latin typeface="Segoe UI" panose="020B0502040204020203" pitchFamily="34" charset="0"/>
            </a:endParaRPr>
          </a:p>
          <a:p>
            <a:pPr fontAlgn="t">
              <a:lnSpc>
                <a:spcPts val="1500"/>
              </a:lnSpc>
              <a:buFont typeface="Arial" panose="020B0604020202020204" pitchFamily="34" charset="0"/>
              <a:buChar char="•"/>
            </a:pPr>
            <a:r>
              <a:rPr lang="de-CH" dirty="0">
                <a:latin typeface="Segoe UI" panose="020B0502040204020203" pitchFamily="34" charset="0"/>
              </a:rPr>
              <a:t>ML </a:t>
            </a:r>
            <a:r>
              <a:rPr lang="de-CH" dirty="0" err="1">
                <a:latin typeface="Segoe UI" panose="020B0502040204020203" pitchFamily="34" charset="0"/>
              </a:rPr>
              <a:t>training</a:t>
            </a:r>
            <a:r>
              <a:rPr lang="de-CH" dirty="0">
                <a:latin typeface="Segoe UI" panose="020B0502040204020203" pitchFamily="34" charset="0"/>
              </a:rPr>
              <a:t>, </a:t>
            </a:r>
            <a:r>
              <a:rPr lang="de-CH" dirty="0" err="1">
                <a:latin typeface="Segoe UI" panose="020B0502040204020203" pitchFamily="34" charset="0"/>
              </a:rPr>
              <a:t>evaluation</a:t>
            </a:r>
            <a:r>
              <a:rPr lang="de-CH" dirty="0">
                <a:latin typeface="Segoe UI" panose="020B0502040204020203" pitchFamily="34" charset="0"/>
              </a:rPr>
              <a:t>, and </a:t>
            </a:r>
            <a:r>
              <a:rPr lang="de-CH" dirty="0" err="1">
                <a:latin typeface="Segoe UI" panose="020B0502040204020203" pitchFamily="34" charset="0"/>
              </a:rPr>
              <a:t>rendering</a:t>
            </a:r>
            <a:r>
              <a:rPr lang="de-CH" dirty="0">
                <a:latin typeface="Segoe UI" panose="020B0502040204020203" pitchFamily="34" charset="0"/>
              </a:rPr>
              <a:t> loop</a:t>
            </a:r>
          </a:p>
          <a:p>
            <a:pPr fontAlgn="t">
              <a:lnSpc>
                <a:spcPts val="1500"/>
              </a:lnSpc>
              <a:buFont typeface="Arial" panose="020B0604020202020204" pitchFamily="34" charset="0"/>
              <a:buChar char="•"/>
            </a:pPr>
            <a:r>
              <a:rPr lang="de-CH" dirty="0">
                <a:latin typeface="Segoe UI" panose="020B0502040204020203" pitchFamily="34" charset="0"/>
              </a:rPr>
              <a:t>Wide FOV - </a:t>
            </a:r>
            <a:r>
              <a:rPr lang="de-CH" dirty="0" err="1">
                <a:latin typeface="Segoe UI" panose="020B0502040204020203" pitchFamily="34" charset="0"/>
              </a:rPr>
              <a:t>forward</a:t>
            </a:r>
            <a:r>
              <a:rPr lang="de-CH" dirty="0">
                <a:latin typeface="Segoe UI" panose="020B0502040204020203" pitchFamily="34" charset="0"/>
              </a:rPr>
              <a:t> </a:t>
            </a:r>
            <a:r>
              <a:rPr lang="de-CH" dirty="0" err="1">
                <a:latin typeface="Segoe UI" panose="020B0502040204020203" pitchFamily="34" charset="0"/>
              </a:rPr>
              <a:t>looking</a:t>
            </a:r>
            <a:r>
              <a:rPr lang="de-CH" dirty="0">
                <a:latin typeface="Segoe UI" panose="020B0502040204020203" pitchFamily="34" charset="0"/>
              </a:rPr>
              <a:t> </a:t>
            </a:r>
            <a:r>
              <a:rPr lang="de-CH" dirty="0" err="1">
                <a:latin typeface="Segoe UI" panose="020B0502040204020203" pitchFamily="34" charset="0"/>
              </a:rPr>
              <a:t>Camera</a:t>
            </a:r>
            <a:endParaRPr lang="de-CH" dirty="0">
              <a:latin typeface="Segoe UI" panose="020B0502040204020203" pitchFamily="34" charset="0"/>
            </a:endParaRPr>
          </a:p>
          <a:p>
            <a:endParaRPr lang="en-GB" sz="2000" dirty="0"/>
          </a:p>
        </p:txBody>
      </p:sp>
      <p:sp>
        <p:nvSpPr>
          <p:cNvPr id="4" name="Slide Number Placeholder 3">
            <a:extLst>
              <a:ext uri="{FF2B5EF4-FFF2-40B4-BE49-F238E27FC236}">
                <a16:creationId xmlns:a16="http://schemas.microsoft.com/office/drawing/2014/main" id="{6950044F-E381-603E-8D7C-E618C4A69B8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de-CH" smtClean="0"/>
              <a:t>6</a:t>
            </a:fld>
            <a:endParaRPr lang="de-CH"/>
          </a:p>
        </p:txBody>
      </p:sp>
      <p:sp>
        <p:nvSpPr>
          <p:cNvPr id="5" name="Rectangle 4">
            <a:extLst>
              <a:ext uri="{FF2B5EF4-FFF2-40B4-BE49-F238E27FC236}">
                <a16:creationId xmlns:a16="http://schemas.microsoft.com/office/drawing/2014/main" id="{15A8F137-B6B3-0F96-5C3A-C03C0F2E6EA5}"/>
              </a:ext>
            </a:extLst>
          </p:cNvPr>
          <p:cNvSpPr/>
          <p:nvPr/>
        </p:nvSpPr>
        <p:spPr>
          <a:xfrm>
            <a:off x="5842639" y="3540678"/>
            <a:ext cx="3172691" cy="90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Simulation Kernel</a:t>
            </a:r>
          </a:p>
        </p:txBody>
      </p:sp>
      <p:sp>
        <p:nvSpPr>
          <p:cNvPr id="6" name="Rectangle 5">
            <a:extLst>
              <a:ext uri="{FF2B5EF4-FFF2-40B4-BE49-F238E27FC236}">
                <a16:creationId xmlns:a16="http://schemas.microsoft.com/office/drawing/2014/main" id="{2CE95598-AFB5-A472-4A01-62D70A900F21}"/>
              </a:ext>
            </a:extLst>
          </p:cNvPr>
          <p:cNvSpPr/>
          <p:nvPr/>
        </p:nvSpPr>
        <p:spPr>
          <a:xfrm>
            <a:off x="6334401" y="2543208"/>
            <a:ext cx="2189165" cy="6219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Environment initialization</a:t>
            </a:r>
          </a:p>
        </p:txBody>
      </p:sp>
      <p:sp>
        <p:nvSpPr>
          <p:cNvPr id="7" name="Rectangle 6">
            <a:extLst>
              <a:ext uri="{FF2B5EF4-FFF2-40B4-BE49-F238E27FC236}">
                <a16:creationId xmlns:a16="http://schemas.microsoft.com/office/drawing/2014/main" id="{ED3341B1-1214-487A-C610-3E453369C110}"/>
              </a:ext>
            </a:extLst>
          </p:cNvPr>
          <p:cNvSpPr/>
          <p:nvPr/>
        </p:nvSpPr>
        <p:spPr>
          <a:xfrm>
            <a:off x="5842639" y="4996721"/>
            <a:ext cx="3172691" cy="90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Autonomous Agent (ML Model)</a:t>
            </a:r>
          </a:p>
        </p:txBody>
      </p:sp>
      <p:cxnSp>
        <p:nvCxnSpPr>
          <p:cNvPr id="12" name="Connector: Curved 11">
            <a:extLst>
              <a:ext uri="{FF2B5EF4-FFF2-40B4-BE49-F238E27FC236}">
                <a16:creationId xmlns:a16="http://schemas.microsoft.com/office/drawing/2014/main" id="{8B3DF955-8DBE-EF91-7DE3-D0B9645614E6}"/>
              </a:ext>
            </a:extLst>
          </p:cNvPr>
          <p:cNvCxnSpPr>
            <a:cxnSpLocks/>
            <a:stCxn id="5" idx="3"/>
            <a:endCxn id="7" idx="3"/>
          </p:cNvCxnSpPr>
          <p:nvPr/>
        </p:nvCxnSpPr>
        <p:spPr>
          <a:xfrm>
            <a:off x="9015330" y="3990678"/>
            <a:ext cx="12700" cy="1456043"/>
          </a:xfrm>
          <a:prstGeom prst="curvedConnector3">
            <a:avLst>
              <a:gd name="adj1" fmla="val 4710638"/>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nector: Curved 17">
            <a:extLst>
              <a:ext uri="{FF2B5EF4-FFF2-40B4-BE49-F238E27FC236}">
                <a16:creationId xmlns:a16="http://schemas.microsoft.com/office/drawing/2014/main" id="{771F2A29-B1CE-7AA6-07B1-173D091769EC}"/>
              </a:ext>
            </a:extLst>
          </p:cNvPr>
          <p:cNvCxnSpPr>
            <a:cxnSpLocks/>
            <a:stCxn id="7" idx="1"/>
            <a:endCxn id="5" idx="1"/>
          </p:cNvCxnSpPr>
          <p:nvPr/>
        </p:nvCxnSpPr>
        <p:spPr>
          <a:xfrm rot="10800000">
            <a:off x="5842639" y="3990679"/>
            <a:ext cx="12700" cy="1456043"/>
          </a:xfrm>
          <a:prstGeom prst="curvedConnector3">
            <a:avLst>
              <a:gd name="adj1" fmla="val 491489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AD34A4A8-FCE9-0D19-B14E-BC5EE84592F2}"/>
              </a:ext>
            </a:extLst>
          </p:cNvPr>
          <p:cNvCxnSpPr>
            <a:cxnSpLocks/>
            <a:stCxn id="6" idx="2"/>
            <a:endCxn id="5" idx="0"/>
          </p:cNvCxnSpPr>
          <p:nvPr/>
        </p:nvCxnSpPr>
        <p:spPr>
          <a:xfrm>
            <a:off x="7428984" y="3165186"/>
            <a:ext cx="1" cy="37549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D4A1E6AC-AFC0-4123-B66B-A57AE61FC023}"/>
              </a:ext>
            </a:extLst>
          </p:cNvPr>
          <p:cNvSpPr/>
          <p:nvPr/>
        </p:nvSpPr>
        <p:spPr>
          <a:xfrm>
            <a:off x="9699321" y="4250151"/>
            <a:ext cx="1187044" cy="4685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state</a:t>
            </a:r>
          </a:p>
        </p:txBody>
      </p:sp>
      <p:sp>
        <p:nvSpPr>
          <p:cNvPr id="27" name="Rectangle 26">
            <a:extLst>
              <a:ext uri="{FF2B5EF4-FFF2-40B4-BE49-F238E27FC236}">
                <a16:creationId xmlns:a16="http://schemas.microsoft.com/office/drawing/2014/main" id="{25D5E492-DC66-C0E3-2F1C-512BCA2EBD15}"/>
              </a:ext>
            </a:extLst>
          </p:cNvPr>
          <p:cNvSpPr/>
          <p:nvPr/>
        </p:nvSpPr>
        <p:spPr>
          <a:xfrm>
            <a:off x="3873137" y="4484425"/>
            <a:ext cx="1187044" cy="4685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action</a:t>
            </a:r>
          </a:p>
        </p:txBody>
      </p:sp>
      <p:sp>
        <p:nvSpPr>
          <p:cNvPr id="28" name="Rectangle 27">
            <a:extLst>
              <a:ext uri="{FF2B5EF4-FFF2-40B4-BE49-F238E27FC236}">
                <a16:creationId xmlns:a16="http://schemas.microsoft.com/office/drawing/2014/main" id="{CF2E5E65-4466-D360-CD9E-56ED2A00E604}"/>
              </a:ext>
            </a:extLst>
          </p:cNvPr>
          <p:cNvSpPr/>
          <p:nvPr/>
        </p:nvSpPr>
        <p:spPr>
          <a:xfrm>
            <a:off x="9699321" y="4886474"/>
            <a:ext cx="1187044" cy="468548"/>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reward</a:t>
            </a:r>
          </a:p>
        </p:txBody>
      </p:sp>
      <p:cxnSp>
        <p:nvCxnSpPr>
          <p:cNvPr id="36" name="Connector: Curved 35">
            <a:extLst>
              <a:ext uri="{FF2B5EF4-FFF2-40B4-BE49-F238E27FC236}">
                <a16:creationId xmlns:a16="http://schemas.microsoft.com/office/drawing/2014/main" id="{3216AA89-8BF1-DAD4-073A-D740B74B3A9B}"/>
              </a:ext>
            </a:extLst>
          </p:cNvPr>
          <p:cNvCxnSpPr>
            <a:cxnSpLocks/>
            <a:stCxn id="5" idx="3"/>
            <a:endCxn id="7" idx="3"/>
          </p:cNvCxnSpPr>
          <p:nvPr/>
        </p:nvCxnSpPr>
        <p:spPr>
          <a:xfrm>
            <a:off x="9015330" y="3990678"/>
            <a:ext cx="12700" cy="1456043"/>
          </a:xfrm>
          <a:prstGeom prst="curvedConnector3">
            <a:avLst>
              <a:gd name="adj1" fmla="val 3434047"/>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7687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EB66A-1CBC-6A35-4FDE-F78E37DB3C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C7752D-5D6E-9032-4CE2-30CAE42424B2}"/>
              </a:ext>
            </a:extLst>
          </p:cNvPr>
          <p:cNvSpPr>
            <a:spLocks noGrp="1"/>
          </p:cNvSpPr>
          <p:nvPr>
            <p:ph type="title"/>
          </p:nvPr>
        </p:nvSpPr>
        <p:spPr/>
        <p:txBody>
          <a:bodyPr/>
          <a:lstStyle/>
          <a:p>
            <a:r>
              <a:rPr lang="en-GB" dirty="0"/>
              <a:t>ML formulation: what the agent sees and decides</a:t>
            </a:r>
          </a:p>
        </p:txBody>
      </p:sp>
      <p:sp>
        <p:nvSpPr>
          <p:cNvPr id="4" name="Slide Number Placeholder 3">
            <a:extLst>
              <a:ext uri="{FF2B5EF4-FFF2-40B4-BE49-F238E27FC236}">
                <a16:creationId xmlns:a16="http://schemas.microsoft.com/office/drawing/2014/main" id="{258D6EE1-6078-C4C0-E888-CFBE9B93697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de-CH" smtClean="0"/>
              <a:t>7</a:t>
            </a:fld>
            <a:endParaRPr lang="de-CH"/>
          </a:p>
        </p:txBody>
      </p:sp>
      <p:sp>
        <p:nvSpPr>
          <p:cNvPr id="26" name="Rectangle 25">
            <a:extLst>
              <a:ext uri="{FF2B5EF4-FFF2-40B4-BE49-F238E27FC236}">
                <a16:creationId xmlns:a16="http://schemas.microsoft.com/office/drawing/2014/main" id="{87B57A4B-63FC-F6DF-AF8B-B880F3354916}"/>
              </a:ext>
            </a:extLst>
          </p:cNvPr>
          <p:cNvSpPr/>
          <p:nvPr/>
        </p:nvSpPr>
        <p:spPr>
          <a:xfrm>
            <a:off x="731837" y="1042482"/>
            <a:ext cx="1187044" cy="4685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state</a:t>
            </a:r>
          </a:p>
        </p:txBody>
      </p:sp>
      <p:sp>
        <p:nvSpPr>
          <p:cNvPr id="27" name="Rectangle 26">
            <a:extLst>
              <a:ext uri="{FF2B5EF4-FFF2-40B4-BE49-F238E27FC236}">
                <a16:creationId xmlns:a16="http://schemas.microsoft.com/office/drawing/2014/main" id="{1C9919DB-2AB0-AF85-BE8F-A09789DF39CF}"/>
              </a:ext>
            </a:extLst>
          </p:cNvPr>
          <p:cNvSpPr/>
          <p:nvPr/>
        </p:nvSpPr>
        <p:spPr>
          <a:xfrm>
            <a:off x="3986993" y="1042482"/>
            <a:ext cx="1187044" cy="4685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action</a:t>
            </a:r>
          </a:p>
        </p:txBody>
      </p:sp>
      <p:sp>
        <p:nvSpPr>
          <p:cNvPr id="10" name="Rectangle 9">
            <a:extLst>
              <a:ext uri="{FF2B5EF4-FFF2-40B4-BE49-F238E27FC236}">
                <a16:creationId xmlns:a16="http://schemas.microsoft.com/office/drawing/2014/main" id="{35FBEBE5-AFF8-281C-B9D0-B1B75D55F8DE}"/>
              </a:ext>
            </a:extLst>
          </p:cNvPr>
          <p:cNvSpPr/>
          <p:nvPr/>
        </p:nvSpPr>
        <p:spPr>
          <a:xfrm>
            <a:off x="7242149" y="1042482"/>
            <a:ext cx="1187044" cy="468548"/>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reward</a:t>
            </a:r>
          </a:p>
        </p:txBody>
      </p:sp>
      <p:sp>
        <p:nvSpPr>
          <p:cNvPr id="11" name="TextBox 10">
            <a:extLst>
              <a:ext uri="{FF2B5EF4-FFF2-40B4-BE49-F238E27FC236}">
                <a16:creationId xmlns:a16="http://schemas.microsoft.com/office/drawing/2014/main" id="{7E63E981-436C-B230-5AEB-B0B701CF87E4}"/>
              </a:ext>
            </a:extLst>
          </p:cNvPr>
          <p:cNvSpPr txBox="1"/>
          <p:nvPr/>
        </p:nvSpPr>
        <p:spPr>
          <a:xfrm>
            <a:off x="731837" y="1686128"/>
            <a:ext cx="2906308" cy="1384995"/>
          </a:xfrm>
          <a:prstGeom prst="rect">
            <a:avLst/>
          </a:prstGeom>
          <a:noFill/>
        </p:spPr>
        <p:txBody>
          <a:bodyPr wrap="square" rtlCol="0">
            <a:spAutoFit/>
          </a:bodyPr>
          <a:lstStyle/>
          <a:p>
            <a:pPr marL="285750" indent="-285750">
              <a:buFont typeface="Arial" panose="020B0604020202020204" pitchFamily="34" charset="0"/>
              <a:buChar char="•"/>
            </a:pPr>
            <a:r>
              <a:rPr lang="en-GB" dirty="0"/>
              <a:t>Orbit (</a:t>
            </a:r>
            <a:r>
              <a:rPr lang="en-GB" dirty="0" err="1"/>
              <a:t>pos</a:t>
            </a:r>
            <a:r>
              <a:rPr lang="en-GB" dirty="0"/>
              <a:t> relative to earth)</a:t>
            </a:r>
          </a:p>
          <a:p>
            <a:pPr marL="285750" indent="-285750">
              <a:buFont typeface="Arial" panose="020B0604020202020204" pitchFamily="34" charset="0"/>
              <a:buChar char="•"/>
            </a:pPr>
            <a:r>
              <a:rPr lang="en-GB" dirty="0"/>
              <a:t>Attitude (orientation in space)</a:t>
            </a:r>
          </a:p>
          <a:p>
            <a:pPr marL="285750" indent="-285750">
              <a:buFont typeface="Arial" panose="020B0604020202020204" pitchFamily="34" charset="0"/>
              <a:buChar char="•"/>
            </a:pPr>
            <a:r>
              <a:rPr lang="en-GB" dirty="0"/>
              <a:t>Pointing direction for targets</a:t>
            </a:r>
          </a:p>
          <a:p>
            <a:pPr marL="285750" indent="-285750">
              <a:buFont typeface="Arial" panose="020B0604020202020204" pitchFamily="34" charset="0"/>
              <a:buChar char="•"/>
            </a:pPr>
            <a:r>
              <a:rPr lang="en-GB" dirty="0"/>
              <a:t>Primary and </a:t>
            </a:r>
            <a:r>
              <a:rPr lang="en-GB" b="1" dirty="0"/>
              <a:t>secondary</a:t>
            </a:r>
            <a:r>
              <a:rPr lang="en-GB" dirty="0"/>
              <a:t> vision array</a:t>
            </a:r>
          </a:p>
          <a:p>
            <a:pPr marL="285750" indent="-285750">
              <a:buFont typeface="Arial" panose="020B0604020202020204" pitchFamily="34" charset="0"/>
              <a:buChar char="•"/>
            </a:pPr>
            <a:r>
              <a:rPr lang="en-GB" dirty="0"/>
              <a:t>Remaining image budget</a:t>
            </a:r>
          </a:p>
        </p:txBody>
      </p:sp>
      <p:sp>
        <p:nvSpPr>
          <p:cNvPr id="14" name="TextBox 13">
            <a:extLst>
              <a:ext uri="{FF2B5EF4-FFF2-40B4-BE49-F238E27FC236}">
                <a16:creationId xmlns:a16="http://schemas.microsoft.com/office/drawing/2014/main" id="{13147387-0D37-9040-14AF-20CF608BAB2B}"/>
              </a:ext>
            </a:extLst>
          </p:cNvPr>
          <p:cNvSpPr txBox="1"/>
          <p:nvPr/>
        </p:nvSpPr>
        <p:spPr>
          <a:xfrm>
            <a:off x="3790545" y="1686128"/>
            <a:ext cx="2601788" cy="738664"/>
          </a:xfrm>
          <a:prstGeom prst="rect">
            <a:avLst/>
          </a:prstGeom>
          <a:noFill/>
        </p:spPr>
        <p:txBody>
          <a:bodyPr wrap="square" rtlCol="0">
            <a:spAutoFit/>
          </a:bodyPr>
          <a:lstStyle/>
          <a:p>
            <a:pPr marL="285750" indent="-285750">
              <a:buFont typeface="Arial" panose="020B0604020202020204" pitchFamily="34" charset="0"/>
              <a:buChar char="•"/>
            </a:pPr>
            <a:r>
              <a:rPr lang="en-GB" dirty="0"/>
              <a:t>Pointing request (torque / vector) :</a:t>
            </a:r>
            <a:r>
              <a:rPr lang="en-GB" i="1" dirty="0" err="1"/>
              <a:t>continous</a:t>
            </a:r>
            <a:endParaRPr lang="en-GB" dirty="0"/>
          </a:p>
          <a:p>
            <a:pPr marL="285750" indent="-285750">
              <a:buFont typeface="Arial" panose="020B0604020202020204" pitchFamily="34" charset="0"/>
              <a:buChar char="•"/>
            </a:pPr>
            <a:r>
              <a:rPr lang="en-GB" dirty="0"/>
              <a:t>Shutter command :</a:t>
            </a:r>
            <a:r>
              <a:rPr lang="en-GB" i="1" dirty="0" err="1"/>
              <a:t>boolean</a:t>
            </a:r>
            <a:endParaRPr lang="en-GB" dirty="0"/>
          </a:p>
        </p:txBody>
      </p:sp>
      <p:sp>
        <p:nvSpPr>
          <p:cNvPr id="15" name="TextBox 14">
            <a:extLst>
              <a:ext uri="{FF2B5EF4-FFF2-40B4-BE49-F238E27FC236}">
                <a16:creationId xmlns:a16="http://schemas.microsoft.com/office/drawing/2014/main" id="{E65A78C7-0AB7-B2AB-0A18-A26FED767FC8}"/>
              </a:ext>
            </a:extLst>
          </p:cNvPr>
          <p:cNvSpPr txBox="1"/>
          <p:nvPr/>
        </p:nvSpPr>
        <p:spPr>
          <a:xfrm>
            <a:off x="6849253" y="1686128"/>
            <a:ext cx="2906308" cy="1169551"/>
          </a:xfrm>
          <a:prstGeom prst="rect">
            <a:avLst/>
          </a:prstGeom>
          <a:noFill/>
        </p:spPr>
        <p:txBody>
          <a:bodyPr wrap="square" rtlCol="0">
            <a:spAutoFit/>
          </a:bodyPr>
          <a:lstStyle/>
          <a:p>
            <a:r>
              <a:rPr lang="en-GB" dirty="0"/>
              <a:t>+ Image quality</a:t>
            </a:r>
          </a:p>
          <a:p>
            <a:r>
              <a:rPr lang="en-GB" dirty="0"/>
              <a:t>+ Coverage</a:t>
            </a:r>
          </a:p>
          <a:p>
            <a:r>
              <a:rPr lang="en-GB" dirty="0"/>
              <a:t>+ Novelty</a:t>
            </a:r>
          </a:p>
          <a:p>
            <a:r>
              <a:rPr lang="en-GB" dirty="0"/>
              <a:t>- Exceed shutter budget</a:t>
            </a:r>
          </a:p>
          <a:p>
            <a:r>
              <a:rPr lang="en-GB" dirty="0"/>
              <a:t>- non-zero pointing request</a:t>
            </a:r>
          </a:p>
        </p:txBody>
      </p:sp>
      <p:graphicFrame>
        <p:nvGraphicFramePr>
          <p:cNvPr id="16" name="Table 15">
            <a:extLst>
              <a:ext uri="{FF2B5EF4-FFF2-40B4-BE49-F238E27FC236}">
                <a16:creationId xmlns:a16="http://schemas.microsoft.com/office/drawing/2014/main" id="{D72330D8-A701-AA04-C696-474EF445FEB6}"/>
              </a:ext>
            </a:extLst>
          </p:cNvPr>
          <p:cNvGraphicFramePr>
            <a:graphicFrameLocks noGrp="1"/>
          </p:cNvGraphicFramePr>
          <p:nvPr>
            <p:extLst>
              <p:ext uri="{D42A27DB-BD31-4B8C-83A1-F6EECF244321}">
                <p14:modId xmlns:p14="http://schemas.microsoft.com/office/powerpoint/2010/main" val="3069231225"/>
              </p:ext>
            </p:extLst>
          </p:nvPr>
        </p:nvGraphicFramePr>
        <p:xfrm>
          <a:off x="1325359" y="3596900"/>
          <a:ext cx="8128000" cy="2372360"/>
        </p:xfrm>
        <a:graphic>
          <a:graphicData uri="http://schemas.openxmlformats.org/drawingml/2006/table">
            <a:tbl>
              <a:tblPr firstRow="1" bandRow="1">
                <a:tableStyleId>{8CE324DF-E4CA-492E-AE2F-25B033C11A72}</a:tableStyleId>
              </a:tblPr>
              <a:tblGrid>
                <a:gridCol w="1975560">
                  <a:extLst>
                    <a:ext uri="{9D8B030D-6E8A-4147-A177-3AD203B41FA5}">
                      <a16:colId xmlns:a16="http://schemas.microsoft.com/office/drawing/2014/main" val="1077034797"/>
                    </a:ext>
                  </a:extLst>
                </a:gridCol>
                <a:gridCol w="6152440">
                  <a:extLst>
                    <a:ext uri="{9D8B030D-6E8A-4147-A177-3AD203B41FA5}">
                      <a16:colId xmlns:a16="http://schemas.microsoft.com/office/drawing/2014/main" val="3905406959"/>
                    </a:ext>
                  </a:extLst>
                </a:gridCol>
              </a:tblGrid>
              <a:tr h="370840">
                <a:tc>
                  <a:txBody>
                    <a:bodyPr/>
                    <a:lstStyle/>
                    <a:p>
                      <a:r>
                        <a:rPr lang="en-GB" dirty="0"/>
                        <a:t>Reward</a:t>
                      </a:r>
                    </a:p>
                  </a:txBody>
                  <a:tcPr/>
                </a:tc>
                <a:tc>
                  <a:txBody>
                    <a:bodyPr/>
                    <a:lstStyle/>
                    <a:p>
                      <a:r>
                        <a:rPr lang="en-GB" dirty="0"/>
                        <a:t>Justification</a:t>
                      </a:r>
                    </a:p>
                  </a:txBody>
                  <a:tcPr/>
                </a:tc>
                <a:extLst>
                  <a:ext uri="{0D108BD9-81ED-4DB2-BD59-A6C34878D82A}">
                    <a16:rowId xmlns:a16="http://schemas.microsoft.com/office/drawing/2014/main" val="4199477636"/>
                  </a:ext>
                </a:extLst>
              </a:tr>
              <a:tr h="370840">
                <a:tc>
                  <a:txBody>
                    <a:bodyPr/>
                    <a:lstStyle/>
                    <a:p>
                      <a:r>
                        <a:rPr lang="en-GB" dirty="0"/>
                        <a:t>Image quality</a:t>
                      </a:r>
                    </a:p>
                  </a:txBody>
                  <a:tcPr/>
                </a:tc>
                <a:tc>
                  <a:txBody>
                    <a:bodyPr/>
                    <a:lstStyle/>
                    <a:p>
                      <a:r>
                        <a:rPr lang="en-GB" dirty="0"/>
                        <a:t>Avoid Motion Blur</a:t>
                      </a:r>
                    </a:p>
                  </a:txBody>
                  <a:tcPr/>
                </a:tc>
                <a:extLst>
                  <a:ext uri="{0D108BD9-81ED-4DB2-BD59-A6C34878D82A}">
                    <a16:rowId xmlns:a16="http://schemas.microsoft.com/office/drawing/2014/main" val="2260212480"/>
                  </a:ext>
                </a:extLst>
              </a:tr>
              <a:tr h="370840">
                <a:tc>
                  <a:txBody>
                    <a:bodyPr/>
                    <a:lstStyle/>
                    <a:p>
                      <a:r>
                        <a:rPr lang="en-GB" dirty="0"/>
                        <a:t>Coverage</a:t>
                      </a:r>
                    </a:p>
                  </a:txBody>
                  <a:tcPr/>
                </a:tc>
                <a:tc>
                  <a:txBody>
                    <a:bodyPr/>
                    <a:lstStyle/>
                    <a:p>
                      <a:r>
                        <a:rPr lang="en-GB" dirty="0"/>
                        <a:t>Fraction of the Image not covered by clouds</a:t>
                      </a:r>
                    </a:p>
                  </a:txBody>
                  <a:tcPr/>
                </a:tc>
                <a:extLst>
                  <a:ext uri="{0D108BD9-81ED-4DB2-BD59-A6C34878D82A}">
                    <a16:rowId xmlns:a16="http://schemas.microsoft.com/office/drawing/2014/main" val="3608635724"/>
                  </a:ext>
                </a:extLst>
              </a:tr>
              <a:tr h="370840">
                <a:tc>
                  <a:txBody>
                    <a:bodyPr/>
                    <a:lstStyle/>
                    <a:p>
                      <a:r>
                        <a:rPr lang="en-GB" dirty="0"/>
                        <a:t>Novelty</a:t>
                      </a:r>
                    </a:p>
                  </a:txBody>
                  <a:tcPr/>
                </a:tc>
                <a:tc>
                  <a:txBody>
                    <a:bodyPr/>
                    <a:lstStyle/>
                    <a:p>
                      <a:r>
                        <a:rPr lang="en-GB" dirty="0"/>
                        <a:t>Imaging an area twice is redundant</a:t>
                      </a:r>
                    </a:p>
                  </a:txBody>
                  <a:tcPr/>
                </a:tc>
                <a:extLst>
                  <a:ext uri="{0D108BD9-81ED-4DB2-BD59-A6C34878D82A}">
                    <a16:rowId xmlns:a16="http://schemas.microsoft.com/office/drawing/2014/main" val="1900582078"/>
                  </a:ext>
                </a:extLst>
              </a:tr>
              <a:tr h="370840">
                <a:tc>
                  <a:txBody>
                    <a:bodyPr/>
                    <a:lstStyle/>
                    <a:p>
                      <a:r>
                        <a:rPr lang="en-GB" dirty="0"/>
                        <a:t>Exceed budget</a:t>
                      </a:r>
                    </a:p>
                  </a:txBody>
                  <a:tcPr/>
                </a:tc>
                <a:tc>
                  <a:txBody>
                    <a:bodyPr/>
                    <a:lstStyle/>
                    <a:p>
                      <a:r>
                        <a:rPr lang="en-GB" dirty="0"/>
                        <a:t>When the budget is used up, we want to stop doing any manoeuvres</a:t>
                      </a:r>
                    </a:p>
                  </a:txBody>
                  <a:tcPr/>
                </a:tc>
                <a:extLst>
                  <a:ext uri="{0D108BD9-81ED-4DB2-BD59-A6C34878D82A}">
                    <a16:rowId xmlns:a16="http://schemas.microsoft.com/office/drawing/2014/main" val="2582072114"/>
                  </a:ext>
                </a:extLst>
              </a:tr>
              <a:tr h="370840">
                <a:tc>
                  <a:txBody>
                    <a:bodyPr/>
                    <a:lstStyle/>
                    <a:p>
                      <a:r>
                        <a:rPr lang="en-GB" dirty="0"/>
                        <a:t>Pointing request</a:t>
                      </a:r>
                    </a:p>
                  </a:txBody>
                  <a:tcPr/>
                </a:tc>
                <a:tc>
                  <a:txBody>
                    <a:bodyPr/>
                    <a:lstStyle/>
                    <a:p>
                      <a:r>
                        <a:rPr lang="en-GB" dirty="0"/>
                        <a:t>Any pointing request has an actuator energy implied, limit random movement</a:t>
                      </a:r>
                    </a:p>
                  </a:txBody>
                  <a:tcPr/>
                </a:tc>
                <a:extLst>
                  <a:ext uri="{0D108BD9-81ED-4DB2-BD59-A6C34878D82A}">
                    <a16:rowId xmlns:a16="http://schemas.microsoft.com/office/drawing/2014/main" val="2246496066"/>
                  </a:ext>
                </a:extLst>
              </a:tr>
            </a:tbl>
          </a:graphicData>
        </a:graphic>
      </p:graphicFrame>
    </p:spTree>
    <p:extLst>
      <p:ext uri="{BB962C8B-B14F-4D97-AF65-F5344CB8AC3E}">
        <p14:creationId xmlns:p14="http://schemas.microsoft.com/office/powerpoint/2010/main" val="766391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10" grpId="0" animBg="1"/>
      <p:bldP spid="11" grpId="0"/>
      <p:bldP spid="14" grpId="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7716A-2AFC-9ABA-CD73-ABC7049389DF}"/>
              </a:ext>
            </a:extLst>
          </p:cNvPr>
          <p:cNvSpPr>
            <a:spLocks noGrp="1"/>
          </p:cNvSpPr>
          <p:nvPr>
            <p:ph type="title"/>
          </p:nvPr>
        </p:nvSpPr>
        <p:spPr/>
        <p:txBody>
          <a:bodyPr/>
          <a:lstStyle/>
          <a:p>
            <a:r>
              <a:rPr lang="en-US" b="1" dirty="0"/>
              <a:t>Proposed Algorithm: MPO </a:t>
            </a:r>
            <a:r>
              <a:rPr lang="en-CH" dirty="0"/>
              <a:t>(Maximum a Posteriori Policy Optimization)</a:t>
            </a:r>
          </a:p>
        </p:txBody>
      </p:sp>
      <p:sp>
        <p:nvSpPr>
          <p:cNvPr id="3" name="Text Placeholder 2">
            <a:extLst>
              <a:ext uri="{FF2B5EF4-FFF2-40B4-BE49-F238E27FC236}">
                <a16:creationId xmlns:a16="http://schemas.microsoft.com/office/drawing/2014/main" id="{3818E47D-486C-1C5D-9032-074B09330627}"/>
              </a:ext>
            </a:extLst>
          </p:cNvPr>
          <p:cNvSpPr>
            <a:spLocks noGrp="1"/>
          </p:cNvSpPr>
          <p:nvPr>
            <p:ph type="body" idx="1"/>
          </p:nvPr>
        </p:nvSpPr>
        <p:spPr/>
        <p:txBody>
          <a:bodyPr/>
          <a:lstStyle/>
          <a:p>
            <a:pPr>
              <a:buFont typeface="Arial" panose="020B0604020202020204" pitchFamily="34" charset="0"/>
              <a:buChar char="•"/>
            </a:pPr>
            <a:r>
              <a:rPr lang="en-US" dirty="0"/>
              <a:t>Agent / Autopilot algorithm</a:t>
            </a:r>
          </a:p>
          <a:p>
            <a:pPr>
              <a:buFont typeface="Arial" panose="020B0604020202020204" pitchFamily="34" charset="0"/>
              <a:buChar char="•"/>
            </a:pPr>
            <a:r>
              <a:rPr lang="en-US" dirty="0"/>
              <a:t>Off policy reinforcement-learning algorithm.</a:t>
            </a:r>
          </a:p>
          <a:p>
            <a:pPr>
              <a:buFont typeface="Arial" panose="020B0604020202020204" pitchFamily="34" charset="0"/>
              <a:buChar char="•"/>
            </a:pPr>
            <a:r>
              <a:rPr lang="en-US" dirty="0"/>
              <a:t>Learns stochastic policy from replayed experience.</a:t>
            </a:r>
          </a:p>
          <a:p>
            <a:pPr>
              <a:buFont typeface="Arial" panose="020B0604020202020204" pitchFamily="34" charset="0"/>
              <a:buChar char="•"/>
            </a:pPr>
            <a:r>
              <a:rPr lang="en-US" dirty="0"/>
              <a:t>Actor critic setup</a:t>
            </a:r>
          </a:p>
          <a:p>
            <a:pPr>
              <a:buFont typeface="Arial" panose="020B0604020202020204" pitchFamily="34" charset="0"/>
              <a:buChar char="•"/>
            </a:pPr>
            <a:r>
              <a:rPr lang="en-US" dirty="0"/>
              <a:t>Policy improvement is constrained by KL trust region. (limited updates)</a:t>
            </a:r>
          </a:p>
          <a:p>
            <a:pPr>
              <a:buFont typeface="Arial" panose="020B0604020202020204" pitchFamily="34" charset="0"/>
              <a:buChar char="•"/>
            </a:pPr>
            <a:endParaRPr lang="en-US" dirty="0"/>
          </a:p>
          <a:p>
            <a:pPr>
              <a:buFont typeface="Arial" panose="020B0604020202020204" pitchFamily="34" charset="0"/>
              <a:buChar char="•"/>
            </a:pPr>
            <a:r>
              <a:rPr lang="en-US" dirty="0"/>
              <a:t>Start difficulties -&gt; switched to SAC</a:t>
            </a:r>
          </a:p>
          <a:p>
            <a:endParaRPr lang="en-CH" dirty="0"/>
          </a:p>
        </p:txBody>
      </p:sp>
      <p:sp>
        <p:nvSpPr>
          <p:cNvPr id="4" name="Slide Number Placeholder 3">
            <a:extLst>
              <a:ext uri="{FF2B5EF4-FFF2-40B4-BE49-F238E27FC236}">
                <a16:creationId xmlns:a16="http://schemas.microsoft.com/office/drawing/2014/main" id="{4DDB383A-4099-947A-3D23-9746ABF9182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de-CH" smtClean="0"/>
              <a:t>8</a:t>
            </a:fld>
            <a:endParaRPr lang="de-CH"/>
          </a:p>
        </p:txBody>
      </p:sp>
    </p:spTree>
    <p:extLst>
      <p:ext uri="{BB962C8B-B14F-4D97-AF65-F5344CB8AC3E}">
        <p14:creationId xmlns:p14="http://schemas.microsoft.com/office/powerpoint/2010/main" val="1389930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31502-019E-6AAE-E632-C373B04D505F}"/>
              </a:ext>
            </a:extLst>
          </p:cNvPr>
          <p:cNvSpPr>
            <a:spLocks noGrp="1"/>
          </p:cNvSpPr>
          <p:nvPr>
            <p:ph type="title"/>
          </p:nvPr>
        </p:nvSpPr>
        <p:spPr/>
        <p:txBody>
          <a:bodyPr/>
          <a:lstStyle/>
          <a:p>
            <a:r>
              <a:rPr lang="en-US" b="1" dirty="0"/>
              <a:t>Training / Scoring</a:t>
            </a:r>
            <a:endParaRPr lang="en-CH" b="1" dirty="0"/>
          </a:p>
        </p:txBody>
      </p:sp>
      <p:sp>
        <p:nvSpPr>
          <p:cNvPr id="3" name="Text Placeholder 2">
            <a:extLst>
              <a:ext uri="{FF2B5EF4-FFF2-40B4-BE49-F238E27FC236}">
                <a16:creationId xmlns:a16="http://schemas.microsoft.com/office/drawing/2014/main" id="{3F5DC01B-694F-5748-3818-E3A7C20CC80F}"/>
              </a:ext>
            </a:extLst>
          </p:cNvPr>
          <p:cNvSpPr>
            <a:spLocks noGrp="1"/>
          </p:cNvSpPr>
          <p:nvPr>
            <p:ph type="body" idx="1"/>
          </p:nvPr>
        </p:nvSpPr>
        <p:spPr/>
        <p:txBody>
          <a:bodyPr/>
          <a:lstStyle/>
          <a:p>
            <a:pPr>
              <a:buFont typeface="Arial" panose="020B0604020202020204" pitchFamily="34" charset="0"/>
              <a:buChar char="•"/>
            </a:pPr>
            <a:r>
              <a:rPr lang="en-US" dirty="0"/>
              <a:t>Fixed Budget of 10 shutter commands</a:t>
            </a:r>
          </a:p>
          <a:p>
            <a:pPr>
              <a:buFont typeface="Arial" panose="020B0604020202020204" pitchFamily="34" charset="0"/>
              <a:buChar char="•"/>
            </a:pPr>
            <a:r>
              <a:rPr lang="en-US" dirty="0"/>
              <a:t>Baseline averaged over 5 episodes</a:t>
            </a:r>
          </a:p>
          <a:p>
            <a:pPr>
              <a:buFont typeface="Arial" panose="020B0604020202020204" pitchFamily="34" charset="0"/>
              <a:buChar char="•"/>
            </a:pPr>
            <a:r>
              <a:rPr lang="en-US" dirty="0"/>
              <a:t>5 Baseline episodes: act as warmup to bootstrap Actor-Critic agents</a:t>
            </a:r>
          </a:p>
          <a:p>
            <a:pPr>
              <a:buFont typeface="Arial" panose="020B0604020202020204" pitchFamily="34" charset="0"/>
              <a:buChar char="•"/>
            </a:pPr>
            <a:endParaRPr lang="en-US" dirty="0"/>
          </a:p>
          <a:p>
            <a:pPr>
              <a:buFont typeface="Arial" panose="020B0604020202020204" pitchFamily="34" charset="0"/>
              <a:buChar char="•"/>
            </a:pPr>
            <a:r>
              <a:rPr lang="en-US" dirty="0"/>
              <a:t>KPI: reward</a:t>
            </a:r>
          </a:p>
          <a:p>
            <a:pPr>
              <a:buFont typeface="Arial" panose="020B0604020202020204" pitchFamily="34" charset="0"/>
              <a:buChar char="•"/>
            </a:pPr>
            <a:r>
              <a:rPr lang="en-US" dirty="0"/>
              <a:t>Best Training, Avg Training, Eval</a:t>
            </a:r>
          </a:p>
          <a:p>
            <a:endParaRPr lang="en-CH" dirty="0"/>
          </a:p>
        </p:txBody>
      </p:sp>
      <p:sp>
        <p:nvSpPr>
          <p:cNvPr id="4" name="Slide Number Placeholder 3">
            <a:extLst>
              <a:ext uri="{FF2B5EF4-FFF2-40B4-BE49-F238E27FC236}">
                <a16:creationId xmlns:a16="http://schemas.microsoft.com/office/drawing/2014/main" id="{CAC5C0EE-F658-66BA-9581-6CB51ACFB94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de-CH" smtClean="0"/>
              <a:t>9</a:t>
            </a:fld>
            <a:endParaRPr lang="de-CH"/>
          </a:p>
        </p:txBody>
      </p:sp>
    </p:spTree>
    <p:extLst>
      <p:ext uri="{BB962C8B-B14F-4D97-AF65-F5344CB8AC3E}">
        <p14:creationId xmlns:p14="http://schemas.microsoft.com/office/powerpoint/2010/main" val="3460436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89EE8-7E0A-5A32-9D8D-6A9845A38BE1}"/>
              </a:ext>
            </a:extLst>
          </p:cNvPr>
          <p:cNvSpPr>
            <a:spLocks noGrp="1"/>
          </p:cNvSpPr>
          <p:nvPr>
            <p:ph type="title"/>
          </p:nvPr>
        </p:nvSpPr>
        <p:spPr/>
        <p:txBody>
          <a:bodyPr/>
          <a:lstStyle/>
          <a:p>
            <a:r>
              <a:rPr lang="en-US" b="1" dirty="0"/>
              <a:t>Experiments: ML tuning</a:t>
            </a:r>
            <a:endParaRPr lang="en-CH" b="1" dirty="0"/>
          </a:p>
        </p:txBody>
      </p:sp>
      <p:sp>
        <p:nvSpPr>
          <p:cNvPr id="4" name="Slide Number Placeholder 3">
            <a:extLst>
              <a:ext uri="{FF2B5EF4-FFF2-40B4-BE49-F238E27FC236}">
                <a16:creationId xmlns:a16="http://schemas.microsoft.com/office/drawing/2014/main" id="{B28256E7-6967-A954-BF37-2EFDFF41247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de-CH" smtClean="0"/>
              <a:t>10</a:t>
            </a:fld>
            <a:endParaRPr lang="de-CH"/>
          </a:p>
        </p:txBody>
      </p:sp>
      <p:pic>
        <p:nvPicPr>
          <p:cNvPr id="6" name="Picture 5" descr="The diagram illustrates a comparison of different models (SAC encoder, SAC torque, SAC sparse, MPO dense, MPO shutter) with their respective mean episode return values, showing how the learning signal affects the learnability, and indicating the warmup baseline used for fair tuning.&#10;&#10;AI-generated content may be incorrect.">
            <a:extLst>
              <a:ext uri="{FF2B5EF4-FFF2-40B4-BE49-F238E27FC236}">
                <a16:creationId xmlns:a16="http://schemas.microsoft.com/office/drawing/2014/main" id="{772B8188-9299-8948-B95C-EBD10E517A6D}"/>
              </a:ext>
            </a:extLst>
          </p:cNvPr>
          <p:cNvPicPr>
            <a:picLocks noChangeAspect="1"/>
          </p:cNvPicPr>
          <p:nvPr/>
        </p:nvPicPr>
        <p:blipFill>
          <a:blip r:embed="rId2"/>
          <a:stretch>
            <a:fillRect/>
          </a:stretch>
        </p:blipFill>
        <p:spPr>
          <a:xfrm>
            <a:off x="1707492" y="710351"/>
            <a:ext cx="9752670" cy="5487249"/>
          </a:xfrm>
          <a:prstGeom prst="rect">
            <a:avLst/>
          </a:prstGeom>
        </p:spPr>
      </p:pic>
      <p:sp>
        <p:nvSpPr>
          <p:cNvPr id="8" name="TextBox 7">
            <a:extLst>
              <a:ext uri="{FF2B5EF4-FFF2-40B4-BE49-F238E27FC236}">
                <a16:creationId xmlns:a16="http://schemas.microsoft.com/office/drawing/2014/main" id="{3ED9F78D-519D-BB72-8153-5F9DDFA5B948}"/>
              </a:ext>
            </a:extLst>
          </p:cNvPr>
          <p:cNvSpPr txBox="1"/>
          <p:nvPr/>
        </p:nvSpPr>
        <p:spPr>
          <a:xfrm>
            <a:off x="465667" y="1160351"/>
            <a:ext cx="2353733"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t>Scientific method!</a:t>
            </a:r>
          </a:p>
          <a:p>
            <a:pPr marL="285750" indent="-285750">
              <a:buFont typeface="Arial" panose="020B0604020202020204" pitchFamily="34" charset="0"/>
              <a:buChar char="•"/>
            </a:pPr>
            <a:r>
              <a:rPr lang="en-US" sz="1600" dirty="0"/>
              <a:t>Untracked </a:t>
            </a:r>
            <a:r>
              <a:rPr lang="en-US" sz="1600" dirty="0" err="1"/>
              <a:t>Exps</a:t>
            </a:r>
            <a:endParaRPr lang="en-US" sz="1600" dirty="0"/>
          </a:p>
          <a:p>
            <a:pPr marL="285750" indent="-285750">
              <a:buFont typeface="Arial" panose="020B0604020202020204" pitchFamily="34" charset="0"/>
              <a:buChar char="•"/>
            </a:pPr>
            <a:r>
              <a:rPr lang="en-US" sz="1600" dirty="0"/>
              <a:t>14 tracked </a:t>
            </a:r>
            <a:r>
              <a:rPr lang="en-US" sz="1600" dirty="0" err="1"/>
              <a:t>Exps</a:t>
            </a:r>
            <a:endParaRPr lang="en-US" sz="1600" dirty="0"/>
          </a:p>
          <a:p>
            <a:pPr marL="285750" indent="-285750">
              <a:buFont typeface="Arial" panose="020B0604020202020204" pitchFamily="34" charset="0"/>
              <a:buChar char="•"/>
            </a:pPr>
            <a:r>
              <a:rPr lang="en-US" sz="1600" dirty="0"/>
              <a:t>Infinite Solutions</a:t>
            </a:r>
            <a:endParaRPr lang="en-CH" dirty="0"/>
          </a:p>
        </p:txBody>
      </p:sp>
    </p:spTree>
    <p:extLst>
      <p:ext uri="{BB962C8B-B14F-4D97-AF65-F5344CB8AC3E}">
        <p14:creationId xmlns:p14="http://schemas.microsoft.com/office/powerpoint/2010/main" val="3162383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F091F-6A1B-9E7F-D88B-110F23B99CDE}"/>
              </a:ext>
            </a:extLst>
          </p:cNvPr>
          <p:cNvSpPr>
            <a:spLocks noGrp="1"/>
          </p:cNvSpPr>
          <p:nvPr>
            <p:ph type="title"/>
          </p:nvPr>
        </p:nvSpPr>
        <p:spPr/>
        <p:txBody>
          <a:bodyPr/>
          <a:lstStyle/>
          <a:p>
            <a:r>
              <a:rPr lang="en-US" b="1" dirty="0"/>
              <a:t>Sample Experiment – Exceed budget penalty (Exp 7): </a:t>
            </a:r>
            <a:endParaRPr lang="en-CH" b="1" dirty="0"/>
          </a:p>
        </p:txBody>
      </p:sp>
      <p:sp>
        <p:nvSpPr>
          <p:cNvPr id="3" name="Text Placeholder 2">
            <a:extLst>
              <a:ext uri="{FF2B5EF4-FFF2-40B4-BE49-F238E27FC236}">
                <a16:creationId xmlns:a16="http://schemas.microsoft.com/office/drawing/2014/main" id="{52D97E79-6AF0-2D47-1664-B15A553E0A0A}"/>
              </a:ext>
            </a:extLst>
          </p:cNvPr>
          <p:cNvSpPr>
            <a:spLocks noGrp="1"/>
          </p:cNvSpPr>
          <p:nvPr>
            <p:ph type="body" idx="1"/>
          </p:nvPr>
        </p:nvSpPr>
        <p:spPr/>
        <p:txBody>
          <a:bodyPr/>
          <a:lstStyle/>
          <a:p>
            <a:r>
              <a:rPr lang="en-CH" b="1" dirty="0"/>
              <a:t>Core question:</a:t>
            </a:r>
            <a:r>
              <a:rPr lang="en-CH" dirty="0"/>
              <a:t> Does a </a:t>
            </a:r>
            <a:r>
              <a:rPr lang="en-CH" b="1" dirty="0"/>
              <a:t>penalty for shutter commands when capture budget ≤ 0</a:t>
            </a:r>
            <a:r>
              <a:rPr lang="en-CH" dirty="0"/>
              <a:t> improve SAC sparse learning in </a:t>
            </a:r>
            <a:r>
              <a:rPr lang="en-CH" b="1" dirty="0"/>
              <a:t>vector</a:t>
            </a:r>
            <a:r>
              <a:rPr lang="en-CH" dirty="0"/>
              <a:t> pointing mode — reducing end-of-episode shutter spam and stabilizing returns after high-reward episodes?</a:t>
            </a:r>
          </a:p>
          <a:p>
            <a:r>
              <a:rPr lang="en-US" dirty="0"/>
              <a:t>-&gt; A/B test</a:t>
            </a:r>
          </a:p>
        </p:txBody>
      </p:sp>
      <p:sp>
        <p:nvSpPr>
          <p:cNvPr id="4" name="Slide Number Placeholder 3">
            <a:extLst>
              <a:ext uri="{FF2B5EF4-FFF2-40B4-BE49-F238E27FC236}">
                <a16:creationId xmlns:a16="http://schemas.microsoft.com/office/drawing/2014/main" id="{AED8360C-39A6-FEDF-3FED-2BE510D85D0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de-CH" smtClean="0"/>
              <a:t>11</a:t>
            </a:fld>
            <a:endParaRPr lang="de-CH"/>
          </a:p>
        </p:txBody>
      </p:sp>
      <p:graphicFrame>
        <p:nvGraphicFramePr>
          <p:cNvPr id="7" name="Table 6">
            <a:extLst>
              <a:ext uri="{FF2B5EF4-FFF2-40B4-BE49-F238E27FC236}">
                <a16:creationId xmlns:a16="http://schemas.microsoft.com/office/drawing/2014/main" id="{654A9F94-C50D-5179-20D0-7B08C5E0563E}"/>
              </a:ext>
            </a:extLst>
          </p:cNvPr>
          <p:cNvGraphicFramePr>
            <a:graphicFrameLocks noGrp="1"/>
          </p:cNvGraphicFramePr>
          <p:nvPr>
            <p:extLst>
              <p:ext uri="{D42A27DB-BD31-4B8C-83A1-F6EECF244321}">
                <p14:modId xmlns:p14="http://schemas.microsoft.com/office/powerpoint/2010/main" val="3346211336"/>
              </p:ext>
            </p:extLst>
          </p:nvPr>
        </p:nvGraphicFramePr>
        <p:xfrm>
          <a:off x="1305717" y="2857338"/>
          <a:ext cx="9580564" cy="3235537"/>
        </p:xfrm>
        <a:graphic>
          <a:graphicData uri="http://schemas.openxmlformats.org/drawingml/2006/table">
            <a:tbl>
              <a:tblPr/>
              <a:tblGrid>
                <a:gridCol w="2395141">
                  <a:extLst>
                    <a:ext uri="{9D8B030D-6E8A-4147-A177-3AD203B41FA5}">
                      <a16:colId xmlns:a16="http://schemas.microsoft.com/office/drawing/2014/main" val="1072296409"/>
                    </a:ext>
                  </a:extLst>
                </a:gridCol>
                <a:gridCol w="2395141">
                  <a:extLst>
                    <a:ext uri="{9D8B030D-6E8A-4147-A177-3AD203B41FA5}">
                      <a16:colId xmlns:a16="http://schemas.microsoft.com/office/drawing/2014/main" val="3394908503"/>
                    </a:ext>
                  </a:extLst>
                </a:gridCol>
                <a:gridCol w="2395141">
                  <a:extLst>
                    <a:ext uri="{9D8B030D-6E8A-4147-A177-3AD203B41FA5}">
                      <a16:colId xmlns:a16="http://schemas.microsoft.com/office/drawing/2014/main" val="4134260677"/>
                    </a:ext>
                  </a:extLst>
                </a:gridCol>
                <a:gridCol w="2395141">
                  <a:extLst>
                    <a:ext uri="{9D8B030D-6E8A-4147-A177-3AD203B41FA5}">
                      <a16:colId xmlns:a16="http://schemas.microsoft.com/office/drawing/2014/main" val="308568161"/>
                    </a:ext>
                  </a:extLst>
                </a:gridCol>
              </a:tblGrid>
              <a:tr h="370417">
                <a:tc>
                  <a:txBody>
                    <a:bodyPr/>
                    <a:lstStyle/>
                    <a:p>
                      <a:pPr>
                        <a:buNone/>
                      </a:pPr>
                      <a:r>
                        <a:rPr lang="en-CH" b="1" dirty="0">
                          <a:effectLst/>
                        </a:rPr>
                        <a:t>Metric</a:t>
                      </a:r>
                    </a:p>
                  </a:txBody>
                  <a:tcPr anchor="ctr">
                    <a:lnL>
                      <a:noFill/>
                    </a:lnL>
                    <a:lnR>
                      <a:noFill/>
                    </a:lnR>
                    <a:lnT>
                      <a:noFill/>
                    </a:lnT>
                    <a:lnB>
                      <a:noFill/>
                    </a:lnB>
                    <a:noFill/>
                  </a:tcPr>
                </a:tc>
                <a:tc>
                  <a:txBody>
                    <a:bodyPr/>
                    <a:lstStyle/>
                    <a:p>
                      <a:pPr>
                        <a:buNone/>
                      </a:pPr>
                      <a:r>
                        <a:rPr lang="en-CH" b="1">
                          <a:effectLst/>
                        </a:rPr>
                        <a:t>penalty_on</a:t>
                      </a:r>
                    </a:p>
                  </a:txBody>
                  <a:tcPr anchor="ctr">
                    <a:lnL>
                      <a:noFill/>
                    </a:lnL>
                    <a:lnR>
                      <a:noFill/>
                    </a:lnR>
                    <a:lnT>
                      <a:noFill/>
                    </a:lnT>
                    <a:lnB>
                      <a:noFill/>
                    </a:lnB>
                    <a:noFill/>
                  </a:tcPr>
                </a:tc>
                <a:tc>
                  <a:txBody>
                    <a:bodyPr/>
                    <a:lstStyle/>
                    <a:p>
                      <a:pPr>
                        <a:buNone/>
                      </a:pPr>
                      <a:r>
                        <a:rPr lang="en-CH" b="1">
                          <a:effectLst/>
                        </a:rPr>
                        <a:t>Ref1</a:t>
                      </a:r>
                    </a:p>
                  </a:txBody>
                  <a:tcPr anchor="ctr">
                    <a:lnL>
                      <a:noFill/>
                    </a:lnL>
                    <a:lnR>
                      <a:noFill/>
                    </a:lnR>
                    <a:lnT>
                      <a:noFill/>
                    </a:lnT>
                    <a:lnB>
                      <a:noFill/>
                    </a:lnB>
                    <a:noFill/>
                  </a:tcPr>
                </a:tc>
                <a:tc>
                  <a:txBody>
                    <a:bodyPr/>
                    <a:lstStyle/>
                    <a:p>
                      <a:pPr>
                        <a:buNone/>
                      </a:pPr>
                      <a:r>
                        <a:rPr lang="en-CH" b="1" dirty="0">
                          <a:effectLst/>
                        </a:rPr>
                        <a:t>Δ</a:t>
                      </a:r>
                    </a:p>
                  </a:txBody>
                  <a:tcPr anchor="ctr">
                    <a:lnL>
                      <a:noFill/>
                    </a:lnL>
                    <a:lnR>
                      <a:noFill/>
                    </a:lnR>
                    <a:lnT>
                      <a:noFill/>
                    </a:lnT>
                    <a:lnB>
                      <a:noFill/>
                    </a:lnB>
                    <a:noFill/>
                  </a:tcPr>
                </a:tc>
                <a:extLst>
                  <a:ext uri="{0D108BD9-81ED-4DB2-BD59-A6C34878D82A}">
                    <a16:rowId xmlns:a16="http://schemas.microsoft.com/office/drawing/2014/main" val="3845384913"/>
                  </a:ext>
                </a:extLst>
              </a:tr>
              <a:tr h="0">
                <a:tc>
                  <a:txBody>
                    <a:bodyPr/>
                    <a:lstStyle/>
                    <a:p>
                      <a:pPr>
                        <a:buNone/>
                      </a:pPr>
                      <a:r>
                        <a:rPr lang="en-CH" dirty="0">
                          <a:effectLst/>
                        </a:rPr>
                        <a:t>Eval return mean</a:t>
                      </a:r>
                    </a:p>
                  </a:txBody>
                  <a:tcPr anchor="ctr">
                    <a:lnL>
                      <a:noFill/>
                    </a:lnL>
                    <a:lnR>
                      <a:noFill/>
                    </a:lnR>
                    <a:lnT>
                      <a:noFill/>
                    </a:lnT>
                    <a:lnB>
                      <a:noFill/>
                    </a:lnB>
                    <a:noFill/>
                  </a:tcPr>
                </a:tc>
                <a:tc>
                  <a:txBody>
                    <a:bodyPr/>
                    <a:lstStyle/>
                    <a:p>
                      <a:pPr>
                        <a:buNone/>
                      </a:pPr>
                      <a:r>
                        <a:rPr lang="en-CH" dirty="0">
                          <a:effectLst/>
                        </a:rPr>
                        <a:t>+10.58</a:t>
                      </a:r>
                    </a:p>
                  </a:txBody>
                  <a:tcPr anchor="ctr">
                    <a:lnL>
                      <a:noFill/>
                    </a:lnL>
                    <a:lnR>
                      <a:noFill/>
                    </a:lnR>
                    <a:lnT>
                      <a:noFill/>
                    </a:lnT>
                    <a:lnB>
                      <a:noFill/>
                    </a:lnB>
                    <a:noFill/>
                  </a:tcPr>
                </a:tc>
                <a:tc>
                  <a:txBody>
                    <a:bodyPr/>
                    <a:lstStyle/>
                    <a:p>
                      <a:pPr>
                        <a:buNone/>
                      </a:pPr>
                      <a:r>
                        <a:rPr lang="en-CH">
                          <a:effectLst/>
                        </a:rPr>
                        <a:t>−24.08</a:t>
                      </a:r>
                    </a:p>
                  </a:txBody>
                  <a:tcPr anchor="ctr">
                    <a:lnL>
                      <a:noFill/>
                    </a:lnL>
                    <a:lnR>
                      <a:noFill/>
                    </a:lnR>
                    <a:lnT>
                      <a:noFill/>
                    </a:lnT>
                    <a:lnB>
                      <a:noFill/>
                    </a:lnB>
                    <a:noFill/>
                  </a:tcPr>
                </a:tc>
                <a:tc>
                  <a:txBody>
                    <a:bodyPr/>
                    <a:lstStyle/>
                    <a:p>
                      <a:pPr>
                        <a:buNone/>
                      </a:pPr>
                      <a:r>
                        <a:rPr lang="en-CH">
                          <a:effectLst/>
                        </a:rPr>
                        <a:t>+34.7</a:t>
                      </a:r>
                    </a:p>
                  </a:txBody>
                  <a:tcPr anchor="ctr">
                    <a:lnL>
                      <a:noFill/>
                    </a:lnL>
                    <a:lnR>
                      <a:noFill/>
                    </a:lnR>
                    <a:lnT>
                      <a:noFill/>
                    </a:lnT>
                    <a:lnB>
                      <a:noFill/>
                    </a:lnB>
                    <a:noFill/>
                  </a:tcPr>
                </a:tc>
                <a:extLst>
                  <a:ext uri="{0D108BD9-81ED-4DB2-BD59-A6C34878D82A}">
                    <a16:rowId xmlns:a16="http://schemas.microsoft.com/office/drawing/2014/main" val="634797908"/>
                  </a:ext>
                </a:extLst>
              </a:tr>
              <a:tr h="0">
                <a:tc>
                  <a:txBody>
                    <a:bodyPr/>
                    <a:lstStyle/>
                    <a:p>
                      <a:pPr>
                        <a:buNone/>
                      </a:pPr>
                      <a:r>
                        <a:rPr lang="en-CH">
                          <a:effectLst/>
                        </a:rPr>
                        <a:t>Train return best</a:t>
                      </a:r>
                    </a:p>
                  </a:txBody>
                  <a:tcPr anchor="ctr">
                    <a:lnL>
                      <a:noFill/>
                    </a:lnL>
                    <a:lnR>
                      <a:noFill/>
                    </a:lnR>
                    <a:lnT>
                      <a:noFill/>
                    </a:lnT>
                    <a:lnB>
                      <a:noFill/>
                    </a:lnB>
                    <a:noFill/>
                  </a:tcPr>
                </a:tc>
                <a:tc>
                  <a:txBody>
                    <a:bodyPr/>
                    <a:lstStyle/>
                    <a:p>
                      <a:pPr>
                        <a:buNone/>
                      </a:pPr>
                      <a:r>
                        <a:rPr lang="en-CH" dirty="0">
                          <a:effectLst/>
                        </a:rPr>
                        <a:t>+124.57 (ep 42)</a:t>
                      </a:r>
                    </a:p>
                  </a:txBody>
                  <a:tcPr anchor="ctr">
                    <a:lnL>
                      <a:noFill/>
                    </a:lnL>
                    <a:lnR>
                      <a:noFill/>
                    </a:lnR>
                    <a:lnT>
                      <a:noFill/>
                    </a:lnT>
                    <a:lnB>
                      <a:noFill/>
                    </a:lnB>
                    <a:noFill/>
                  </a:tcPr>
                </a:tc>
                <a:tc>
                  <a:txBody>
                    <a:bodyPr/>
                    <a:lstStyle/>
                    <a:p>
                      <a:pPr>
                        <a:buNone/>
                      </a:pPr>
                      <a:r>
                        <a:rPr lang="en-CH">
                          <a:effectLst/>
                        </a:rPr>
                        <a:t>+95.77 (ep 11)</a:t>
                      </a:r>
                    </a:p>
                  </a:txBody>
                  <a:tcPr anchor="ctr">
                    <a:lnL>
                      <a:noFill/>
                    </a:lnL>
                    <a:lnR>
                      <a:noFill/>
                    </a:lnR>
                    <a:lnT>
                      <a:noFill/>
                    </a:lnT>
                    <a:lnB>
                      <a:noFill/>
                    </a:lnB>
                    <a:noFill/>
                  </a:tcPr>
                </a:tc>
                <a:tc>
                  <a:txBody>
                    <a:bodyPr/>
                    <a:lstStyle/>
                    <a:p>
                      <a:pPr>
                        <a:buNone/>
                      </a:pPr>
                      <a:r>
                        <a:rPr lang="en-CH">
                          <a:effectLst/>
                        </a:rPr>
                        <a:t>+28.8</a:t>
                      </a:r>
                    </a:p>
                  </a:txBody>
                  <a:tcPr anchor="ctr">
                    <a:lnL>
                      <a:noFill/>
                    </a:lnL>
                    <a:lnR>
                      <a:noFill/>
                    </a:lnR>
                    <a:lnT>
                      <a:noFill/>
                    </a:lnT>
                    <a:lnB>
                      <a:noFill/>
                    </a:lnB>
                    <a:noFill/>
                  </a:tcPr>
                </a:tc>
                <a:extLst>
                  <a:ext uri="{0D108BD9-81ED-4DB2-BD59-A6C34878D82A}">
                    <a16:rowId xmlns:a16="http://schemas.microsoft.com/office/drawing/2014/main" val="2765728754"/>
                  </a:ext>
                </a:extLst>
              </a:tr>
              <a:tr h="0">
                <a:tc>
                  <a:txBody>
                    <a:bodyPr/>
                    <a:lstStyle/>
                    <a:p>
                      <a:pPr>
                        <a:buNone/>
                      </a:pPr>
                      <a:r>
                        <a:rPr lang="en-CH">
                          <a:effectLst/>
                        </a:rPr>
                        <a:t>Train return mean</a:t>
                      </a:r>
                    </a:p>
                  </a:txBody>
                  <a:tcPr anchor="ctr">
                    <a:lnL>
                      <a:noFill/>
                    </a:lnL>
                    <a:lnR>
                      <a:noFill/>
                    </a:lnR>
                    <a:lnT>
                      <a:noFill/>
                    </a:lnT>
                    <a:lnB>
                      <a:noFill/>
                    </a:lnB>
                    <a:noFill/>
                  </a:tcPr>
                </a:tc>
                <a:tc>
                  <a:txBody>
                    <a:bodyPr/>
                    <a:lstStyle/>
                    <a:p>
                      <a:pPr>
                        <a:buNone/>
                      </a:pPr>
                      <a:r>
                        <a:rPr lang="en-CH">
                          <a:effectLst/>
                        </a:rPr>
                        <a:t>−4.50</a:t>
                      </a:r>
                    </a:p>
                  </a:txBody>
                  <a:tcPr anchor="ctr">
                    <a:lnL>
                      <a:noFill/>
                    </a:lnL>
                    <a:lnR>
                      <a:noFill/>
                    </a:lnR>
                    <a:lnT>
                      <a:noFill/>
                    </a:lnT>
                    <a:lnB>
                      <a:noFill/>
                    </a:lnB>
                    <a:noFill/>
                  </a:tcPr>
                </a:tc>
                <a:tc>
                  <a:txBody>
                    <a:bodyPr/>
                    <a:lstStyle/>
                    <a:p>
                      <a:pPr>
                        <a:buNone/>
                      </a:pPr>
                      <a:r>
                        <a:rPr lang="en-CH">
                          <a:effectLst/>
                        </a:rPr>
                        <a:t>−48.94</a:t>
                      </a:r>
                    </a:p>
                  </a:txBody>
                  <a:tcPr anchor="ctr">
                    <a:lnL>
                      <a:noFill/>
                    </a:lnL>
                    <a:lnR>
                      <a:noFill/>
                    </a:lnR>
                    <a:lnT>
                      <a:noFill/>
                    </a:lnT>
                    <a:lnB>
                      <a:noFill/>
                    </a:lnB>
                    <a:noFill/>
                  </a:tcPr>
                </a:tc>
                <a:tc>
                  <a:txBody>
                    <a:bodyPr/>
                    <a:lstStyle/>
                    <a:p>
                      <a:pPr>
                        <a:buNone/>
                      </a:pPr>
                      <a:r>
                        <a:rPr lang="en-CH">
                          <a:effectLst/>
                        </a:rPr>
                        <a:t>+44.4</a:t>
                      </a:r>
                    </a:p>
                  </a:txBody>
                  <a:tcPr anchor="ctr">
                    <a:lnL>
                      <a:noFill/>
                    </a:lnL>
                    <a:lnR>
                      <a:noFill/>
                    </a:lnR>
                    <a:lnT>
                      <a:noFill/>
                    </a:lnT>
                    <a:lnB>
                      <a:noFill/>
                    </a:lnB>
                    <a:noFill/>
                  </a:tcPr>
                </a:tc>
                <a:extLst>
                  <a:ext uri="{0D108BD9-81ED-4DB2-BD59-A6C34878D82A}">
                    <a16:rowId xmlns:a16="http://schemas.microsoft.com/office/drawing/2014/main" val="478096728"/>
                  </a:ext>
                </a:extLst>
              </a:tr>
              <a:tr h="0">
                <a:tc>
                  <a:txBody>
                    <a:bodyPr/>
                    <a:lstStyle/>
                    <a:p>
                      <a:pPr>
                        <a:buNone/>
                      </a:pPr>
                      <a:r>
                        <a:rPr lang="en-CH" dirty="0">
                          <a:effectLst/>
                        </a:rPr>
                        <a:t>Train shutter </a:t>
                      </a:r>
                      <a:r>
                        <a:rPr lang="en-CH" dirty="0" err="1">
                          <a:effectLst/>
                        </a:rPr>
                        <a:t>cmds</a:t>
                      </a:r>
                      <a:r>
                        <a:rPr lang="en-US" dirty="0">
                          <a:effectLst/>
                        </a:rPr>
                        <a:t> (total)</a:t>
                      </a:r>
                      <a:endParaRPr lang="en-CH" dirty="0">
                        <a:effectLst/>
                      </a:endParaRPr>
                    </a:p>
                  </a:txBody>
                  <a:tcPr anchor="ctr">
                    <a:lnL>
                      <a:noFill/>
                    </a:lnL>
                    <a:lnR>
                      <a:noFill/>
                    </a:lnR>
                    <a:lnT>
                      <a:noFill/>
                    </a:lnT>
                    <a:lnB>
                      <a:noFill/>
                    </a:lnB>
                    <a:noFill/>
                  </a:tcPr>
                </a:tc>
                <a:tc>
                  <a:txBody>
                    <a:bodyPr/>
                    <a:lstStyle/>
                    <a:p>
                      <a:pPr>
                        <a:buNone/>
                      </a:pPr>
                      <a:r>
                        <a:rPr lang="en-CH">
                          <a:effectLst/>
                        </a:rPr>
                        <a:t>478</a:t>
                      </a:r>
                    </a:p>
                  </a:txBody>
                  <a:tcPr anchor="ctr">
                    <a:lnL>
                      <a:noFill/>
                    </a:lnL>
                    <a:lnR>
                      <a:noFill/>
                    </a:lnR>
                    <a:lnT>
                      <a:noFill/>
                    </a:lnT>
                    <a:lnB>
                      <a:noFill/>
                    </a:lnB>
                    <a:noFill/>
                  </a:tcPr>
                </a:tc>
                <a:tc>
                  <a:txBody>
                    <a:bodyPr/>
                    <a:lstStyle/>
                    <a:p>
                      <a:pPr>
                        <a:buNone/>
                      </a:pPr>
                      <a:r>
                        <a:rPr lang="en-CH">
                          <a:effectLst/>
                        </a:rPr>
                        <a:t>7071</a:t>
                      </a:r>
                    </a:p>
                  </a:txBody>
                  <a:tcPr anchor="ctr">
                    <a:lnL>
                      <a:noFill/>
                    </a:lnL>
                    <a:lnR>
                      <a:noFill/>
                    </a:lnR>
                    <a:lnT>
                      <a:noFill/>
                    </a:lnT>
                    <a:lnB>
                      <a:noFill/>
                    </a:lnB>
                    <a:noFill/>
                  </a:tcPr>
                </a:tc>
                <a:tc>
                  <a:txBody>
                    <a:bodyPr/>
                    <a:lstStyle/>
                    <a:p>
                      <a:pPr>
                        <a:buNone/>
                      </a:pPr>
                      <a:r>
                        <a:rPr lang="en-CH" b="1">
                          <a:effectLst/>
                        </a:rPr>
                        <a:t>−93%</a:t>
                      </a:r>
                      <a:endParaRPr lang="en-CH">
                        <a:effectLst/>
                      </a:endParaRPr>
                    </a:p>
                  </a:txBody>
                  <a:tcPr anchor="ctr">
                    <a:lnL>
                      <a:noFill/>
                    </a:lnL>
                    <a:lnR>
                      <a:noFill/>
                    </a:lnR>
                    <a:lnT>
                      <a:noFill/>
                    </a:lnT>
                    <a:lnB>
                      <a:noFill/>
                    </a:lnB>
                    <a:noFill/>
                  </a:tcPr>
                </a:tc>
                <a:extLst>
                  <a:ext uri="{0D108BD9-81ED-4DB2-BD59-A6C34878D82A}">
                    <a16:rowId xmlns:a16="http://schemas.microsoft.com/office/drawing/2014/main" val="2960617691"/>
                  </a:ext>
                </a:extLst>
              </a:tr>
              <a:tr h="0">
                <a:tc>
                  <a:txBody>
                    <a:bodyPr/>
                    <a:lstStyle/>
                    <a:p>
                      <a:pPr>
                        <a:buNone/>
                      </a:pPr>
                      <a:r>
                        <a:rPr lang="en-CH" dirty="0">
                          <a:effectLst/>
                        </a:rPr>
                        <a:t>Train meaningful frac</a:t>
                      </a:r>
                    </a:p>
                  </a:txBody>
                  <a:tcPr anchor="ctr">
                    <a:lnL>
                      <a:noFill/>
                    </a:lnL>
                    <a:lnR>
                      <a:noFill/>
                    </a:lnR>
                    <a:lnT>
                      <a:noFill/>
                    </a:lnT>
                    <a:lnB>
                      <a:noFill/>
                    </a:lnB>
                    <a:noFill/>
                  </a:tcPr>
                </a:tc>
                <a:tc>
                  <a:txBody>
                    <a:bodyPr/>
                    <a:lstStyle/>
                    <a:p>
                      <a:pPr>
                        <a:buNone/>
                      </a:pPr>
                      <a:r>
                        <a:rPr lang="en-CH">
                          <a:effectLst/>
                        </a:rPr>
                        <a:t>0.220</a:t>
                      </a:r>
                    </a:p>
                  </a:txBody>
                  <a:tcPr anchor="ctr">
                    <a:lnL>
                      <a:noFill/>
                    </a:lnL>
                    <a:lnR>
                      <a:noFill/>
                    </a:lnR>
                    <a:lnT>
                      <a:noFill/>
                    </a:lnT>
                    <a:lnB>
                      <a:noFill/>
                    </a:lnB>
                    <a:noFill/>
                  </a:tcPr>
                </a:tc>
                <a:tc>
                  <a:txBody>
                    <a:bodyPr/>
                    <a:lstStyle/>
                    <a:p>
                      <a:pPr>
                        <a:buNone/>
                      </a:pPr>
                      <a:r>
                        <a:rPr lang="en-CH">
                          <a:effectLst/>
                        </a:rPr>
                        <a:t>0.015</a:t>
                      </a:r>
                    </a:p>
                  </a:txBody>
                  <a:tcPr anchor="ctr">
                    <a:lnL>
                      <a:noFill/>
                    </a:lnL>
                    <a:lnR>
                      <a:noFill/>
                    </a:lnR>
                    <a:lnT>
                      <a:noFill/>
                    </a:lnT>
                    <a:lnB>
                      <a:noFill/>
                    </a:lnB>
                    <a:noFill/>
                  </a:tcPr>
                </a:tc>
                <a:tc>
                  <a:txBody>
                    <a:bodyPr/>
                    <a:lstStyle/>
                    <a:p>
                      <a:pPr>
                        <a:buNone/>
                      </a:pPr>
                      <a:r>
                        <a:rPr lang="en-CH" b="1">
                          <a:effectLst/>
                        </a:rPr>
                        <a:t>15×</a:t>
                      </a:r>
                      <a:endParaRPr lang="en-CH">
                        <a:effectLst/>
                      </a:endParaRPr>
                    </a:p>
                  </a:txBody>
                  <a:tcPr anchor="ctr">
                    <a:lnL>
                      <a:noFill/>
                    </a:lnL>
                    <a:lnR>
                      <a:noFill/>
                    </a:lnR>
                    <a:lnT>
                      <a:noFill/>
                    </a:lnT>
                    <a:lnB>
                      <a:noFill/>
                    </a:lnB>
                    <a:noFill/>
                  </a:tcPr>
                </a:tc>
                <a:extLst>
                  <a:ext uri="{0D108BD9-81ED-4DB2-BD59-A6C34878D82A}">
                    <a16:rowId xmlns:a16="http://schemas.microsoft.com/office/drawing/2014/main" val="2475419167"/>
                  </a:ext>
                </a:extLst>
              </a:tr>
              <a:tr h="0">
                <a:tc>
                  <a:txBody>
                    <a:bodyPr/>
                    <a:lstStyle/>
                    <a:p>
                      <a:pPr>
                        <a:buNone/>
                      </a:pPr>
                      <a:r>
                        <a:rPr lang="en-CH" dirty="0">
                          <a:effectLst/>
                        </a:rPr>
                        <a:t>Eval shutter </a:t>
                      </a:r>
                      <a:r>
                        <a:rPr lang="en-CH" dirty="0" err="1">
                          <a:effectLst/>
                        </a:rPr>
                        <a:t>cmds</a:t>
                      </a:r>
                      <a:endParaRPr lang="en-CH" dirty="0">
                        <a:effectLst/>
                      </a:endParaRPr>
                    </a:p>
                  </a:txBody>
                  <a:tcPr anchor="ctr">
                    <a:lnL>
                      <a:noFill/>
                    </a:lnL>
                    <a:lnR>
                      <a:noFill/>
                    </a:lnR>
                    <a:lnT>
                      <a:noFill/>
                    </a:lnT>
                    <a:lnB>
                      <a:noFill/>
                    </a:lnB>
                    <a:noFill/>
                  </a:tcPr>
                </a:tc>
                <a:tc>
                  <a:txBody>
                    <a:bodyPr/>
                    <a:lstStyle/>
                    <a:p>
                      <a:pPr>
                        <a:buNone/>
                      </a:pPr>
                      <a:r>
                        <a:rPr lang="en-CH">
                          <a:effectLst/>
                        </a:rPr>
                        <a:t>10</a:t>
                      </a:r>
                    </a:p>
                  </a:txBody>
                  <a:tcPr anchor="ctr">
                    <a:lnL>
                      <a:noFill/>
                    </a:lnL>
                    <a:lnR>
                      <a:noFill/>
                    </a:lnR>
                    <a:lnT>
                      <a:noFill/>
                    </a:lnT>
                    <a:lnB>
                      <a:noFill/>
                    </a:lnB>
                    <a:noFill/>
                  </a:tcPr>
                </a:tc>
                <a:tc>
                  <a:txBody>
                    <a:bodyPr/>
                    <a:lstStyle/>
                    <a:p>
                      <a:pPr>
                        <a:buNone/>
                      </a:pPr>
                      <a:r>
                        <a:rPr lang="en-CH">
                          <a:effectLst/>
                        </a:rPr>
                        <a:t>346</a:t>
                      </a:r>
                    </a:p>
                  </a:txBody>
                  <a:tcPr anchor="ctr">
                    <a:lnL>
                      <a:noFill/>
                    </a:lnL>
                    <a:lnR>
                      <a:noFill/>
                    </a:lnR>
                    <a:lnT>
                      <a:noFill/>
                    </a:lnT>
                    <a:lnB>
                      <a:noFill/>
                    </a:lnB>
                    <a:noFill/>
                  </a:tcPr>
                </a:tc>
                <a:tc>
                  <a:txBody>
                    <a:bodyPr/>
                    <a:lstStyle/>
                    <a:p>
                      <a:pPr>
                        <a:buNone/>
                      </a:pPr>
                      <a:r>
                        <a:rPr lang="en-CH" b="1">
                          <a:effectLst/>
                        </a:rPr>
                        <a:t>−97%</a:t>
                      </a:r>
                      <a:endParaRPr lang="en-CH">
                        <a:effectLst/>
                      </a:endParaRPr>
                    </a:p>
                  </a:txBody>
                  <a:tcPr anchor="ctr">
                    <a:lnL>
                      <a:noFill/>
                    </a:lnL>
                    <a:lnR>
                      <a:noFill/>
                    </a:lnR>
                    <a:lnT>
                      <a:noFill/>
                    </a:lnT>
                    <a:lnB>
                      <a:noFill/>
                    </a:lnB>
                    <a:noFill/>
                  </a:tcPr>
                </a:tc>
                <a:extLst>
                  <a:ext uri="{0D108BD9-81ED-4DB2-BD59-A6C34878D82A}">
                    <a16:rowId xmlns:a16="http://schemas.microsoft.com/office/drawing/2014/main" val="3832645395"/>
                  </a:ext>
                </a:extLst>
              </a:tr>
              <a:tr h="0">
                <a:tc>
                  <a:txBody>
                    <a:bodyPr/>
                    <a:lstStyle/>
                    <a:p>
                      <a:pPr>
                        <a:buNone/>
                      </a:pPr>
                      <a:r>
                        <a:rPr lang="en-CH">
                          <a:effectLst/>
                        </a:rPr>
                        <a:t>Post-peak std (after best ep)</a:t>
                      </a:r>
                    </a:p>
                  </a:txBody>
                  <a:tcPr anchor="ctr">
                    <a:lnL>
                      <a:noFill/>
                    </a:lnL>
                    <a:lnR>
                      <a:noFill/>
                    </a:lnR>
                    <a:lnT>
                      <a:noFill/>
                    </a:lnT>
                    <a:lnB>
                      <a:noFill/>
                    </a:lnB>
                    <a:noFill/>
                  </a:tcPr>
                </a:tc>
                <a:tc>
                  <a:txBody>
                    <a:bodyPr/>
                    <a:lstStyle/>
                    <a:p>
                      <a:pPr>
                        <a:buNone/>
                      </a:pPr>
                      <a:r>
                        <a:rPr lang="en-CH">
                          <a:effectLst/>
                        </a:rPr>
                        <a:t>17.5 (n=7 after ep 42)</a:t>
                      </a:r>
                    </a:p>
                  </a:txBody>
                  <a:tcPr anchor="ctr">
                    <a:lnL>
                      <a:noFill/>
                    </a:lnL>
                    <a:lnR>
                      <a:noFill/>
                    </a:lnR>
                    <a:lnT>
                      <a:noFill/>
                    </a:lnT>
                    <a:lnB>
                      <a:noFill/>
                    </a:lnB>
                    <a:noFill/>
                  </a:tcPr>
                </a:tc>
                <a:tc>
                  <a:txBody>
                    <a:bodyPr/>
                    <a:lstStyle/>
                    <a:p>
                      <a:pPr>
                        <a:buNone/>
                      </a:pPr>
                      <a:r>
                        <a:rPr lang="en-CH">
                          <a:effectLst/>
                        </a:rPr>
                        <a:t>28.4 (n=38 after ep 11)</a:t>
                      </a:r>
                    </a:p>
                  </a:txBody>
                  <a:tcPr anchor="ctr">
                    <a:lnL>
                      <a:noFill/>
                    </a:lnL>
                    <a:lnR>
                      <a:noFill/>
                    </a:lnR>
                    <a:lnT>
                      <a:noFill/>
                    </a:lnT>
                    <a:lnB>
                      <a:noFill/>
                    </a:lnB>
                    <a:noFill/>
                  </a:tcPr>
                </a:tc>
                <a:tc>
                  <a:txBody>
                    <a:bodyPr/>
                    <a:lstStyle/>
                    <a:p>
                      <a:pPr>
                        <a:buNone/>
                      </a:pPr>
                      <a:r>
                        <a:rPr lang="en-CH" b="1">
                          <a:effectLst/>
                        </a:rPr>
                        <a:t>−38%</a:t>
                      </a:r>
                      <a:endParaRPr lang="en-CH">
                        <a:effectLst/>
                      </a:endParaRPr>
                    </a:p>
                  </a:txBody>
                  <a:tcPr anchor="ctr">
                    <a:lnL>
                      <a:noFill/>
                    </a:lnL>
                    <a:lnR>
                      <a:noFill/>
                    </a:lnR>
                    <a:lnT>
                      <a:noFill/>
                    </a:lnT>
                    <a:lnB>
                      <a:noFill/>
                    </a:lnB>
                    <a:noFill/>
                  </a:tcPr>
                </a:tc>
                <a:extLst>
                  <a:ext uri="{0D108BD9-81ED-4DB2-BD59-A6C34878D82A}">
                    <a16:rowId xmlns:a16="http://schemas.microsoft.com/office/drawing/2014/main" val="898230719"/>
                  </a:ext>
                </a:extLst>
              </a:tr>
              <a:tr h="0">
                <a:tc>
                  <a:txBody>
                    <a:bodyPr/>
                    <a:lstStyle/>
                    <a:p>
                      <a:pPr>
                        <a:buNone/>
                      </a:pPr>
                      <a:r>
                        <a:rPr lang="en-CH">
                          <a:effectLst/>
                        </a:rPr>
                        <a:t>Post-peak mean (after best ep)</a:t>
                      </a:r>
                    </a:p>
                  </a:txBody>
                  <a:tcPr anchor="ctr">
                    <a:lnL>
                      <a:noFill/>
                    </a:lnL>
                    <a:lnR>
                      <a:noFill/>
                    </a:lnR>
                    <a:lnT>
                      <a:noFill/>
                    </a:lnT>
                    <a:lnB>
                      <a:noFill/>
                    </a:lnB>
                    <a:noFill/>
                  </a:tcPr>
                </a:tc>
                <a:tc>
                  <a:txBody>
                    <a:bodyPr/>
                    <a:lstStyle/>
                    <a:p>
                      <a:pPr>
                        <a:buNone/>
                      </a:pPr>
                      <a:r>
                        <a:rPr lang="en-CH">
                          <a:effectLst/>
                        </a:rPr>
                        <a:t>+3.3</a:t>
                      </a:r>
                    </a:p>
                  </a:txBody>
                  <a:tcPr anchor="ctr">
                    <a:lnL>
                      <a:noFill/>
                    </a:lnL>
                    <a:lnR>
                      <a:noFill/>
                    </a:lnR>
                    <a:lnT>
                      <a:noFill/>
                    </a:lnT>
                    <a:lnB>
                      <a:noFill/>
                    </a:lnB>
                    <a:noFill/>
                  </a:tcPr>
                </a:tc>
                <a:tc>
                  <a:txBody>
                    <a:bodyPr/>
                    <a:lstStyle/>
                    <a:p>
                      <a:pPr>
                        <a:buNone/>
                      </a:pPr>
                      <a:r>
                        <a:rPr lang="en-CH">
                          <a:effectLst/>
                        </a:rPr>
                        <a:t>−53.5</a:t>
                      </a:r>
                    </a:p>
                  </a:txBody>
                  <a:tcPr anchor="ctr">
                    <a:lnL>
                      <a:noFill/>
                    </a:lnL>
                    <a:lnR>
                      <a:noFill/>
                    </a:lnR>
                    <a:lnT>
                      <a:noFill/>
                    </a:lnT>
                    <a:lnB>
                      <a:noFill/>
                    </a:lnB>
                    <a:noFill/>
                  </a:tcPr>
                </a:tc>
                <a:tc>
                  <a:txBody>
                    <a:bodyPr/>
                    <a:lstStyle/>
                    <a:p>
                      <a:pPr>
                        <a:buNone/>
                      </a:pPr>
                      <a:r>
                        <a:rPr lang="en-CH" dirty="0">
                          <a:effectLst/>
                        </a:rPr>
                        <a:t>improved</a:t>
                      </a:r>
                    </a:p>
                  </a:txBody>
                  <a:tcPr anchor="ctr">
                    <a:lnL>
                      <a:noFill/>
                    </a:lnL>
                    <a:lnR>
                      <a:noFill/>
                    </a:lnR>
                    <a:lnT>
                      <a:noFill/>
                    </a:lnT>
                    <a:lnB>
                      <a:noFill/>
                    </a:lnB>
                    <a:noFill/>
                  </a:tcPr>
                </a:tc>
                <a:extLst>
                  <a:ext uri="{0D108BD9-81ED-4DB2-BD59-A6C34878D82A}">
                    <a16:rowId xmlns:a16="http://schemas.microsoft.com/office/drawing/2014/main" val="4020352270"/>
                  </a:ext>
                </a:extLst>
              </a:tr>
            </a:tbl>
          </a:graphicData>
        </a:graphic>
      </p:graphicFrame>
    </p:spTree>
    <p:extLst>
      <p:ext uri="{BB962C8B-B14F-4D97-AF65-F5344CB8AC3E}">
        <p14:creationId xmlns:p14="http://schemas.microsoft.com/office/powerpoint/2010/main" val="2665960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87807-1C17-5C3C-57C7-FC1C3C9E9B0E}"/>
              </a:ext>
            </a:extLst>
          </p:cNvPr>
          <p:cNvSpPr>
            <a:spLocks noGrp="1"/>
          </p:cNvSpPr>
          <p:nvPr>
            <p:ph type="title"/>
          </p:nvPr>
        </p:nvSpPr>
        <p:spPr/>
        <p:txBody>
          <a:bodyPr/>
          <a:lstStyle/>
          <a:p>
            <a:r>
              <a:rPr lang="en-US" b="1" dirty="0"/>
              <a:t>Training: SAC</a:t>
            </a:r>
            <a:endParaRPr lang="en-CH" b="1" dirty="0"/>
          </a:p>
        </p:txBody>
      </p:sp>
      <p:sp>
        <p:nvSpPr>
          <p:cNvPr id="3" name="Text Placeholder 2">
            <a:extLst>
              <a:ext uri="{FF2B5EF4-FFF2-40B4-BE49-F238E27FC236}">
                <a16:creationId xmlns:a16="http://schemas.microsoft.com/office/drawing/2014/main" id="{34AED01A-7FEA-3FB7-733B-C20806F1C74D}"/>
              </a:ext>
            </a:extLst>
          </p:cNvPr>
          <p:cNvSpPr>
            <a:spLocks noGrp="1"/>
          </p:cNvSpPr>
          <p:nvPr>
            <p:ph type="body" idx="1"/>
          </p:nvPr>
        </p:nvSpPr>
        <p:spPr>
          <a:xfrm>
            <a:off x="220133" y="1412875"/>
            <a:ext cx="2641601" cy="4680000"/>
          </a:xfrm>
        </p:spPr>
        <p:txBody>
          <a:bodyPr/>
          <a:lstStyle/>
          <a:p>
            <a:pPr marL="114300" indent="0">
              <a:buNone/>
            </a:pPr>
            <a:r>
              <a:rPr lang="en-US" b="1" dirty="0"/>
              <a:t>Control mode:</a:t>
            </a:r>
          </a:p>
          <a:p>
            <a:pPr marL="400050" indent="-285750">
              <a:buFontTx/>
              <a:buChar char="-"/>
            </a:pPr>
            <a:r>
              <a:rPr lang="en-US" dirty="0"/>
              <a:t>Vector</a:t>
            </a:r>
          </a:p>
          <a:p>
            <a:pPr marL="114300" indent="0">
              <a:buNone/>
            </a:pPr>
            <a:r>
              <a:rPr lang="en-US" b="1" dirty="0"/>
              <a:t>Algorithm:</a:t>
            </a:r>
          </a:p>
          <a:p>
            <a:pPr marL="400050" indent="-285750">
              <a:buFontTx/>
              <a:buChar char="-"/>
            </a:pPr>
            <a:r>
              <a:rPr lang="en-US" dirty="0"/>
              <a:t>SAC</a:t>
            </a:r>
          </a:p>
          <a:p>
            <a:pPr marL="114300" indent="0">
              <a:buNone/>
            </a:pPr>
            <a:r>
              <a:rPr lang="en-US" b="1" dirty="0"/>
              <a:t>Reward:</a:t>
            </a:r>
          </a:p>
          <a:p>
            <a:pPr marL="400050" indent="-285750">
              <a:buFontTx/>
              <a:buChar char="-"/>
            </a:pPr>
            <a:r>
              <a:rPr lang="en-US" dirty="0"/>
              <a:t>Sparse</a:t>
            </a:r>
          </a:p>
          <a:p>
            <a:pPr marL="400050" indent="-285750">
              <a:buFontTx/>
              <a:buChar char="-"/>
            </a:pPr>
            <a:r>
              <a:rPr lang="en-US" dirty="0"/>
              <a:t>Shutter penalty</a:t>
            </a:r>
          </a:p>
          <a:p>
            <a:pPr marL="114300" indent="0">
              <a:buNone/>
            </a:pPr>
            <a:endParaRPr lang="en-CH" dirty="0"/>
          </a:p>
        </p:txBody>
      </p:sp>
      <p:sp>
        <p:nvSpPr>
          <p:cNvPr id="4" name="Slide Number Placeholder 3">
            <a:extLst>
              <a:ext uri="{FF2B5EF4-FFF2-40B4-BE49-F238E27FC236}">
                <a16:creationId xmlns:a16="http://schemas.microsoft.com/office/drawing/2014/main" id="{A18DB0F7-00E8-6C3C-C61E-C7503DF01BE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de-CH" smtClean="0"/>
              <a:t>12</a:t>
            </a:fld>
            <a:endParaRPr lang="de-CH"/>
          </a:p>
        </p:txBody>
      </p:sp>
      <p:pic>
        <p:nvPicPr>
          <p:cNvPr id="5" name="08_exp9_sac_shutter_eval.mp4">
            <a:hlinkClick r:id="" action="ppaction://media"/>
            <a:extLst>
              <a:ext uri="{FF2B5EF4-FFF2-40B4-BE49-F238E27FC236}">
                <a16:creationId xmlns:a16="http://schemas.microsoft.com/office/drawing/2014/main" id="{A9C0FA88-F858-EE4F-C4F0-B3C087650679}"/>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933169" y="1246460"/>
            <a:ext cx="8911697" cy="5012829"/>
          </a:xfrm>
          <a:prstGeom prst="rect">
            <a:avLst/>
          </a:prstGeom>
        </p:spPr>
      </p:pic>
    </p:spTree>
    <p:extLst>
      <p:ext uri="{BB962C8B-B14F-4D97-AF65-F5344CB8AC3E}">
        <p14:creationId xmlns:p14="http://schemas.microsoft.com/office/powerpoint/2010/main" val="2626629165"/>
      </p:ext>
    </p:extLst>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E7387-44D7-81A7-25E3-EB04AB05E762}"/>
              </a:ext>
            </a:extLst>
          </p:cNvPr>
          <p:cNvSpPr>
            <a:spLocks noGrp="1"/>
          </p:cNvSpPr>
          <p:nvPr>
            <p:ph type="title"/>
          </p:nvPr>
        </p:nvSpPr>
        <p:spPr/>
        <p:txBody>
          <a:bodyPr/>
          <a:lstStyle/>
          <a:p>
            <a:r>
              <a:rPr lang="en-US" dirty="0"/>
              <a:t>MPO: Broken!</a:t>
            </a:r>
            <a:endParaRPr lang="en-CH" dirty="0"/>
          </a:p>
        </p:txBody>
      </p:sp>
      <p:sp>
        <p:nvSpPr>
          <p:cNvPr id="3" name="Text Placeholder 2">
            <a:extLst>
              <a:ext uri="{FF2B5EF4-FFF2-40B4-BE49-F238E27FC236}">
                <a16:creationId xmlns:a16="http://schemas.microsoft.com/office/drawing/2014/main" id="{D9F53D42-449A-1FE9-9B13-8C64BC038B32}"/>
              </a:ext>
            </a:extLst>
          </p:cNvPr>
          <p:cNvSpPr>
            <a:spLocks noGrp="1"/>
          </p:cNvSpPr>
          <p:nvPr>
            <p:ph type="body" idx="1"/>
          </p:nvPr>
        </p:nvSpPr>
        <p:spPr/>
        <p:txBody>
          <a:bodyPr/>
          <a:lstStyle/>
          <a:p>
            <a:r>
              <a:rPr lang="en-CH" b="1" dirty="0"/>
              <a:t>Core question:</a:t>
            </a:r>
            <a:r>
              <a:rPr lang="en-CH" dirty="0"/>
              <a:t> With the MPO dual now correctly implemented (E-step Q-value dual η + enforced M-step α_μ/α_Σ trust region, committed in d5af20c), does MPO achieve </a:t>
            </a:r>
            <a:r>
              <a:rPr lang="en-CH" dirty="0" err="1"/>
              <a:t>learning_mode</a:t>
            </a:r>
            <a:r>
              <a:rPr lang="en-CH" dirty="0"/>
              <a:t>=true on sparse reward in torque mode — the same mode that produced the −51.6 / −243.5 collapse in all prior runs?</a:t>
            </a:r>
          </a:p>
        </p:txBody>
      </p:sp>
      <p:sp>
        <p:nvSpPr>
          <p:cNvPr id="4" name="Slide Number Placeholder 3">
            <a:extLst>
              <a:ext uri="{FF2B5EF4-FFF2-40B4-BE49-F238E27FC236}">
                <a16:creationId xmlns:a16="http://schemas.microsoft.com/office/drawing/2014/main" id="{75C9F9FD-4762-171A-6FCE-7AA77C82A49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de-CH" smtClean="0"/>
              <a:t>13</a:t>
            </a:fld>
            <a:endParaRPr lang="de-CH"/>
          </a:p>
        </p:txBody>
      </p:sp>
    </p:spTree>
    <p:extLst>
      <p:ext uri="{BB962C8B-B14F-4D97-AF65-F5344CB8AC3E}">
        <p14:creationId xmlns:p14="http://schemas.microsoft.com/office/powerpoint/2010/main" val="4780810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7874C-6ADA-30BB-C5BC-7710FE89E384}"/>
              </a:ext>
            </a:extLst>
          </p:cNvPr>
          <p:cNvSpPr>
            <a:spLocks noGrp="1"/>
          </p:cNvSpPr>
          <p:nvPr>
            <p:ph type="title"/>
          </p:nvPr>
        </p:nvSpPr>
        <p:spPr/>
        <p:txBody>
          <a:bodyPr/>
          <a:lstStyle/>
          <a:p>
            <a:r>
              <a:rPr lang="en-US" b="1" dirty="0"/>
              <a:t>MPO: fixed? (Exp 8)</a:t>
            </a:r>
            <a:endParaRPr lang="en-CH" b="1" dirty="0"/>
          </a:p>
        </p:txBody>
      </p:sp>
      <p:sp>
        <p:nvSpPr>
          <p:cNvPr id="3" name="Text Placeholder 2">
            <a:extLst>
              <a:ext uri="{FF2B5EF4-FFF2-40B4-BE49-F238E27FC236}">
                <a16:creationId xmlns:a16="http://schemas.microsoft.com/office/drawing/2014/main" id="{2831A8A6-6FE2-A92B-30F2-42930D3F636A}"/>
              </a:ext>
            </a:extLst>
          </p:cNvPr>
          <p:cNvSpPr>
            <a:spLocks noGrp="1"/>
          </p:cNvSpPr>
          <p:nvPr>
            <p:ph type="body" idx="1"/>
          </p:nvPr>
        </p:nvSpPr>
        <p:spPr>
          <a:xfrm>
            <a:off x="367772" y="1260475"/>
            <a:ext cx="2341562" cy="4107392"/>
          </a:xfrm>
        </p:spPr>
        <p:txBody>
          <a:bodyPr/>
          <a:lstStyle/>
          <a:p>
            <a:pPr marL="114300" indent="0">
              <a:buNone/>
            </a:pPr>
            <a:r>
              <a:rPr lang="en-US" b="1" dirty="0"/>
              <a:t>Control mode:</a:t>
            </a:r>
          </a:p>
          <a:p>
            <a:pPr marL="400050" indent="-285750">
              <a:buFontTx/>
              <a:buChar char="-"/>
            </a:pPr>
            <a:r>
              <a:rPr lang="en-US" dirty="0"/>
              <a:t>Torque</a:t>
            </a:r>
          </a:p>
          <a:p>
            <a:pPr marL="114300" indent="0">
              <a:buNone/>
            </a:pPr>
            <a:r>
              <a:rPr lang="en-US" b="1" dirty="0"/>
              <a:t>Algorithm:</a:t>
            </a:r>
          </a:p>
          <a:p>
            <a:pPr marL="400050" indent="-285750">
              <a:buFontTx/>
              <a:buChar char="-"/>
            </a:pPr>
            <a:r>
              <a:rPr lang="en-US" dirty="0"/>
              <a:t>MPO</a:t>
            </a:r>
          </a:p>
          <a:p>
            <a:pPr marL="114300" indent="0">
              <a:buNone/>
            </a:pPr>
            <a:r>
              <a:rPr lang="en-US" b="1" dirty="0"/>
              <a:t>Reward:</a:t>
            </a:r>
          </a:p>
          <a:p>
            <a:pPr marL="400050" indent="-285750">
              <a:buFontTx/>
              <a:buChar char="-"/>
            </a:pPr>
            <a:r>
              <a:rPr lang="en-US" dirty="0"/>
              <a:t>Sparse</a:t>
            </a:r>
          </a:p>
        </p:txBody>
      </p:sp>
      <p:sp>
        <p:nvSpPr>
          <p:cNvPr id="4" name="Slide Number Placeholder 3">
            <a:extLst>
              <a:ext uri="{FF2B5EF4-FFF2-40B4-BE49-F238E27FC236}">
                <a16:creationId xmlns:a16="http://schemas.microsoft.com/office/drawing/2014/main" id="{2E091DB6-D22C-7F3A-6F4C-C2F3304AB3A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de-CH" smtClean="0"/>
              <a:t>14</a:t>
            </a:fld>
            <a:endParaRPr lang="de-CH"/>
          </a:p>
        </p:txBody>
      </p:sp>
      <p:pic>
        <p:nvPicPr>
          <p:cNvPr id="5" name="07_exp8_mpo_fixed_eval.mp4">
            <a:hlinkClick r:id="" action="ppaction://media"/>
            <a:extLst>
              <a:ext uri="{FF2B5EF4-FFF2-40B4-BE49-F238E27FC236}">
                <a16:creationId xmlns:a16="http://schemas.microsoft.com/office/drawing/2014/main" id="{BD841710-C337-102F-3D78-2CF6AC482087}"/>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878667" y="1182549"/>
            <a:ext cx="8945562" cy="5031878"/>
          </a:xfrm>
          <a:prstGeom prst="rect">
            <a:avLst/>
          </a:prstGeom>
        </p:spPr>
      </p:pic>
    </p:spTree>
    <p:extLst>
      <p:ext uri="{BB962C8B-B14F-4D97-AF65-F5344CB8AC3E}">
        <p14:creationId xmlns:p14="http://schemas.microsoft.com/office/powerpoint/2010/main" val="261240309"/>
      </p:ext>
    </p:extLst>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C105B-130F-081F-97D7-715BB811E263}"/>
              </a:ext>
            </a:extLst>
          </p:cNvPr>
          <p:cNvSpPr>
            <a:spLocks noGrp="1"/>
          </p:cNvSpPr>
          <p:nvPr>
            <p:ph type="title"/>
          </p:nvPr>
        </p:nvSpPr>
        <p:spPr/>
        <p:txBody>
          <a:bodyPr/>
          <a:lstStyle/>
          <a:p>
            <a:r>
              <a:rPr lang="en-US" b="1" dirty="0"/>
              <a:t>MPO: fixed?</a:t>
            </a:r>
            <a:endParaRPr lang="en-CH" b="1" dirty="0"/>
          </a:p>
        </p:txBody>
      </p:sp>
      <p:sp>
        <p:nvSpPr>
          <p:cNvPr id="3" name="Text Placeholder 2">
            <a:extLst>
              <a:ext uri="{FF2B5EF4-FFF2-40B4-BE49-F238E27FC236}">
                <a16:creationId xmlns:a16="http://schemas.microsoft.com/office/drawing/2014/main" id="{547F3BB9-6A53-063E-ECC8-15B9D1A94B22}"/>
              </a:ext>
            </a:extLst>
          </p:cNvPr>
          <p:cNvSpPr>
            <a:spLocks noGrp="1"/>
          </p:cNvSpPr>
          <p:nvPr>
            <p:ph type="body" idx="1"/>
          </p:nvPr>
        </p:nvSpPr>
        <p:spPr/>
        <p:txBody>
          <a:bodyPr/>
          <a:lstStyle/>
          <a:p>
            <a:pPr marL="400050" indent="-285750">
              <a:buFont typeface="Arial" panose="020B0604020202020204" pitchFamily="34" charset="0"/>
              <a:buChar char="•"/>
            </a:pPr>
            <a:r>
              <a:rPr lang="en-US" dirty="0"/>
              <a:t>Implementation Bug</a:t>
            </a:r>
          </a:p>
          <a:p>
            <a:pPr marL="400050" indent="-285750">
              <a:buFont typeface="Arial" panose="020B0604020202020204" pitchFamily="34" charset="0"/>
              <a:buChar char="•"/>
            </a:pPr>
            <a:r>
              <a:rPr lang="en-US" dirty="0"/>
              <a:t>Still poor performance -&gt; more experiments</a:t>
            </a:r>
          </a:p>
          <a:p>
            <a:pPr marL="400050" indent="-285750">
              <a:buFont typeface="Arial" panose="020B0604020202020204" pitchFamily="34" charset="0"/>
              <a:buChar char="•"/>
            </a:pPr>
            <a:r>
              <a:rPr lang="en-US" dirty="0"/>
              <a:t>SAC “easier learning” than MPO</a:t>
            </a:r>
          </a:p>
          <a:p>
            <a:pPr marL="400050" indent="-285750">
              <a:buFont typeface="Arial" panose="020B0604020202020204" pitchFamily="34" charset="0"/>
              <a:buChar char="•"/>
            </a:pPr>
            <a:endParaRPr lang="en-US" dirty="0"/>
          </a:p>
          <a:p>
            <a:pPr marL="400050" indent="-285750">
              <a:buFont typeface="Arial" panose="020B0604020202020204" pitchFamily="34" charset="0"/>
              <a:buChar char="•"/>
            </a:pPr>
            <a:endParaRPr lang="en-US" dirty="0"/>
          </a:p>
          <a:p>
            <a:endParaRPr lang="en-CH" dirty="0"/>
          </a:p>
        </p:txBody>
      </p:sp>
      <p:sp>
        <p:nvSpPr>
          <p:cNvPr id="4" name="Slide Number Placeholder 3">
            <a:extLst>
              <a:ext uri="{FF2B5EF4-FFF2-40B4-BE49-F238E27FC236}">
                <a16:creationId xmlns:a16="http://schemas.microsoft.com/office/drawing/2014/main" id="{BA3F9034-D770-A033-4A87-E106CEA9AAB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de-CH" smtClean="0"/>
              <a:t>15</a:t>
            </a:fld>
            <a:endParaRPr lang="de-CH"/>
          </a:p>
        </p:txBody>
      </p:sp>
      <p:graphicFrame>
        <p:nvGraphicFramePr>
          <p:cNvPr id="5" name="Table 4">
            <a:extLst>
              <a:ext uri="{FF2B5EF4-FFF2-40B4-BE49-F238E27FC236}">
                <a16:creationId xmlns:a16="http://schemas.microsoft.com/office/drawing/2014/main" id="{00EC3095-C5A6-7272-3819-89348DBC1DF8}"/>
              </a:ext>
            </a:extLst>
          </p:cNvPr>
          <p:cNvGraphicFramePr>
            <a:graphicFrameLocks noGrp="1"/>
          </p:cNvGraphicFramePr>
          <p:nvPr>
            <p:extLst>
              <p:ext uri="{D42A27DB-BD31-4B8C-83A1-F6EECF244321}">
                <p14:modId xmlns:p14="http://schemas.microsoft.com/office/powerpoint/2010/main" val="2942775698"/>
              </p:ext>
            </p:extLst>
          </p:nvPr>
        </p:nvGraphicFramePr>
        <p:xfrm>
          <a:off x="664104" y="3632624"/>
          <a:ext cx="10728325" cy="1950720"/>
        </p:xfrm>
        <a:graphic>
          <a:graphicData uri="http://schemas.openxmlformats.org/drawingml/2006/table">
            <a:tbl>
              <a:tblPr/>
              <a:tblGrid>
                <a:gridCol w="2145665">
                  <a:extLst>
                    <a:ext uri="{9D8B030D-6E8A-4147-A177-3AD203B41FA5}">
                      <a16:colId xmlns:a16="http://schemas.microsoft.com/office/drawing/2014/main" val="608656187"/>
                    </a:ext>
                  </a:extLst>
                </a:gridCol>
                <a:gridCol w="2145665">
                  <a:extLst>
                    <a:ext uri="{9D8B030D-6E8A-4147-A177-3AD203B41FA5}">
                      <a16:colId xmlns:a16="http://schemas.microsoft.com/office/drawing/2014/main" val="666740817"/>
                    </a:ext>
                  </a:extLst>
                </a:gridCol>
                <a:gridCol w="2145665">
                  <a:extLst>
                    <a:ext uri="{9D8B030D-6E8A-4147-A177-3AD203B41FA5}">
                      <a16:colId xmlns:a16="http://schemas.microsoft.com/office/drawing/2014/main" val="1962386723"/>
                    </a:ext>
                  </a:extLst>
                </a:gridCol>
                <a:gridCol w="2145665">
                  <a:extLst>
                    <a:ext uri="{9D8B030D-6E8A-4147-A177-3AD203B41FA5}">
                      <a16:colId xmlns:a16="http://schemas.microsoft.com/office/drawing/2014/main" val="1147493602"/>
                    </a:ext>
                  </a:extLst>
                </a:gridCol>
                <a:gridCol w="2145665">
                  <a:extLst>
                    <a:ext uri="{9D8B030D-6E8A-4147-A177-3AD203B41FA5}">
                      <a16:colId xmlns:a16="http://schemas.microsoft.com/office/drawing/2014/main" val="2609516926"/>
                    </a:ext>
                  </a:extLst>
                </a:gridCol>
              </a:tblGrid>
              <a:tr h="0">
                <a:tc>
                  <a:txBody>
                    <a:bodyPr/>
                    <a:lstStyle/>
                    <a:p>
                      <a:pPr>
                        <a:buNone/>
                      </a:pPr>
                      <a:r>
                        <a:rPr lang="en-US" dirty="0">
                          <a:effectLst/>
                        </a:rPr>
                        <a:t>#</a:t>
                      </a:r>
                      <a:endParaRPr lang="en-CH" dirty="0">
                        <a:effectLst/>
                      </a:endParaRPr>
                    </a:p>
                  </a:txBody>
                  <a:tcPr anchor="ctr">
                    <a:lnL>
                      <a:noFill/>
                    </a:lnL>
                    <a:lnR>
                      <a:noFill/>
                    </a:lnR>
                    <a:lnT>
                      <a:noFill/>
                    </a:lnT>
                    <a:lnB>
                      <a:noFill/>
                    </a:lnB>
                    <a:noFill/>
                  </a:tcPr>
                </a:tc>
                <a:tc>
                  <a:txBody>
                    <a:bodyPr/>
                    <a:lstStyle/>
                    <a:p>
                      <a:pPr>
                        <a:buNone/>
                      </a:pPr>
                      <a:r>
                        <a:rPr lang="en-CH" dirty="0">
                          <a:effectLst/>
                        </a:rPr>
                        <a:t>Claim</a:t>
                      </a:r>
                    </a:p>
                  </a:txBody>
                  <a:tcPr anchor="ctr">
                    <a:lnL>
                      <a:noFill/>
                    </a:lnL>
                    <a:lnR>
                      <a:noFill/>
                    </a:lnR>
                    <a:lnT>
                      <a:noFill/>
                    </a:lnT>
                    <a:lnB>
                      <a:noFill/>
                    </a:lnB>
                    <a:noFill/>
                  </a:tcPr>
                </a:tc>
                <a:tc>
                  <a:txBody>
                    <a:bodyPr/>
                    <a:lstStyle/>
                    <a:p>
                      <a:pPr>
                        <a:buNone/>
                      </a:pPr>
                      <a:r>
                        <a:rPr lang="en-CH" dirty="0">
                          <a:effectLst/>
                        </a:rPr>
                        <a:t>Criterion</a:t>
                      </a:r>
                    </a:p>
                  </a:txBody>
                  <a:tcPr anchor="ctr">
                    <a:lnL>
                      <a:noFill/>
                    </a:lnL>
                    <a:lnR>
                      <a:noFill/>
                    </a:lnR>
                    <a:lnT>
                      <a:noFill/>
                    </a:lnT>
                    <a:lnB>
                      <a:noFill/>
                    </a:lnB>
                    <a:noFill/>
                  </a:tcPr>
                </a:tc>
                <a:tc>
                  <a:txBody>
                    <a:bodyPr/>
                    <a:lstStyle/>
                    <a:p>
                      <a:pPr>
                        <a:buNone/>
                      </a:pPr>
                      <a:r>
                        <a:rPr lang="en-CH" dirty="0" err="1">
                          <a:effectLst/>
                        </a:rPr>
                        <a:t>torque_sparse</a:t>
                      </a:r>
                      <a:endParaRPr lang="en-CH" dirty="0">
                        <a:effectLst/>
                      </a:endParaRPr>
                    </a:p>
                  </a:txBody>
                  <a:tcPr anchor="ctr">
                    <a:lnL>
                      <a:noFill/>
                    </a:lnL>
                    <a:lnR>
                      <a:noFill/>
                    </a:lnR>
                    <a:lnT>
                      <a:noFill/>
                    </a:lnT>
                    <a:lnB>
                      <a:noFill/>
                    </a:lnB>
                    <a:noFill/>
                  </a:tcPr>
                </a:tc>
                <a:tc>
                  <a:txBody>
                    <a:bodyPr/>
                    <a:lstStyle/>
                    <a:p>
                      <a:pPr>
                        <a:buNone/>
                      </a:pPr>
                      <a:r>
                        <a:rPr lang="en-CH" b="1" dirty="0">
                          <a:effectLst/>
                        </a:rPr>
                        <a:t>Verdict</a:t>
                      </a:r>
                      <a:endParaRPr lang="en-CH" dirty="0">
                        <a:effectLst/>
                      </a:endParaRPr>
                    </a:p>
                  </a:txBody>
                  <a:tcPr anchor="ctr">
                    <a:lnL>
                      <a:noFill/>
                    </a:lnL>
                    <a:lnR>
                      <a:noFill/>
                    </a:lnR>
                    <a:lnT>
                      <a:noFill/>
                    </a:lnT>
                    <a:lnB>
                      <a:noFill/>
                    </a:lnB>
                    <a:noFill/>
                  </a:tcPr>
                </a:tc>
                <a:extLst>
                  <a:ext uri="{0D108BD9-81ED-4DB2-BD59-A6C34878D82A}">
                    <a16:rowId xmlns:a16="http://schemas.microsoft.com/office/drawing/2014/main" val="1517006630"/>
                  </a:ext>
                </a:extLst>
              </a:tr>
              <a:tr h="0">
                <a:tc>
                  <a:txBody>
                    <a:bodyPr/>
                    <a:lstStyle/>
                    <a:p>
                      <a:pPr>
                        <a:buNone/>
                      </a:pPr>
                      <a:r>
                        <a:rPr lang="en-CH">
                          <a:effectLst/>
                        </a:rPr>
                        <a:t>H8a</a:t>
                      </a:r>
                    </a:p>
                  </a:txBody>
                  <a:tcPr anchor="ctr">
                    <a:lnL>
                      <a:noFill/>
                    </a:lnL>
                    <a:lnR>
                      <a:noFill/>
                    </a:lnR>
                    <a:lnT>
                      <a:noFill/>
                    </a:lnT>
                    <a:lnB>
                      <a:noFill/>
                    </a:lnB>
                    <a:noFill/>
                  </a:tcPr>
                </a:tc>
                <a:tc>
                  <a:txBody>
                    <a:bodyPr/>
                    <a:lstStyle/>
                    <a:p>
                      <a:pPr>
                        <a:buNone/>
                      </a:pPr>
                      <a:r>
                        <a:rPr lang="en-CH">
                          <a:effectLst/>
                        </a:rPr>
                        <a:t>Dual unblocks learning</a:t>
                      </a:r>
                    </a:p>
                  </a:txBody>
                  <a:tcPr anchor="ctr">
                    <a:lnL>
                      <a:noFill/>
                    </a:lnL>
                    <a:lnR>
                      <a:noFill/>
                    </a:lnR>
                    <a:lnT>
                      <a:noFill/>
                    </a:lnT>
                    <a:lnB>
                      <a:noFill/>
                    </a:lnB>
                    <a:noFill/>
                  </a:tcPr>
                </a:tc>
                <a:tc>
                  <a:txBody>
                    <a:bodyPr/>
                    <a:lstStyle/>
                    <a:p>
                      <a:pPr>
                        <a:buNone/>
                      </a:pPr>
                      <a:r>
                        <a:rPr lang="en-CH">
                          <a:effectLst/>
                          <a:latin typeface="Courier New" panose="02070309020205020404" pitchFamily="49" charset="0"/>
                        </a:rPr>
                        <a:t>learning_mode=true</a:t>
                      </a:r>
                      <a:r>
                        <a:rPr lang="en-CH">
                          <a:effectLst/>
                        </a:rPr>
                        <a:t> or eval ≥ −41</a:t>
                      </a:r>
                    </a:p>
                  </a:txBody>
                  <a:tcPr anchor="ctr">
                    <a:lnL>
                      <a:noFill/>
                    </a:lnL>
                    <a:lnR>
                      <a:noFill/>
                    </a:lnR>
                    <a:lnT>
                      <a:noFill/>
                    </a:lnT>
                    <a:lnB>
                      <a:noFill/>
                    </a:lnB>
                    <a:noFill/>
                  </a:tcPr>
                </a:tc>
                <a:tc>
                  <a:txBody>
                    <a:bodyPr/>
                    <a:lstStyle/>
                    <a:p>
                      <a:pPr>
                        <a:buNone/>
                      </a:pPr>
                      <a:r>
                        <a:rPr lang="en-CH" b="1">
                          <a:effectLst/>
                        </a:rPr>
                        <a:t>true</a:t>
                      </a:r>
                      <a:r>
                        <a:rPr lang="en-CH">
                          <a:effectLst/>
                        </a:rPr>
                        <a:t>; train best +8.7</a:t>
                      </a:r>
                    </a:p>
                  </a:txBody>
                  <a:tcPr anchor="ctr">
                    <a:lnL>
                      <a:noFill/>
                    </a:lnL>
                    <a:lnR>
                      <a:noFill/>
                    </a:lnR>
                    <a:lnT>
                      <a:noFill/>
                    </a:lnT>
                    <a:lnB>
                      <a:noFill/>
                    </a:lnB>
                    <a:noFill/>
                  </a:tcPr>
                </a:tc>
                <a:tc>
                  <a:txBody>
                    <a:bodyPr/>
                    <a:lstStyle/>
                    <a:p>
                      <a:pPr>
                        <a:buNone/>
                      </a:pPr>
                      <a:r>
                        <a:rPr lang="en-CH" b="1">
                          <a:effectLst/>
                        </a:rPr>
                        <a:t>supported</a:t>
                      </a:r>
                      <a:endParaRPr lang="en-CH">
                        <a:effectLst/>
                      </a:endParaRPr>
                    </a:p>
                  </a:txBody>
                  <a:tcPr anchor="ctr">
                    <a:lnL>
                      <a:noFill/>
                    </a:lnL>
                    <a:lnR>
                      <a:noFill/>
                    </a:lnR>
                    <a:lnT>
                      <a:noFill/>
                    </a:lnT>
                    <a:lnB>
                      <a:noFill/>
                    </a:lnB>
                    <a:noFill/>
                  </a:tcPr>
                </a:tc>
                <a:extLst>
                  <a:ext uri="{0D108BD9-81ED-4DB2-BD59-A6C34878D82A}">
                    <a16:rowId xmlns:a16="http://schemas.microsoft.com/office/drawing/2014/main" val="1777550257"/>
                  </a:ext>
                </a:extLst>
              </a:tr>
              <a:tr h="0">
                <a:tc>
                  <a:txBody>
                    <a:bodyPr/>
                    <a:lstStyle/>
                    <a:p>
                      <a:pPr>
                        <a:buNone/>
                      </a:pPr>
                      <a:r>
                        <a:rPr lang="en-CH">
                          <a:effectLst/>
                        </a:rPr>
                        <a:t>H8b</a:t>
                      </a:r>
                    </a:p>
                  </a:txBody>
                  <a:tcPr anchor="ctr">
                    <a:lnL>
                      <a:noFill/>
                    </a:lnL>
                    <a:lnR>
                      <a:noFill/>
                    </a:lnR>
                    <a:lnT>
                      <a:noFill/>
                    </a:lnT>
                    <a:lnB>
                      <a:noFill/>
                    </a:lnB>
                    <a:noFill/>
                  </a:tcPr>
                </a:tc>
                <a:tc>
                  <a:txBody>
                    <a:bodyPr/>
                    <a:lstStyle/>
                    <a:p>
                      <a:pPr>
                        <a:buNone/>
                      </a:pPr>
                      <a:r>
                        <a:rPr lang="en-CH">
                          <a:effectLst/>
                        </a:rPr>
                        <a:t>KL/η bounded</a:t>
                      </a:r>
                    </a:p>
                  </a:txBody>
                  <a:tcPr anchor="ctr">
                    <a:lnL>
                      <a:noFill/>
                    </a:lnL>
                    <a:lnR>
                      <a:noFill/>
                    </a:lnR>
                    <a:lnT>
                      <a:noFill/>
                    </a:lnT>
                    <a:lnB>
                      <a:noFill/>
                    </a:lnB>
                    <a:noFill/>
                  </a:tcPr>
                </a:tc>
                <a:tc>
                  <a:txBody>
                    <a:bodyPr/>
                    <a:lstStyle/>
                    <a:p>
                      <a:pPr>
                        <a:buNone/>
                      </a:pPr>
                      <a:r>
                        <a:rPr lang="en-CH">
                          <a:effectLst/>
                        </a:rPr>
                        <a:t>KL within ~10× target; no η ramp</a:t>
                      </a:r>
                    </a:p>
                  </a:txBody>
                  <a:tcPr anchor="ctr">
                    <a:lnL>
                      <a:noFill/>
                    </a:lnL>
                    <a:lnR>
                      <a:noFill/>
                    </a:lnR>
                    <a:lnT>
                      <a:noFill/>
                    </a:lnT>
                    <a:lnB>
                      <a:noFill/>
                    </a:lnB>
                    <a:noFill/>
                  </a:tcPr>
                </a:tc>
                <a:tc>
                  <a:txBody>
                    <a:bodyPr/>
                    <a:lstStyle/>
                    <a:p>
                      <a:pPr>
                        <a:buNone/>
                      </a:pPr>
                      <a:r>
                        <a:rPr lang="en-CH">
                          <a:effectLst/>
                        </a:rPr>
                        <a:t>KL 0.021; η 0.788</a:t>
                      </a:r>
                    </a:p>
                  </a:txBody>
                  <a:tcPr anchor="ctr">
                    <a:lnL>
                      <a:noFill/>
                    </a:lnL>
                    <a:lnR>
                      <a:noFill/>
                    </a:lnR>
                    <a:lnT>
                      <a:noFill/>
                    </a:lnT>
                    <a:lnB>
                      <a:noFill/>
                    </a:lnB>
                    <a:noFill/>
                  </a:tcPr>
                </a:tc>
                <a:tc>
                  <a:txBody>
                    <a:bodyPr/>
                    <a:lstStyle/>
                    <a:p>
                      <a:pPr>
                        <a:buNone/>
                      </a:pPr>
                      <a:r>
                        <a:rPr lang="en-CH" b="1">
                          <a:effectLst/>
                        </a:rPr>
                        <a:t>supported</a:t>
                      </a:r>
                      <a:endParaRPr lang="en-CH">
                        <a:effectLst/>
                      </a:endParaRPr>
                    </a:p>
                  </a:txBody>
                  <a:tcPr anchor="ctr">
                    <a:lnL>
                      <a:noFill/>
                    </a:lnL>
                    <a:lnR>
                      <a:noFill/>
                    </a:lnR>
                    <a:lnT>
                      <a:noFill/>
                    </a:lnT>
                    <a:lnB>
                      <a:noFill/>
                    </a:lnB>
                    <a:noFill/>
                  </a:tcPr>
                </a:tc>
                <a:extLst>
                  <a:ext uri="{0D108BD9-81ED-4DB2-BD59-A6C34878D82A}">
                    <a16:rowId xmlns:a16="http://schemas.microsoft.com/office/drawing/2014/main" val="3112754469"/>
                  </a:ext>
                </a:extLst>
              </a:tr>
              <a:tr h="0">
                <a:tc>
                  <a:txBody>
                    <a:bodyPr/>
                    <a:lstStyle/>
                    <a:p>
                      <a:pPr>
                        <a:buNone/>
                      </a:pPr>
                      <a:r>
                        <a:rPr lang="en-CH">
                          <a:effectLst/>
                        </a:rPr>
                        <a:t>H8c</a:t>
                      </a:r>
                    </a:p>
                  </a:txBody>
                  <a:tcPr anchor="ctr">
                    <a:lnL>
                      <a:noFill/>
                    </a:lnL>
                    <a:lnR>
                      <a:noFill/>
                    </a:lnR>
                    <a:lnT>
                      <a:noFill/>
                    </a:lnT>
                    <a:lnB>
                      <a:noFill/>
                    </a:lnB>
                    <a:noFill/>
                  </a:tcPr>
                </a:tc>
                <a:tc>
                  <a:txBody>
                    <a:bodyPr/>
                    <a:lstStyle/>
                    <a:p>
                      <a:pPr>
                        <a:buNone/>
                      </a:pPr>
                      <a:r>
                        <a:rPr lang="en-CH">
                          <a:effectLst/>
                        </a:rPr>
                        <a:t>Escapes saturation</a:t>
                      </a:r>
                    </a:p>
                  </a:txBody>
                  <a:tcPr anchor="ctr">
                    <a:lnL>
                      <a:noFill/>
                    </a:lnL>
                    <a:lnR>
                      <a:noFill/>
                    </a:lnR>
                    <a:lnT>
                      <a:noFill/>
                    </a:lnT>
                    <a:lnB>
                      <a:noFill/>
                    </a:lnB>
                    <a:noFill/>
                  </a:tcPr>
                </a:tc>
                <a:tc>
                  <a:txBody>
                    <a:bodyPr/>
                    <a:lstStyle/>
                    <a:p>
                      <a:pPr>
                        <a:buNone/>
                      </a:pPr>
                      <a:r>
                        <a:rPr lang="en-CH">
                          <a:effectLst/>
                        </a:rPr>
                        <a:t>train sat &lt; 0.9</a:t>
                      </a:r>
                    </a:p>
                  </a:txBody>
                  <a:tcPr anchor="ctr">
                    <a:lnL>
                      <a:noFill/>
                    </a:lnL>
                    <a:lnR>
                      <a:noFill/>
                    </a:lnR>
                    <a:lnT>
                      <a:noFill/>
                    </a:lnT>
                    <a:lnB>
                      <a:noFill/>
                    </a:lnB>
                    <a:noFill/>
                  </a:tcPr>
                </a:tc>
                <a:tc>
                  <a:txBody>
                    <a:bodyPr/>
                    <a:lstStyle/>
                    <a:p>
                      <a:pPr>
                        <a:buNone/>
                      </a:pPr>
                      <a:r>
                        <a:rPr lang="en-CH" b="1">
                          <a:effectLst/>
                        </a:rPr>
                        <a:t>0.951</a:t>
                      </a:r>
                      <a:endParaRPr lang="en-CH">
                        <a:effectLst/>
                      </a:endParaRPr>
                    </a:p>
                  </a:txBody>
                  <a:tcPr anchor="ctr">
                    <a:lnL>
                      <a:noFill/>
                    </a:lnL>
                    <a:lnR>
                      <a:noFill/>
                    </a:lnR>
                    <a:lnT>
                      <a:noFill/>
                    </a:lnT>
                    <a:lnB>
                      <a:noFill/>
                    </a:lnB>
                    <a:noFill/>
                  </a:tcPr>
                </a:tc>
                <a:tc>
                  <a:txBody>
                    <a:bodyPr/>
                    <a:lstStyle/>
                    <a:p>
                      <a:pPr>
                        <a:buNone/>
                      </a:pPr>
                      <a:r>
                        <a:rPr lang="en-CH" b="1">
                          <a:effectLst/>
                        </a:rPr>
                        <a:t>not_supported</a:t>
                      </a:r>
                      <a:endParaRPr lang="en-CH">
                        <a:effectLst/>
                      </a:endParaRPr>
                    </a:p>
                  </a:txBody>
                  <a:tcPr anchor="ctr">
                    <a:lnL>
                      <a:noFill/>
                    </a:lnL>
                    <a:lnR>
                      <a:noFill/>
                    </a:lnR>
                    <a:lnT>
                      <a:noFill/>
                    </a:lnT>
                    <a:lnB>
                      <a:noFill/>
                    </a:lnB>
                    <a:noFill/>
                  </a:tcPr>
                </a:tc>
                <a:extLst>
                  <a:ext uri="{0D108BD9-81ED-4DB2-BD59-A6C34878D82A}">
                    <a16:rowId xmlns:a16="http://schemas.microsoft.com/office/drawing/2014/main" val="2443311999"/>
                  </a:ext>
                </a:extLst>
              </a:tr>
              <a:tr h="0">
                <a:tc>
                  <a:txBody>
                    <a:bodyPr/>
                    <a:lstStyle/>
                    <a:p>
                      <a:pPr>
                        <a:buNone/>
                      </a:pPr>
                      <a:r>
                        <a:rPr lang="en-CH">
                          <a:effectLst/>
                        </a:rPr>
                        <a:t>H8d</a:t>
                      </a:r>
                    </a:p>
                  </a:txBody>
                  <a:tcPr anchor="ctr">
                    <a:lnL>
                      <a:noFill/>
                    </a:lnL>
                    <a:lnR>
                      <a:noFill/>
                    </a:lnR>
                    <a:lnT>
                      <a:noFill/>
                    </a:lnT>
                    <a:lnB>
                      <a:noFill/>
                    </a:lnB>
                    <a:noFill/>
                  </a:tcPr>
                </a:tc>
                <a:tc>
                  <a:txBody>
                    <a:bodyPr/>
                    <a:lstStyle/>
                    <a:p>
                      <a:pPr>
                        <a:buNone/>
                      </a:pPr>
                      <a:r>
                        <a:rPr lang="en-CH">
                          <a:effectLst/>
                        </a:rPr>
                        <a:t>α_μ/α_Σ active</a:t>
                      </a:r>
                    </a:p>
                  </a:txBody>
                  <a:tcPr anchor="ctr">
                    <a:lnL>
                      <a:noFill/>
                    </a:lnL>
                    <a:lnR>
                      <a:noFill/>
                    </a:lnR>
                    <a:lnT>
                      <a:noFill/>
                    </a:lnT>
                    <a:lnB>
                      <a:noFill/>
                    </a:lnB>
                    <a:noFill/>
                  </a:tcPr>
                </a:tc>
                <a:tc>
                  <a:txBody>
                    <a:bodyPr/>
                    <a:lstStyle/>
                    <a:p>
                      <a:pPr>
                        <a:buNone/>
                      </a:pPr>
                      <a:r>
                        <a:rPr lang="en-CH">
                          <a:effectLst/>
                        </a:rPr>
                        <a:t>finite, tracking</a:t>
                      </a:r>
                    </a:p>
                  </a:txBody>
                  <a:tcPr anchor="ctr">
                    <a:lnL>
                      <a:noFill/>
                    </a:lnL>
                    <a:lnR>
                      <a:noFill/>
                    </a:lnR>
                    <a:lnT>
                      <a:noFill/>
                    </a:lnT>
                    <a:lnB>
                      <a:noFill/>
                    </a:lnB>
                    <a:noFill/>
                  </a:tcPr>
                </a:tc>
                <a:tc>
                  <a:txBody>
                    <a:bodyPr/>
                    <a:lstStyle/>
                    <a:p>
                      <a:pPr>
                        <a:buNone/>
                      </a:pPr>
                      <a:r>
                        <a:rPr lang="en-CH">
                          <a:effectLst/>
                        </a:rPr>
                        <a:t>α_μ ~1e-5, α_σ ~0.28</a:t>
                      </a:r>
                    </a:p>
                  </a:txBody>
                  <a:tcPr anchor="ctr">
                    <a:lnL>
                      <a:noFill/>
                    </a:lnL>
                    <a:lnR>
                      <a:noFill/>
                    </a:lnR>
                    <a:lnT>
                      <a:noFill/>
                    </a:lnT>
                    <a:lnB>
                      <a:noFill/>
                    </a:lnB>
                    <a:noFill/>
                  </a:tcPr>
                </a:tc>
                <a:tc>
                  <a:txBody>
                    <a:bodyPr/>
                    <a:lstStyle/>
                    <a:p>
                      <a:pPr>
                        <a:buNone/>
                      </a:pPr>
                      <a:r>
                        <a:rPr lang="en-CH" b="1" dirty="0">
                          <a:effectLst/>
                        </a:rPr>
                        <a:t>supported</a:t>
                      </a:r>
                      <a:endParaRPr lang="en-CH" dirty="0">
                        <a:effectLst/>
                      </a:endParaRPr>
                    </a:p>
                  </a:txBody>
                  <a:tcPr anchor="ctr">
                    <a:lnL>
                      <a:noFill/>
                    </a:lnL>
                    <a:lnR>
                      <a:noFill/>
                    </a:lnR>
                    <a:lnT>
                      <a:noFill/>
                    </a:lnT>
                    <a:lnB>
                      <a:noFill/>
                    </a:lnB>
                    <a:noFill/>
                  </a:tcPr>
                </a:tc>
                <a:extLst>
                  <a:ext uri="{0D108BD9-81ED-4DB2-BD59-A6C34878D82A}">
                    <a16:rowId xmlns:a16="http://schemas.microsoft.com/office/drawing/2014/main" val="2090773632"/>
                  </a:ext>
                </a:extLst>
              </a:tr>
            </a:tbl>
          </a:graphicData>
        </a:graphic>
      </p:graphicFrame>
    </p:spTree>
    <p:extLst>
      <p:ext uri="{BB962C8B-B14F-4D97-AF65-F5344CB8AC3E}">
        <p14:creationId xmlns:p14="http://schemas.microsoft.com/office/powerpoint/2010/main" val="4107518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AD49C-BFBD-5E4B-4F98-1F0AC4660F45}"/>
              </a:ext>
            </a:extLst>
          </p:cNvPr>
          <p:cNvSpPr>
            <a:spLocks noGrp="1"/>
          </p:cNvSpPr>
          <p:nvPr>
            <p:ph type="title"/>
          </p:nvPr>
        </p:nvSpPr>
        <p:spPr/>
        <p:txBody>
          <a:bodyPr/>
          <a:lstStyle/>
          <a:p>
            <a:r>
              <a:rPr lang="en-US" b="1" dirty="0"/>
              <a:t>Conclusion</a:t>
            </a:r>
            <a:endParaRPr lang="en-CH" b="1" dirty="0"/>
          </a:p>
        </p:txBody>
      </p:sp>
      <p:sp>
        <p:nvSpPr>
          <p:cNvPr id="3" name="Text Placeholder 2">
            <a:extLst>
              <a:ext uri="{FF2B5EF4-FFF2-40B4-BE49-F238E27FC236}">
                <a16:creationId xmlns:a16="http://schemas.microsoft.com/office/drawing/2014/main" id="{7ACEE253-538E-4EE7-65B3-55122EECF002}"/>
              </a:ext>
            </a:extLst>
          </p:cNvPr>
          <p:cNvSpPr>
            <a:spLocks noGrp="1"/>
          </p:cNvSpPr>
          <p:nvPr>
            <p:ph type="body" idx="1"/>
          </p:nvPr>
        </p:nvSpPr>
        <p:spPr/>
        <p:txBody>
          <a:bodyPr/>
          <a:lstStyle/>
          <a:p>
            <a:r>
              <a:rPr lang="en-US" dirty="0"/>
              <a:t>Built a 2d ML playground for earth observation under cloud conditions</a:t>
            </a:r>
          </a:p>
          <a:p>
            <a:r>
              <a:rPr lang="en-US" dirty="0"/>
              <a:t>Agents learned strategies under sparse reward.</a:t>
            </a:r>
          </a:p>
          <a:p>
            <a:r>
              <a:rPr lang="en-US" dirty="0"/>
              <a:t>Deterministic baseline has not been beaten by any agentic pilot that was experimented on.</a:t>
            </a:r>
          </a:p>
          <a:p>
            <a:endParaRPr lang="en-US" dirty="0"/>
          </a:p>
          <a:p>
            <a:endParaRPr lang="en-US" dirty="0"/>
          </a:p>
        </p:txBody>
      </p:sp>
      <p:sp>
        <p:nvSpPr>
          <p:cNvPr id="4" name="Slide Number Placeholder 3">
            <a:extLst>
              <a:ext uri="{FF2B5EF4-FFF2-40B4-BE49-F238E27FC236}">
                <a16:creationId xmlns:a16="http://schemas.microsoft.com/office/drawing/2014/main" id="{DAEFD6F0-A609-6EC4-E7DF-103B3C8F517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de-CH" smtClean="0"/>
              <a:t>16</a:t>
            </a:fld>
            <a:endParaRPr lang="de-CH"/>
          </a:p>
        </p:txBody>
      </p:sp>
    </p:spTree>
    <p:extLst>
      <p:ext uri="{BB962C8B-B14F-4D97-AF65-F5344CB8AC3E}">
        <p14:creationId xmlns:p14="http://schemas.microsoft.com/office/powerpoint/2010/main" val="37682886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1C204-A19D-4A78-9DC9-ED9DF155B83E}"/>
              </a:ext>
            </a:extLst>
          </p:cNvPr>
          <p:cNvSpPr>
            <a:spLocks noGrp="1"/>
          </p:cNvSpPr>
          <p:nvPr>
            <p:ph type="title"/>
          </p:nvPr>
        </p:nvSpPr>
        <p:spPr/>
        <p:txBody>
          <a:bodyPr/>
          <a:lstStyle/>
          <a:p>
            <a:r>
              <a:rPr lang="en-US" b="1" dirty="0"/>
              <a:t>Recommendations:</a:t>
            </a:r>
            <a:endParaRPr lang="en-CH" b="1" dirty="0"/>
          </a:p>
        </p:txBody>
      </p:sp>
      <p:sp>
        <p:nvSpPr>
          <p:cNvPr id="3" name="Text Placeholder 2">
            <a:extLst>
              <a:ext uri="{FF2B5EF4-FFF2-40B4-BE49-F238E27FC236}">
                <a16:creationId xmlns:a16="http://schemas.microsoft.com/office/drawing/2014/main" id="{1AF8BD14-8A1A-4EE8-A686-5B1FF59F1592}"/>
              </a:ext>
            </a:extLst>
          </p:cNvPr>
          <p:cNvSpPr>
            <a:spLocks noGrp="1"/>
          </p:cNvSpPr>
          <p:nvPr>
            <p:ph type="body" idx="1"/>
          </p:nvPr>
        </p:nvSpPr>
        <p:spPr/>
        <p:txBody>
          <a:bodyPr/>
          <a:lstStyle/>
          <a:p>
            <a:pPr>
              <a:buFont typeface="Arial" panose="020B0604020202020204" pitchFamily="34" charset="0"/>
              <a:buChar char="•"/>
            </a:pPr>
            <a:r>
              <a:rPr lang="en-US" dirty="0"/>
              <a:t>The optimal action space is to be determined (Torque / vector / target selection) – target selection leverages performance of PD controller for pointing</a:t>
            </a:r>
          </a:p>
          <a:p>
            <a:pPr>
              <a:buFont typeface="Arial" panose="020B0604020202020204" pitchFamily="34" charset="0"/>
              <a:buChar char="•"/>
            </a:pPr>
            <a:r>
              <a:rPr lang="en-US" dirty="0"/>
              <a:t>Continuing research should:</a:t>
            </a:r>
          </a:p>
          <a:p>
            <a:pPr lvl="1"/>
            <a:r>
              <a:rPr lang="en-US" dirty="0"/>
              <a:t>Introduce a Score / KPI, separate from reward. For more informed comparison of baseline vs agent.</a:t>
            </a:r>
          </a:p>
          <a:p>
            <a:pPr lvl="1"/>
            <a:r>
              <a:rPr lang="en-US" dirty="0"/>
              <a:t>Evaluate impact of environment initialization on training </a:t>
            </a:r>
            <a:r>
              <a:rPr lang="en-US" dirty="0" err="1"/>
              <a:t>behaviour</a:t>
            </a:r>
            <a:r>
              <a:rPr lang="en-US" dirty="0"/>
              <a:t>. More robust agents should be found using a diverse set of environments.</a:t>
            </a:r>
          </a:p>
          <a:p>
            <a:pPr lvl="1"/>
            <a:r>
              <a:rPr lang="en-US" dirty="0"/>
              <a:t>Explore the use of real or more realistic synthetic image data.</a:t>
            </a:r>
          </a:p>
          <a:p>
            <a:pPr>
              <a:buFont typeface="Arial" panose="020B0604020202020204" pitchFamily="34" charset="0"/>
              <a:buChar char="•"/>
            </a:pPr>
            <a:r>
              <a:rPr lang="en-US" dirty="0"/>
              <a:t>What resolution should the wide FOV secondary camera have? Scaling Analysis to estimate latency in real-world-application. </a:t>
            </a:r>
          </a:p>
          <a:p>
            <a:pPr lvl="1"/>
            <a:endParaRPr lang="en-CH" dirty="0"/>
          </a:p>
        </p:txBody>
      </p:sp>
      <p:sp>
        <p:nvSpPr>
          <p:cNvPr id="4" name="Slide Number Placeholder 3">
            <a:extLst>
              <a:ext uri="{FF2B5EF4-FFF2-40B4-BE49-F238E27FC236}">
                <a16:creationId xmlns:a16="http://schemas.microsoft.com/office/drawing/2014/main" id="{19E39FD6-5768-7483-3513-F82FACCE27D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de-CH" smtClean="0"/>
              <a:t>17</a:t>
            </a:fld>
            <a:endParaRPr lang="de-CH"/>
          </a:p>
        </p:txBody>
      </p:sp>
    </p:spTree>
    <p:extLst>
      <p:ext uri="{BB962C8B-B14F-4D97-AF65-F5344CB8AC3E}">
        <p14:creationId xmlns:p14="http://schemas.microsoft.com/office/powerpoint/2010/main" val="12856706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CB90F-5DEF-F1B9-9F2C-ED99487FEA0C}"/>
              </a:ext>
            </a:extLst>
          </p:cNvPr>
          <p:cNvSpPr>
            <a:spLocks noGrp="1"/>
          </p:cNvSpPr>
          <p:nvPr>
            <p:ph type="title"/>
          </p:nvPr>
        </p:nvSpPr>
        <p:spPr/>
        <p:txBody>
          <a:bodyPr/>
          <a:lstStyle/>
          <a:p>
            <a:r>
              <a:rPr lang="en-US" b="1" dirty="0"/>
              <a:t>End</a:t>
            </a:r>
            <a:endParaRPr lang="en-CH" b="1" dirty="0"/>
          </a:p>
        </p:txBody>
      </p:sp>
      <p:sp>
        <p:nvSpPr>
          <p:cNvPr id="3" name="Text Placeholder 2">
            <a:extLst>
              <a:ext uri="{FF2B5EF4-FFF2-40B4-BE49-F238E27FC236}">
                <a16:creationId xmlns:a16="http://schemas.microsoft.com/office/drawing/2014/main" id="{95C3712F-D94A-81ED-D3CC-4028A2E68450}"/>
              </a:ext>
            </a:extLst>
          </p:cNvPr>
          <p:cNvSpPr>
            <a:spLocks noGrp="1"/>
          </p:cNvSpPr>
          <p:nvPr>
            <p:ph type="body" idx="1"/>
          </p:nvPr>
        </p:nvSpPr>
        <p:spPr/>
        <p:txBody>
          <a:bodyPr/>
          <a:lstStyle/>
          <a:p>
            <a:pPr>
              <a:buFont typeface="Arial" panose="020B0604020202020204" pitchFamily="34" charset="0"/>
              <a:buChar char="•"/>
            </a:pPr>
            <a:r>
              <a:rPr lang="en-US" dirty="0"/>
              <a:t>Further research / engineering needed</a:t>
            </a:r>
          </a:p>
          <a:p>
            <a:pPr>
              <a:buFont typeface="Arial" panose="020B0604020202020204" pitchFamily="34" charset="0"/>
              <a:buChar char="•"/>
            </a:pPr>
            <a:r>
              <a:rPr lang="en-US" dirty="0"/>
              <a:t>High value autopilot viable, convicted</a:t>
            </a:r>
          </a:p>
          <a:p>
            <a:pPr>
              <a:buFont typeface="Arial" panose="020B0604020202020204" pitchFamily="34" charset="0"/>
              <a:buChar char="•"/>
            </a:pPr>
            <a:r>
              <a:rPr lang="en-US" dirty="0"/>
              <a:t>Interesting work, personal growth</a:t>
            </a:r>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r>
              <a:rPr lang="en-US" dirty="0"/>
              <a:t>Thanks to:</a:t>
            </a:r>
          </a:p>
          <a:p>
            <a:pPr lvl="1">
              <a:buFont typeface="Arial" panose="020B0604020202020204" pitchFamily="34" charset="0"/>
              <a:buChar char="•"/>
            </a:pPr>
            <a:r>
              <a:rPr lang="en-US" dirty="0"/>
              <a:t>Prof Marco Hutter and RSL, Formal Supervision</a:t>
            </a:r>
          </a:p>
          <a:p>
            <a:pPr lvl="1">
              <a:buFont typeface="Arial" panose="020B0604020202020204" pitchFamily="34" charset="0"/>
              <a:buChar char="•"/>
            </a:pPr>
            <a:r>
              <a:rPr lang="en-US" dirty="0"/>
              <a:t>Alejandro Torrents Rufas, Beyond Gravity</a:t>
            </a:r>
            <a:endParaRPr lang="en-CH" dirty="0"/>
          </a:p>
        </p:txBody>
      </p:sp>
      <p:sp>
        <p:nvSpPr>
          <p:cNvPr id="4" name="Slide Number Placeholder 3">
            <a:extLst>
              <a:ext uri="{FF2B5EF4-FFF2-40B4-BE49-F238E27FC236}">
                <a16:creationId xmlns:a16="http://schemas.microsoft.com/office/drawing/2014/main" id="{ADF194CF-E1DF-6FAE-E4DE-1C591D96BF7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de-CH" smtClean="0"/>
              <a:t>18</a:t>
            </a:fld>
            <a:endParaRPr lang="de-CH"/>
          </a:p>
        </p:txBody>
      </p:sp>
    </p:spTree>
    <p:extLst>
      <p:ext uri="{BB962C8B-B14F-4D97-AF65-F5344CB8AC3E}">
        <p14:creationId xmlns:p14="http://schemas.microsoft.com/office/powerpoint/2010/main" val="2043225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A6E8E-EE46-CE00-6BAE-38C04E165C1A}"/>
              </a:ext>
            </a:extLst>
          </p:cNvPr>
          <p:cNvSpPr>
            <a:spLocks noGrp="1"/>
          </p:cNvSpPr>
          <p:nvPr>
            <p:ph type="ctrTitle"/>
          </p:nvPr>
        </p:nvSpPr>
        <p:spPr/>
        <p:txBody>
          <a:bodyPr/>
          <a:lstStyle/>
          <a:p>
            <a:r>
              <a:rPr lang="en-US" dirty="0"/>
              <a:t>BACKUP SLIDES</a:t>
            </a:r>
            <a:endParaRPr lang="en-CH" dirty="0"/>
          </a:p>
        </p:txBody>
      </p:sp>
      <p:sp>
        <p:nvSpPr>
          <p:cNvPr id="3" name="Text Placeholder 2">
            <a:extLst>
              <a:ext uri="{FF2B5EF4-FFF2-40B4-BE49-F238E27FC236}">
                <a16:creationId xmlns:a16="http://schemas.microsoft.com/office/drawing/2014/main" id="{5A1AB4F8-8D0A-00CF-20F4-15BB3F62B737}"/>
              </a:ext>
            </a:extLst>
          </p:cNvPr>
          <p:cNvSpPr>
            <a:spLocks noGrp="1"/>
          </p:cNvSpPr>
          <p:nvPr>
            <p:ph type="body" idx="1"/>
          </p:nvPr>
        </p:nvSpPr>
        <p:spPr/>
        <p:txBody>
          <a:bodyPr/>
          <a:lstStyle/>
          <a:p>
            <a:endParaRPr lang="en-CH" dirty="0"/>
          </a:p>
        </p:txBody>
      </p:sp>
      <p:sp>
        <p:nvSpPr>
          <p:cNvPr id="4" name="Picture Placeholder 3">
            <a:extLst>
              <a:ext uri="{FF2B5EF4-FFF2-40B4-BE49-F238E27FC236}">
                <a16:creationId xmlns:a16="http://schemas.microsoft.com/office/drawing/2014/main" id="{ACC4A967-4D1C-9521-2AE5-D0537FDDBAE4}"/>
              </a:ext>
            </a:extLst>
          </p:cNvPr>
          <p:cNvSpPr>
            <a:spLocks noGrp="1"/>
          </p:cNvSpPr>
          <p:nvPr>
            <p:ph type="pic" idx="2"/>
          </p:nvPr>
        </p:nvSpPr>
        <p:spPr/>
        <p:txBody>
          <a:bodyPr/>
          <a:lstStyle/>
          <a:p>
            <a:endParaRPr lang="en-CH"/>
          </a:p>
        </p:txBody>
      </p:sp>
      <p:sp>
        <p:nvSpPr>
          <p:cNvPr id="5" name="Text Placeholder 4">
            <a:extLst>
              <a:ext uri="{FF2B5EF4-FFF2-40B4-BE49-F238E27FC236}">
                <a16:creationId xmlns:a16="http://schemas.microsoft.com/office/drawing/2014/main" id="{2BDA30E8-CC90-E43C-0F6C-D4028E36B73B}"/>
              </a:ext>
            </a:extLst>
          </p:cNvPr>
          <p:cNvSpPr>
            <a:spLocks noGrp="1"/>
          </p:cNvSpPr>
          <p:nvPr>
            <p:ph type="body" idx="3"/>
          </p:nvPr>
        </p:nvSpPr>
        <p:spPr/>
        <p:txBody>
          <a:bodyPr/>
          <a:lstStyle/>
          <a:p>
            <a:endParaRPr lang="en-CH"/>
          </a:p>
        </p:txBody>
      </p:sp>
    </p:spTree>
    <p:extLst>
      <p:ext uri="{BB962C8B-B14F-4D97-AF65-F5344CB8AC3E}">
        <p14:creationId xmlns:p14="http://schemas.microsoft.com/office/powerpoint/2010/main" val="25977055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25D36-6135-10BB-85C1-4470E2AFE5CC}"/>
              </a:ext>
            </a:extLst>
          </p:cNvPr>
          <p:cNvSpPr>
            <a:spLocks noGrp="1"/>
          </p:cNvSpPr>
          <p:nvPr>
            <p:ph type="title"/>
          </p:nvPr>
        </p:nvSpPr>
        <p:spPr/>
        <p:txBody>
          <a:bodyPr/>
          <a:lstStyle/>
          <a:p>
            <a:r>
              <a:rPr lang="en-US" dirty="0"/>
              <a:t>Methodical learnings</a:t>
            </a:r>
            <a:endParaRPr lang="en-CH" dirty="0"/>
          </a:p>
        </p:txBody>
      </p:sp>
      <p:sp>
        <p:nvSpPr>
          <p:cNvPr id="4" name="Slide Number Placeholder 3">
            <a:extLst>
              <a:ext uri="{FF2B5EF4-FFF2-40B4-BE49-F238E27FC236}">
                <a16:creationId xmlns:a16="http://schemas.microsoft.com/office/drawing/2014/main" id="{2CB99768-6217-BDD7-2AF6-B440F5C42D9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de-CH" smtClean="0"/>
              <a:t>20</a:t>
            </a:fld>
            <a:endParaRPr lang="de-CH"/>
          </a:p>
        </p:txBody>
      </p:sp>
      <p:graphicFrame>
        <p:nvGraphicFramePr>
          <p:cNvPr id="7" name="Table 6">
            <a:extLst>
              <a:ext uri="{FF2B5EF4-FFF2-40B4-BE49-F238E27FC236}">
                <a16:creationId xmlns:a16="http://schemas.microsoft.com/office/drawing/2014/main" id="{205F3736-D208-8FE1-5E67-B0043972CEFE}"/>
              </a:ext>
            </a:extLst>
          </p:cNvPr>
          <p:cNvGraphicFramePr>
            <a:graphicFrameLocks noGrp="1"/>
          </p:cNvGraphicFramePr>
          <p:nvPr>
            <p:extLst>
              <p:ext uri="{D42A27DB-BD31-4B8C-83A1-F6EECF244321}">
                <p14:modId xmlns:p14="http://schemas.microsoft.com/office/powerpoint/2010/main" val="2424760379"/>
              </p:ext>
            </p:extLst>
          </p:nvPr>
        </p:nvGraphicFramePr>
        <p:xfrm>
          <a:off x="245533" y="710351"/>
          <a:ext cx="11768668" cy="5553852"/>
        </p:xfrm>
        <a:graphic>
          <a:graphicData uri="http://schemas.openxmlformats.org/drawingml/2006/table">
            <a:tbl>
              <a:tblPr firstRow="1" bandRow="1">
                <a:tableStyleId>{8CE324DF-E4CA-492E-AE2F-25B033C11A72}</a:tableStyleId>
              </a:tblPr>
              <a:tblGrid>
                <a:gridCol w="2318849">
                  <a:extLst>
                    <a:ext uri="{9D8B030D-6E8A-4147-A177-3AD203B41FA5}">
                      <a16:colId xmlns:a16="http://schemas.microsoft.com/office/drawing/2014/main" val="219420968"/>
                    </a:ext>
                  </a:extLst>
                </a:gridCol>
                <a:gridCol w="3565485">
                  <a:extLst>
                    <a:ext uri="{9D8B030D-6E8A-4147-A177-3AD203B41FA5}">
                      <a16:colId xmlns:a16="http://schemas.microsoft.com/office/drawing/2014/main" val="997543696"/>
                    </a:ext>
                  </a:extLst>
                </a:gridCol>
                <a:gridCol w="2942167">
                  <a:extLst>
                    <a:ext uri="{9D8B030D-6E8A-4147-A177-3AD203B41FA5}">
                      <a16:colId xmlns:a16="http://schemas.microsoft.com/office/drawing/2014/main" val="3420921687"/>
                    </a:ext>
                  </a:extLst>
                </a:gridCol>
                <a:gridCol w="2942167">
                  <a:extLst>
                    <a:ext uri="{9D8B030D-6E8A-4147-A177-3AD203B41FA5}">
                      <a16:colId xmlns:a16="http://schemas.microsoft.com/office/drawing/2014/main" val="3852828413"/>
                    </a:ext>
                  </a:extLst>
                </a:gridCol>
              </a:tblGrid>
              <a:tr h="932886">
                <a:tc>
                  <a:txBody>
                    <a:bodyPr/>
                    <a:lstStyle/>
                    <a:p>
                      <a:r>
                        <a:rPr lang="en-US" dirty="0"/>
                        <a:t>Challenge</a:t>
                      </a:r>
                      <a:endParaRPr lang="en-CH" dirty="0"/>
                    </a:p>
                  </a:txBody>
                  <a:tcPr/>
                </a:tc>
                <a:tc>
                  <a:txBody>
                    <a:bodyPr/>
                    <a:lstStyle/>
                    <a:p>
                      <a:r>
                        <a:rPr lang="en-US" dirty="0"/>
                        <a:t>Specific Example</a:t>
                      </a:r>
                      <a:endParaRPr lang="en-CH" dirty="0"/>
                    </a:p>
                  </a:txBody>
                  <a:tcPr/>
                </a:tc>
                <a:tc>
                  <a:txBody>
                    <a:bodyPr/>
                    <a:lstStyle/>
                    <a:p>
                      <a:r>
                        <a:rPr lang="en-US" dirty="0"/>
                        <a:t>Key Learning</a:t>
                      </a:r>
                      <a:endParaRPr lang="en-CH" dirty="0"/>
                    </a:p>
                  </a:txBody>
                  <a:tcPr/>
                </a:tc>
                <a:tc>
                  <a:txBody>
                    <a:bodyPr/>
                    <a:lstStyle/>
                    <a:p>
                      <a:r>
                        <a:rPr lang="en-US" dirty="0"/>
                        <a:t>Consequence</a:t>
                      </a:r>
                      <a:endParaRPr lang="en-CH" dirty="0"/>
                    </a:p>
                  </a:txBody>
                  <a:tcPr/>
                </a:tc>
                <a:extLst>
                  <a:ext uri="{0D108BD9-81ED-4DB2-BD59-A6C34878D82A}">
                    <a16:rowId xmlns:a16="http://schemas.microsoft.com/office/drawing/2014/main" val="1529584008"/>
                  </a:ext>
                </a:extLst>
              </a:tr>
              <a:tr h="932886">
                <a:tc>
                  <a:txBody>
                    <a:bodyPr/>
                    <a:lstStyle/>
                    <a:p>
                      <a:r>
                        <a:rPr lang="en-US" dirty="0"/>
                        <a:t>Build vs reuse trade-off</a:t>
                      </a:r>
                      <a:endParaRPr lang="en-CH" dirty="0"/>
                    </a:p>
                  </a:txBody>
                  <a:tcPr/>
                </a:tc>
                <a:tc>
                  <a:txBody>
                    <a:bodyPr/>
                    <a:lstStyle/>
                    <a:p>
                      <a:r>
                        <a:rPr lang="en-US" dirty="0"/>
                        <a:t>Simulation building takes time, complexity for 2d sim underestimated</a:t>
                      </a:r>
                    </a:p>
                    <a:p>
                      <a:r>
                        <a:rPr lang="en-US" dirty="0"/>
                        <a:t>(5 Weeks Sim build vs 1 Week ML)</a:t>
                      </a:r>
                      <a:endParaRPr lang="en-CH" dirty="0"/>
                    </a:p>
                    <a:p>
                      <a:endParaRPr lang="en-CH" dirty="0"/>
                    </a:p>
                  </a:txBody>
                  <a:tcPr/>
                </a:tc>
                <a:tc>
                  <a:txBody>
                    <a:bodyPr/>
                    <a:lstStyle/>
                    <a:p>
                      <a:r>
                        <a:rPr lang="en-US" dirty="0"/>
                        <a:t>Find a good match from existing software libraries</a:t>
                      </a:r>
                      <a:endParaRPr lang="en-CH" dirty="0"/>
                    </a:p>
                  </a:txBody>
                  <a:tcPr/>
                </a:tc>
                <a:tc>
                  <a:txBody>
                    <a:bodyPr/>
                    <a:lstStyle/>
                    <a:p>
                      <a:r>
                        <a:rPr lang="en-US" dirty="0"/>
                        <a:t>Invest in tech-stack research before start</a:t>
                      </a:r>
                      <a:endParaRPr lang="en-CH" dirty="0"/>
                    </a:p>
                  </a:txBody>
                  <a:tcPr/>
                </a:tc>
                <a:extLst>
                  <a:ext uri="{0D108BD9-81ED-4DB2-BD59-A6C34878D82A}">
                    <a16:rowId xmlns:a16="http://schemas.microsoft.com/office/drawing/2014/main" val="3959078872"/>
                  </a:ext>
                </a:extLst>
              </a:tr>
              <a:tr h="932886">
                <a:tc>
                  <a:txBody>
                    <a:bodyPr/>
                    <a:lstStyle/>
                    <a:p>
                      <a:r>
                        <a:rPr lang="en-US" dirty="0"/>
                        <a:t>ML implementation correctness</a:t>
                      </a:r>
                      <a:endParaRPr lang="en-CH" dirty="0"/>
                    </a:p>
                  </a:txBody>
                  <a:tcPr/>
                </a:tc>
                <a:tc>
                  <a:txBody>
                    <a:bodyPr/>
                    <a:lstStyle/>
                    <a:p>
                      <a:r>
                        <a:rPr lang="en-US" dirty="0"/>
                        <a:t>MPO dual learning bug</a:t>
                      </a:r>
                      <a:endParaRPr lang="en-CH" dirty="0"/>
                    </a:p>
                  </a:txBody>
                  <a:tcPr/>
                </a:tc>
                <a:tc>
                  <a:txBody>
                    <a:bodyPr/>
                    <a:lstStyle/>
                    <a:p>
                      <a:r>
                        <a:rPr lang="en-US" dirty="0"/>
                        <a:t>Don’t assume implementation correctness</a:t>
                      </a:r>
                      <a:endParaRPr lang="en-CH"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Check the gradient Flow and each intermediate result against architecture from e.g. </a:t>
                      </a:r>
                      <a:r>
                        <a:rPr lang="en-US" dirty="0" err="1"/>
                        <a:t>arXiv</a:t>
                      </a:r>
                      <a:r>
                        <a:rPr lang="en-US" dirty="0"/>
                        <a:t> Paper</a:t>
                      </a:r>
                      <a:endParaRPr lang="en-CH" dirty="0"/>
                    </a:p>
                    <a:p>
                      <a:endParaRPr lang="en-CH" dirty="0"/>
                    </a:p>
                  </a:txBody>
                  <a:tcPr/>
                </a:tc>
                <a:extLst>
                  <a:ext uri="{0D108BD9-81ED-4DB2-BD59-A6C34878D82A}">
                    <a16:rowId xmlns:a16="http://schemas.microsoft.com/office/drawing/2014/main" val="98202236"/>
                  </a:ext>
                </a:extLst>
              </a:tr>
              <a:tr h="932886">
                <a:tc>
                  <a:txBody>
                    <a:bodyPr/>
                    <a:lstStyle/>
                    <a:p>
                      <a:r>
                        <a:rPr lang="en-US" dirty="0"/>
                        <a:t>Uncertainty about “solvability” of the problem</a:t>
                      </a:r>
                      <a:endParaRPr lang="en-CH" dirty="0"/>
                    </a:p>
                  </a:txBody>
                  <a:tcPr/>
                </a:tc>
                <a:tc>
                  <a:txBody>
                    <a:bodyPr/>
                    <a:lstStyle/>
                    <a:p>
                      <a:r>
                        <a:rPr lang="en-US" dirty="0"/>
                        <a:t>Torque action –</a:t>
                      </a:r>
                    </a:p>
                    <a:p>
                      <a:r>
                        <a:rPr lang="en-US" dirty="0"/>
                        <a:t>Vector action –</a:t>
                      </a:r>
                    </a:p>
                    <a:p>
                      <a:r>
                        <a:rPr lang="en-US" dirty="0"/>
                        <a:t>Target selection?</a:t>
                      </a:r>
                      <a:endParaRPr lang="en-CH" dirty="0"/>
                    </a:p>
                  </a:txBody>
                  <a:tcPr/>
                </a:tc>
                <a:tc>
                  <a:txBody>
                    <a:bodyPr/>
                    <a:lstStyle/>
                    <a:p>
                      <a:r>
                        <a:rPr lang="en-US" dirty="0"/>
                        <a:t>Find simplest problem representation that can still yield high value solution</a:t>
                      </a:r>
                      <a:endParaRPr lang="en-CH" dirty="0"/>
                    </a:p>
                  </a:txBody>
                  <a:tcPr/>
                </a:tc>
                <a:tc>
                  <a:txBody>
                    <a:bodyPr/>
                    <a:lstStyle/>
                    <a:p>
                      <a:r>
                        <a:rPr lang="en-US" dirty="0"/>
                        <a:t>Don’t “learn” only because it is possible. PD controller may be completely fine…</a:t>
                      </a:r>
                      <a:endParaRPr lang="en-CH" dirty="0"/>
                    </a:p>
                  </a:txBody>
                  <a:tcPr/>
                </a:tc>
                <a:extLst>
                  <a:ext uri="{0D108BD9-81ED-4DB2-BD59-A6C34878D82A}">
                    <a16:rowId xmlns:a16="http://schemas.microsoft.com/office/drawing/2014/main" val="196183990"/>
                  </a:ext>
                </a:extLst>
              </a:tr>
              <a:tr h="932886">
                <a:tc>
                  <a:txBody>
                    <a:bodyPr/>
                    <a:lstStyle/>
                    <a:p>
                      <a:r>
                        <a:rPr lang="en-US" dirty="0"/>
                        <a:t>Hyperparameter optimization, solution finding</a:t>
                      </a:r>
                      <a:endParaRPr lang="en-CH" dirty="0"/>
                    </a:p>
                  </a:txBody>
                  <a:tcPr/>
                </a:tc>
                <a:tc>
                  <a:txBody>
                    <a:bodyPr/>
                    <a:lstStyle/>
                    <a:p>
                      <a:r>
                        <a:rPr lang="en-US" dirty="0"/>
                        <a:t>MPO does not learn / produce something meaningful</a:t>
                      </a:r>
                      <a:endParaRPr lang="en-CH" dirty="0"/>
                    </a:p>
                  </a:txBody>
                  <a:tcPr/>
                </a:tc>
                <a:tc>
                  <a:txBody>
                    <a:bodyPr/>
                    <a:lstStyle/>
                    <a:p>
                      <a:r>
                        <a:rPr lang="en-US" dirty="0"/>
                        <a:t>Fixed A/B test (keep everything still, use Algorithm that is simple and should work)</a:t>
                      </a:r>
                      <a:endParaRPr lang="en-CH" dirty="0"/>
                    </a:p>
                  </a:txBody>
                  <a:tcPr/>
                </a:tc>
                <a:tc>
                  <a:txBody>
                    <a:bodyPr/>
                    <a:lstStyle/>
                    <a:p>
                      <a:r>
                        <a:rPr lang="en-US" dirty="0"/>
                        <a:t>Best workflow (for me):</a:t>
                      </a:r>
                      <a:br>
                        <a:rPr lang="en-US" dirty="0"/>
                      </a:br>
                      <a:r>
                        <a:rPr lang="en-US" dirty="0"/>
                        <a:t>0. Research</a:t>
                      </a:r>
                      <a:br>
                        <a:rPr lang="en-US" dirty="0"/>
                      </a:br>
                      <a:r>
                        <a:rPr lang="en-US" dirty="0"/>
                        <a:t>1. design Experiment</a:t>
                      </a:r>
                    </a:p>
                    <a:p>
                      <a:r>
                        <a:rPr lang="en-US" dirty="0"/>
                        <a:t>2. Build</a:t>
                      </a:r>
                    </a:p>
                    <a:p>
                      <a:r>
                        <a:rPr lang="en-US" dirty="0"/>
                        <a:t>3. Run</a:t>
                      </a:r>
                    </a:p>
                    <a:p>
                      <a:r>
                        <a:rPr lang="en-US" dirty="0"/>
                        <a:t>4. Evaluate</a:t>
                      </a:r>
                    </a:p>
                    <a:p>
                      <a:r>
                        <a:rPr lang="en-US" dirty="0"/>
                        <a:t>5. document</a:t>
                      </a:r>
                    </a:p>
                    <a:p>
                      <a:endParaRPr lang="en-CH" dirty="0"/>
                    </a:p>
                  </a:txBody>
                  <a:tcPr/>
                </a:tc>
                <a:extLst>
                  <a:ext uri="{0D108BD9-81ED-4DB2-BD59-A6C34878D82A}">
                    <a16:rowId xmlns:a16="http://schemas.microsoft.com/office/drawing/2014/main" val="2428485084"/>
                  </a:ext>
                </a:extLst>
              </a:tr>
            </a:tbl>
          </a:graphicData>
        </a:graphic>
      </p:graphicFrame>
    </p:spTree>
    <p:extLst>
      <p:ext uri="{BB962C8B-B14F-4D97-AF65-F5344CB8AC3E}">
        <p14:creationId xmlns:p14="http://schemas.microsoft.com/office/powerpoint/2010/main" val="16143616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FB7DF-9590-EEAB-F0B5-38251F474AD8}"/>
              </a:ext>
            </a:extLst>
          </p:cNvPr>
          <p:cNvSpPr>
            <a:spLocks noGrp="1"/>
          </p:cNvSpPr>
          <p:nvPr>
            <p:ph type="title"/>
          </p:nvPr>
        </p:nvSpPr>
        <p:spPr/>
        <p:txBody>
          <a:bodyPr/>
          <a:lstStyle/>
          <a:p>
            <a:r>
              <a:rPr lang="en-GB" dirty="0"/>
              <a:t>Simplifications</a:t>
            </a:r>
          </a:p>
        </p:txBody>
      </p:sp>
      <p:sp>
        <p:nvSpPr>
          <p:cNvPr id="5" name="Slide Number Placeholder 4">
            <a:extLst>
              <a:ext uri="{FF2B5EF4-FFF2-40B4-BE49-F238E27FC236}">
                <a16:creationId xmlns:a16="http://schemas.microsoft.com/office/drawing/2014/main" id="{8CE415E8-C38A-680F-D2BC-8CEF648C4C71}"/>
              </a:ext>
            </a:extLst>
          </p:cNvPr>
          <p:cNvSpPr>
            <a:spLocks noGrp="1"/>
          </p:cNvSpPr>
          <p:nvPr>
            <p:ph type="sldNum" idx="12"/>
          </p:nvPr>
        </p:nvSpPr>
        <p:spPr/>
        <p:txBody>
          <a:bodyPr/>
          <a:lstStyle/>
          <a:p>
            <a:fld id="{42C4200E-C0B8-49E1-BC7A-2B8B2D8DA90B}" type="slidenum">
              <a:rPr lang="en-GB" smtClean="0"/>
              <a:pPr/>
              <a:t>21</a:t>
            </a:fld>
            <a:endParaRPr lang="en-GB" dirty="0"/>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6A5E3E3A-71BF-AF53-93E5-D74B89E024AD}"/>
                  </a:ext>
                </a:extLst>
              </p:cNvPr>
              <p:cNvGraphicFramePr>
                <a:graphicFrameLocks noGrp="1"/>
              </p:cNvGraphicFramePr>
              <p:nvPr>
                <p:extLst>
                  <p:ext uri="{D42A27DB-BD31-4B8C-83A1-F6EECF244321}">
                    <p14:modId xmlns:p14="http://schemas.microsoft.com/office/powerpoint/2010/main" val="3330176185"/>
                  </p:ext>
                </p:extLst>
              </p:nvPr>
            </p:nvGraphicFramePr>
            <p:xfrm>
              <a:off x="223309" y="995680"/>
              <a:ext cx="11745382" cy="5095836"/>
            </p:xfrm>
            <a:graphic>
              <a:graphicData uri="http://schemas.openxmlformats.org/drawingml/2006/table">
                <a:tbl>
                  <a:tblPr firstRow="1" bandRow="1">
                    <a:tableStyleId>{8CE324DF-E4CA-492E-AE2F-25B033C11A72}</a:tableStyleId>
                  </a:tblPr>
                  <a:tblGrid>
                    <a:gridCol w="2486025">
                      <a:extLst>
                        <a:ext uri="{9D8B030D-6E8A-4147-A177-3AD203B41FA5}">
                          <a16:colId xmlns:a16="http://schemas.microsoft.com/office/drawing/2014/main" val="732531482"/>
                        </a:ext>
                      </a:extLst>
                    </a:gridCol>
                    <a:gridCol w="3691467">
                      <a:extLst>
                        <a:ext uri="{9D8B030D-6E8A-4147-A177-3AD203B41FA5}">
                          <a16:colId xmlns:a16="http://schemas.microsoft.com/office/drawing/2014/main" val="3164204260"/>
                        </a:ext>
                      </a:extLst>
                    </a:gridCol>
                    <a:gridCol w="2698484">
                      <a:extLst>
                        <a:ext uri="{9D8B030D-6E8A-4147-A177-3AD203B41FA5}">
                          <a16:colId xmlns:a16="http://schemas.microsoft.com/office/drawing/2014/main" val="3039810392"/>
                        </a:ext>
                      </a:extLst>
                    </a:gridCol>
                    <a:gridCol w="2869406">
                      <a:extLst>
                        <a:ext uri="{9D8B030D-6E8A-4147-A177-3AD203B41FA5}">
                          <a16:colId xmlns:a16="http://schemas.microsoft.com/office/drawing/2014/main" val="1192846001"/>
                        </a:ext>
                      </a:extLst>
                    </a:gridCol>
                  </a:tblGrid>
                  <a:tr h="454409">
                    <a:tc>
                      <a:txBody>
                        <a:bodyPr/>
                        <a:lstStyle/>
                        <a:p>
                          <a:r>
                            <a:rPr lang="en-GB" b="1" dirty="0">
                              <a:solidFill>
                                <a:srgbClr val="327FEF"/>
                              </a:solidFill>
                            </a:rPr>
                            <a:t>Simplification</a:t>
                          </a:r>
                        </a:p>
                      </a:txBody>
                      <a:tcPr/>
                    </a:tc>
                    <a:tc>
                      <a:txBody>
                        <a:bodyPr/>
                        <a:lstStyle/>
                        <a:p>
                          <a:r>
                            <a:rPr lang="en-GB" b="1" dirty="0">
                              <a:solidFill>
                                <a:srgbClr val="327FEF"/>
                              </a:solidFill>
                            </a:rPr>
                            <a:t>Reasoning</a:t>
                          </a:r>
                        </a:p>
                      </a:txBody>
                      <a:tcPr/>
                    </a:tc>
                    <a:tc>
                      <a:txBody>
                        <a:bodyPr/>
                        <a:lstStyle/>
                        <a:p>
                          <a:r>
                            <a:rPr lang="en-GB" b="1" dirty="0">
                              <a:solidFill>
                                <a:srgbClr val="327FEF"/>
                              </a:solidFill>
                            </a:rPr>
                            <a:t>Risk</a:t>
                          </a:r>
                        </a:p>
                      </a:txBody>
                      <a:tcPr/>
                    </a:tc>
                    <a:tc>
                      <a:txBody>
                        <a:bodyPr/>
                        <a:lstStyle/>
                        <a:p>
                          <a:r>
                            <a:rPr lang="en-GB" b="1" dirty="0">
                              <a:solidFill>
                                <a:srgbClr val="327FEF"/>
                              </a:solidFill>
                            </a:rPr>
                            <a:t>Mitigation</a:t>
                          </a:r>
                        </a:p>
                      </a:txBody>
                      <a:tcPr/>
                    </a:tc>
                    <a:extLst>
                      <a:ext uri="{0D108BD9-81ED-4DB2-BD59-A6C34878D82A}">
                        <a16:rowId xmlns:a16="http://schemas.microsoft.com/office/drawing/2014/main" val="1803864316"/>
                      </a:ext>
                    </a:extLst>
                  </a:tr>
                  <a:tr h="634927">
                    <a:tc>
                      <a:txBody>
                        <a:bodyPr/>
                        <a:lstStyle/>
                        <a:p>
                          <a:r>
                            <a:rPr lang="en-GB" b="1" dirty="0"/>
                            <a:t>2d Model</a:t>
                          </a:r>
                        </a:p>
                      </a:txBody>
                      <a:tcPr/>
                    </a:tc>
                    <a:tc>
                      <a:txBody>
                        <a:bodyPr/>
                        <a:lstStyle/>
                        <a:p>
                          <a:r>
                            <a:rPr lang="en-GB" dirty="0"/>
                            <a:t>- Fast RL iterations</a:t>
                          </a:r>
                        </a:p>
                        <a:p>
                          <a:r>
                            <a:rPr lang="en-GB" dirty="0"/>
                            <a:t>- Concept validation first</a:t>
                          </a:r>
                        </a:p>
                      </a:txBody>
                      <a:tcPr/>
                    </a:tc>
                    <a:tc>
                      <a:txBody>
                        <a:bodyPr/>
                        <a:lstStyle/>
                        <a:p>
                          <a:r>
                            <a:rPr lang="en-GB" dirty="0"/>
                            <a:t>- Computational complexity in 3d too big for RWA</a:t>
                          </a:r>
                        </a:p>
                      </a:txBody>
                      <a:tcPr/>
                    </a:tc>
                    <a:tc>
                      <a:txBody>
                        <a:bodyPr/>
                        <a:lstStyle/>
                        <a:p>
                          <a:r>
                            <a:rPr lang="en-GB" dirty="0"/>
                            <a:t>- Aim for simple model-architecture</a:t>
                          </a:r>
                        </a:p>
                      </a:txBody>
                      <a:tcPr/>
                    </a:tc>
                    <a:extLst>
                      <a:ext uri="{0D108BD9-81ED-4DB2-BD59-A6C34878D82A}">
                        <a16:rowId xmlns:a16="http://schemas.microsoft.com/office/drawing/2014/main" val="271853405"/>
                      </a:ext>
                    </a:extLst>
                  </a:tr>
                  <a:tr h="454409">
                    <a:tc>
                      <a:txBody>
                        <a:bodyPr/>
                        <a:lstStyle/>
                        <a:p>
                          <a:r>
                            <a:rPr lang="en-GB" b="1" dirty="0"/>
                            <a:t>Direct action input</a:t>
                          </a:r>
                        </a:p>
                      </a:txBody>
                      <a:tcPr/>
                    </a:tc>
                    <a:tc>
                      <a:txBody>
                        <a:bodyPr/>
                        <a:lstStyle/>
                        <a:p>
                          <a:r>
                            <a:rPr lang="en-GB" dirty="0"/>
                            <a:t>- Allows simple ML integration (continuous variable), vs “Command interface”</a:t>
                          </a:r>
                        </a:p>
                      </a:txBody>
                      <a:tcPr/>
                    </a:tc>
                    <a:tc>
                      <a:txBody>
                        <a:bodyPr/>
                        <a:lstStyle/>
                        <a:p>
                          <a:r>
                            <a:rPr lang="en-GB" dirty="0"/>
                            <a:t>- Manoeuvre planning more complex in RWA</a:t>
                          </a:r>
                        </a:p>
                      </a:txBody>
                      <a:tcPr/>
                    </a:tc>
                    <a:tc>
                      <a:txBody>
                        <a:bodyPr/>
                        <a:lstStyle/>
                        <a:p>
                          <a:pPr marL="285750" indent="-285750">
                            <a:buFontTx/>
                            <a:buChar char="-"/>
                          </a:pPr>
                          <a:r>
                            <a:rPr lang="en-GB" dirty="0"/>
                            <a:t>Model as “agent requests from OBC”</a:t>
                          </a:r>
                        </a:p>
                        <a:p>
                          <a:pPr marL="285750" indent="-285750">
                            <a:buFontTx/>
                            <a:buChar char="-"/>
                          </a:pPr>
                          <a:r>
                            <a:rPr lang="en-GB" dirty="0"/>
                            <a:t>Model safety methods per CI</a:t>
                          </a:r>
                        </a:p>
                      </a:txBody>
                      <a:tcPr/>
                    </a:tc>
                    <a:extLst>
                      <a:ext uri="{0D108BD9-81ED-4DB2-BD59-A6C34878D82A}">
                        <a16:rowId xmlns:a16="http://schemas.microsoft.com/office/drawing/2014/main" val="2308255672"/>
                      </a:ext>
                    </a:extLst>
                  </a:tr>
                  <a:tr h="454409">
                    <a:tc>
                      <a:txBody>
                        <a:bodyPr/>
                        <a:lstStyle/>
                        <a:p>
                          <a:r>
                            <a:rPr lang="en-GB" b="1" dirty="0"/>
                            <a:t>No sensor noise</a:t>
                          </a:r>
                        </a:p>
                      </a:txBody>
                      <a:tcPr/>
                    </a:tc>
                    <a:tc>
                      <a:txBody>
                        <a:bodyPr/>
                        <a:lstStyle/>
                        <a:p>
                          <a:pPr marL="285750" indent="-285750">
                            <a:buFontTx/>
                            <a:buChar char="-"/>
                          </a:pPr>
                          <a:r>
                            <a:rPr lang="en-GB" dirty="0"/>
                            <a:t>Additional overhead to model - little proof of concept gain</a:t>
                          </a:r>
                        </a:p>
                      </a:txBody>
                      <a:tcPr/>
                    </a:tc>
                    <a:tc>
                      <a:txBody>
                        <a:bodyPr/>
                        <a:lstStyle/>
                        <a:p>
                          <a:pPr marL="285750" indent="-285750">
                            <a:buFontTx/>
                            <a:buChar char="-"/>
                          </a:pPr>
                          <a:r>
                            <a:rPr lang="en-GB" dirty="0"/>
                            <a:t>Overfit to sat model</a:t>
                          </a:r>
                        </a:p>
                        <a:p>
                          <a:pPr marL="285750" indent="-285750">
                            <a:buFontTx/>
                            <a:buChar char="-"/>
                          </a:pPr>
                          <a:r>
                            <a:rPr lang="en-GB" dirty="0"/>
                            <a:t>RWA: </a:t>
                          </a:r>
                          <a14:m>
                            <m:oMath xmlns:m="http://schemas.openxmlformats.org/officeDocument/2006/math">
                              <m:r>
                                <a:rPr lang="en-US" b="0" smtClean="0">
                                  <a:latin typeface="Cambria Math" panose="02040503050406030204" pitchFamily="18" charset="0"/>
                                </a:rPr>
                                <m:t>𝑠𝑎</m:t>
                              </m:r>
                              <m:sSub>
                                <m:sSubPr>
                                  <m:ctrlPr>
                                    <a:rPr lang="en-US" b="0" i="1" smtClean="0">
                                      <a:latin typeface="Cambria Math" panose="02040503050406030204" pitchFamily="18" charset="0"/>
                                    </a:rPr>
                                  </m:ctrlPr>
                                </m:sSubPr>
                                <m:e>
                                  <m:r>
                                    <a:rPr lang="en-US" b="0" smtClean="0">
                                      <a:latin typeface="Cambria Math" panose="02040503050406030204" pitchFamily="18" charset="0"/>
                                    </a:rPr>
                                    <m:t>𝑡</m:t>
                                  </m:r>
                                </m:e>
                                <m:sub>
                                  <m:r>
                                    <a:rPr lang="en-US" b="0" smtClean="0">
                                      <a:latin typeface="Cambria Math" panose="02040503050406030204" pitchFamily="18" charset="0"/>
                                    </a:rPr>
                                    <m:t>1</m:t>
                                  </m:r>
                                </m:sub>
                              </m:sSub>
                              <m:r>
                                <a:rPr lang="en-US" b="0" smtClean="0">
                                  <a:latin typeface="Cambria Math" panose="02040503050406030204" pitchFamily="18" charset="0"/>
                                </a:rPr>
                                <m:t>≠</m:t>
                              </m:r>
                              <m:r>
                                <a:rPr lang="en-US" b="0" smtClean="0">
                                  <a:latin typeface="Cambria Math" panose="02040503050406030204" pitchFamily="18" charset="0"/>
                                </a:rPr>
                                <m:t>𝑠𝑎</m:t>
                              </m:r>
                              <m:sSub>
                                <m:sSubPr>
                                  <m:ctrlPr>
                                    <a:rPr lang="en-US" b="0" i="1" smtClean="0">
                                      <a:latin typeface="Cambria Math" panose="02040503050406030204" pitchFamily="18" charset="0"/>
                                    </a:rPr>
                                  </m:ctrlPr>
                                </m:sSubPr>
                                <m:e>
                                  <m:r>
                                    <a:rPr lang="en-US" b="0" smtClean="0">
                                      <a:latin typeface="Cambria Math" panose="02040503050406030204" pitchFamily="18" charset="0"/>
                                    </a:rPr>
                                    <m:t>𝑡</m:t>
                                  </m:r>
                                </m:e>
                                <m:sub>
                                  <m:r>
                                    <a:rPr lang="en-US" b="0" smtClean="0">
                                      <a:latin typeface="Cambria Math" panose="02040503050406030204" pitchFamily="18" charset="0"/>
                                    </a:rPr>
                                    <m:t>2</m:t>
                                  </m:r>
                                </m:sub>
                              </m:sSub>
                            </m:oMath>
                          </a14:m>
                          <a:endParaRPr lang="en-US" b="0" dirty="0"/>
                        </a:p>
                        <a:p>
                          <a:pPr marL="285750" indent="-285750">
                            <a:buFontTx/>
                            <a:buChar char="-"/>
                          </a:pPr>
                          <a:endParaRPr lang="en-GB" dirty="0"/>
                        </a:p>
                      </a:txBody>
                      <a:tcPr/>
                    </a:tc>
                    <a:tc>
                      <a:txBody>
                        <a:bodyPr/>
                        <a:lstStyle/>
                        <a:p>
                          <a:r>
                            <a:rPr lang="en-GB" dirty="0"/>
                            <a:t>- Select few randomness injections</a:t>
                          </a:r>
                        </a:p>
                      </a:txBody>
                      <a:tcPr/>
                    </a:tc>
                    <a:extLst>
                      <a:ext uri="{0D108BD9-81ED-4DB2-BD59-A6C34878D82A}">
                        <a16:rowId xmlns:a16="http://schemas.microsoft.com/office/drawing/2014/main" val="3736707174"/>
                      </a:ext>
                    </a:extLst>
                  </a:tr>
                  <a:tr h="454409">
                    <a:tc>
                      <a:txBody>
                        <a:bodyPr/>
                        <a:lstStyle/>
                        <a:p>
                          <a:r>
                            <a:rPr lang="en-GB" b="1" dirty="0"/>
                            <a:t>Simplified Cloud model, static, discretized to 1km</a:t>
                          </a:r>
                        </a:p>
                      </a:txBody>
                      <a:tcPr/>
                    </a:tc>
                    <a:tc>
                      <a:txBody>
                        <a:bodyPr/>
                        <a:lstStyle/>
                        <a:p>
                          <a:pPr marL="285750" indent="-285750">
                            <a:buFontTx/>
                            <a:buChar char="-"/>
                          </a:pPr>
                          <a:r>
                            <a:rPr lang="en-GB" dirty="0"/>
                            <a:t>Lower computational and modelling complexity</a:t>
                          </a:r>
                        </a:p>
                        <a:p>
                          <a:pPr marL="285750" indent="-285750">
                            <a:buFontTx/>
                            <a:buChar char="-"/>
                          </a:pPr>
                          <a14:m>
                            <m:oMath xmlns:m="http://schemas.openxmlformats.org/officeDocument/2006/math">
                              <m:sSub>
                                <m:sSubPr>
                                  <m:ctrlPr>
                                    <a:rPr lang="en-US" b="0" i="1" smtClean="0">
                                      <a:latin typeface="Cambria Math" panose="02040503050406030204" pitchFamily="18" charset="0"/>
                                    </a:rPr>
                                  </m:ctrlPr>
                                </m:sSubPr>
                                <m:e>
                                  <m:r>
                                    <a:rPr lang="en-US" b="0" smtClean="0">
                                      <a:latin typeface="Cambria Math" panose="02040503050406030204" pitchFamily="18" charset="0"/>
                                    </a:rPr>
                                    <m:t>𝑣</m:t>
                                  </m:r>
                                </m:e>
                                <m:sub>
                                  <m:r>
                                    <a:rPr lang="en-US" b="0" smtClean="0">
                                      <a:latin typeface="Cambria Math" panose="02040503050406030204" pitchFamily="18" charset="0"/>
                                    </a:rPr>
                                    <m:t>𝑐𝑙𝑜𝑢𝑑</m:t>
                                  </m:r>
                                </m:sub>
                              </m:sSub>
                              <m:r>
                                <a:rPr lang="en-US" b="0" smtClean="0">
                                  <a:latin typeface="Cambria Math" panose="02040503050406030204" pitchFamily="18" charset="0"/>
                                </a:rPr>
                                <m:t>≪</m:t>
                              </m:r>
                              <m:sSub>
                                <m:sSubPr>
                                  <m:ctrlPr>
                                    <a:rPr lang="en-US" b="0" i="1" smtClean="0">
                                      <a:latin typeface="Cambria Math" panose="02040503050406030204" pitchFamily="18" charset="0"/>
                                    </a:rPr>
                                  </m:ctrlPr>
                                </m:sSubPr>
                                <m:e>
                                  <m:r>
                                    <a:rPr lang="en-US" b="0" smtClean="0">
                                      <a:latin typeface="Cambria Math" panose="02040503050406030204" pitchFamily="18" charset="0"/>
                                    </a:rPr>
                                    <m:t>𝑣</m:t>
                                  </m:r>
                                </m:e>
                                <m:sub>
                                  <m:r>
                                    <a:rPr lang="en-US" b="0" smtClean="0">
                                      <a:latin typeface="Cambria Math" panose="02040503050406030204" pitchFamily="18" charset="0"/>
                                    </a:rPr>
                                    <m:t>𝑠𝑎𝑡</m:t>
                                  </m:r>
                                </m:sub>
                              </m:sSub>
                            </m:oMath>
                          </a14:m>
                          <a:endParaRPr lang="en-US" b="0" dirty="0"/>
                        </a:p>
                        <a:p>
                          <a:pPr marL="285750" indent="-285750">
                            <a:buFontTx/>
                            <a:buChar char="-"/>
                          </a:pPr>
                          <a:endParaRPr lang="en-GB" dirty="0"/>
                        </a:p>
                        <a:p>
                          <a:pPr marL="285750" indent="-285750">
                            <a:buFontTx/>
                            <a:buChar char="-"/>
                          </a:pPr>
                          <a:endParaRPr lang="en-GB" dirty="0"/>
                        </a:p>
                      </a:txBody>
                      <a:tcPr/>
                    </a:tc>
                    <a:tc>
                      <a:txBody>
                        <a:bodyPr/>
                        <a:lstStyle/>
                        <a:p>
                          <a:pPr marL="285750" indent="-285750">
                            <a:buFontTx/>
                            <a:buChar char="-"/>
                          </a:pPr>
                          <a:r>
                            <a:rPr lang="en-GB" dirty="0"/>
                            <a:t>Overfit to simple cloud model</a:t>
                          </a:r>
                        </a:p>
                      </a:txBody>
                      <a:tcPr/>
                    </a:tc>
                    <a:tc>
                      <a:txBody>
                        <a:bodyPr/>
                        <a:lstStyle/>
                        <a:p>
                          <a:pPr marL="0" indent="0">
                            <a:buFontTx/>
                            <a:buNone/>
                          </a:pPr>
                          <a:r>
                            <a:rPr lang="en-GB" dirty="0"/>
                            <a:t>- Random initialization of cloud formations</a:t>
                          </a:r>
                        </a:p>
                      </a:txBody>
                      <a:tcPr/>
                    </a:tc>
                    <a:extLst>
                      <a:ext uri="{0D108BD9-81ED-4DB2-BD59-A6C34878D82A}">
                        <a16:rowId xmlns:a16="http://schemas.microsoft.com/office/drawing/2014/main" val="3633521475"/>
                      </a:ext>
                    </a:extLst>
                  </a:tr>
                  <a:tr h="1385220">
                    <a:tc>
                      <a:txBody>
                        <a:bodyPr/>
                        <a:lstStyle/>
                        <a:p>
                          <a:r>
                            <a:rPr lang="en-GB" b="1" dirty="0"/>
                            <a:t>No Air Drag</a:t>
                          </a:r>
                        </a:p>
                      </a:txBody>
                      <a:tcPr/>
                    </a:tc>
                    <a:tc>
                      <a:txBody>
                        <a:bodyPr/>
                        <a:lstStyle/>
                        <a:p>
                          <a:pPr marL="285750" indent="-285750">
                            <a:buFontTx/>
                            <a:buChar char="-"/>
                          </a:pPr>
                          <a:r>
                            <a:rPr lang="en-GB" dirty="0"/>
                            <a:t>Reduce complexity</a:t>
                          </a:r>
                        </a:p>
                        <a:p>
                          <a:pPr marL="285750" indent="-285750">
                            <a:buFontTx/>
                            <a:buChar char="-"/>
                          </a:pPr>
                          <a14:m>
                            <m:oMath xmlns:m="http://schemas.openxmlformats.org/officeDocument/2006/math">
                              <m:r>
                                <a:rPr lang="en-US" b="0" smtClean="0">
                                  <a:latin typeface="Cambria Math" panose="02040503050406030204" pitchFamily="18" charset="0"/>
                                </a:rPr>
                                <m:t>𝐷</m:t>
                              </m:r>
                              <m:r>
                                <a:rPr lang="en-US" b="0" smtClean="0">
                                  <a:latin typeface="Cambria Math" panose="02040503050406030204" pitchFamily="18" charset="0"/>
                                </a:rPr>
                                <m:t> ≈0</m:t>
                              </m:r>
                            </m:oMath>
                          </a14:m>
                          <a:endParaRPr lang="en-US" b="0" dirty="0"/>
                        </a:p>
                        <a:p>
                          <a:pPr marL="285750" indent="-285750">
                            <a:buFontTx/>
                            <a:buChar char="-"/>
                          </a:pPr>
                          <a:endParaRPr lang="en-GB" dirty="0"/>
                        </a:p>
                      </a:txBody>
                      <a:tcPr/>
                    </a:tc>
                    <a:tc>
                      <a:txBody>
                        <a:bodyPr/>
                        <a:lstStyle/>
                        <a:p>
                          <a:endParaRPr lang="en-GB" dirty="0"/>
                        </a:p>
                      </a:txBody>
                      <a:tcPr/>
                    </a:tc>
                    <a:tc>
                      <a:txBody>
                        <a:bodyPr/>
                        <a:lstStyle/>
                        <a:p>
                          <a:endParaRPr lang="en-GB" dirty="0"/>
                        </a:p>
                      </a:txBody>
                      <a:tcPr/>
                    </a:tc>
                    <a:extLst>
                      <a:ext uri="{0D108BD9-81ED-4DB2-BD59-A6C34878D82A}">
                        <a16:rowId xmlns:a16="http://schemas.microsoft.com/office/drawing/2014/main" val="1618139861"/>
                      </a:ext>
                    </a:extLst>
                  </a:tr>
                </a:tbl>
              </a:graphicData>
            </a:graphic>
          </p:graphicFrame>
        </mc:Choice>
        <mc:Fallback xmlns="">
          <p:graphicFrame>
            <p:nvGraphicFramePr>
              <p:cNvPr id="7" name="Table 6">
                <a:extLst>
                  <a:ext uri="{FF2B5EF4-FFF2-40B4-BE49-F238E27FC236}">
                    <a16:creationId xmlns:a16="http://schemas.microsoft.com/office/drawing/2014/main" id="{6A5E3E3A-71BF-AF53-93E5-D74B89E024AD}"/>
                  </a:ext>
                </a:extLst>
              </p:cNvPr>
              <p:cNvGraphicFramePr>
                <a:graphicFrameLocks noGrp="1"/>
              </p:cNvGraphicFramePr>
              <p:nvPr>
                <p:extLst>
                  <p:ext uri="{D42A27DB-BD31-4B8C-83A1-F6EECF244321}">
                    <p14:modId xmlns:p14="http://schemas.microsoft.com/office/powerpoint/2010/main" val="3330176185"/>
                  </p:ext>
                </p:extLst>
              </p:nvPr>
            </p:nvGraphicFramePr>
            <p:xfrm>
              <a:off x="223309" y="995680"/>
              <a:ext cx="11745382" cy="5095836"/>
            </p:xfrm>
            <a:graphic>
              <a:graphicData uri="http://schemas.openxmlformats.org/drawingml/2006/table">
                <a:tbl>
                  <a:tblPr firstRow="1" bandRow="1">
                    <a:tableStyleId>{8CE324DF-E4CA-492E-AE2F-25B033C11A72}</a:tableStyleId>
                  </a:tblPr>
                  <a:tblGrid>
                    <a:gridCol w="2486025">
                      <a:extLst>
                        <a:ext uri="{9D8B030D-6E8A-4147-A177-3AD203B41FA5}">
                          <a16:colId xmlns:a16="http://schemas.microsoft.com/office/drawing/2014/main" val="732531482"/>
                        </a:ext>
                      </a:extLst>
                    </a:gridCol>
                    <a:gridCol w="3691467">
                      <a:extLst>
                        <a:ext uri="{9D8B030D-6E8A-4147-A177-3AD203B41FA5}">
                          <a16:colId xmlns:a16="http://schemas.microsoft.com/office/drawing/2014/main" val="3164204260"/>
                        </a:ext>
                      </a:extLst>
                    </a:gridCol>
                    <a:gridCol w="2698484">
                      <a:extLst>
                        <a:ext uri="{9D8B030D-6E8A-4147-A177-3AD203B41FA5}">
                          <a16:colId xmlns:a16="http://schemas.microsoft.com/office/drawing/2014/main" val="3039810392"/>
                        </a:ext>
                      </a:extLst>
                    </a:gridCol>
                    <a:gridCol w="2869406">
                      <a:extLst>
                        <a:ext uri="{9D8B030D-6E8A-4147-A177-3AD203B41FA5}">
                          <a16:colId xmlns:a16="http://schemas.microsoft.com/office/drawing/2014/main" val="1192846001"/>
                        </a:ext>
                      </a:extLst>
                    </a:gridCol>
                  </a:tblGrid>
                  <a:tr h="454409">
                    <a:tc>
                      <a:txBody>
                        <a:bodyPr/>
                        <a:lstStyle/>
                        <a:p>
                          <a:r>
                            <a:rPr lang="en-GB" b="1" dirty="0">
                              <a:solidFill>
                                <a:srgbClr val="327FEF"/>
                              </a:solidFill>
                            </a:rPr>
                            <a:t>Simplification</a:t>
                          </a:r>
                        </a:p>
                      </a:txBody>
                      <a:tcPr/>
                    </a:tc>
                    <a:tc>
                      <a:txBody>
                        <a:bodyPr/>
                        <a:lstStyle/>
                        <a:p>
                          <a:r>
                            <a:rPr lang="en-GB" b="1" dirty="0">
                              <a:solidFill>
                                <a:srgbClr val="327FEF"/>
                              </a:solidFill>
                            </a:rPr>
                            <a:t>Reasoning</a:t>
                          </a:r>
                        </a:p>
                      </a:txBody>
                      <a:tcPr/>
                    </a:tc>
                    <a:tc>
                      <a:txBody>
                        <a:bodyPr/>
                        <a:lstStyle/>
                        <a:p>
                          <a:r>
                            <a:rPr lang="en-GB" b="1" dirty="0">
                              <a:solidFill>
                                <a:srgbClr val="327FEF"/>
                              </a:solidFill>
                            </a:rPr>
                            <a:t>Risk</a:t>
                          </a:r>
                        </a:p>
                      </a:txBody>
                      <a:tcPr/>
                    </a:tc>
                    <a:tc>
                      <a:txBody>
                        <a:bodyPr/>
                        <a:lstStyle/>
                        <a:p>
                          <a:r>
                            <a:rPr lang="en-GB" b="1" dirty="0">
                              <a:solidFill>
                                <a:srgbClr val="327FEF"/>
                              </a:solidFill>
                            </a:rPr>
                            <a:t>Mitigation</a:t>
                          </a:r>
                        </a:p>
                      </a:txBody>
                      <a:tcPr/>
                    </a:tc>
                    <a:extLst>
                      <a:ext uri="{0D108BD9-81ED-4DB2-BD59-A6C34878D82A}">
                        <a16:rowId xmlns:a16="http://schemas.microsoft.com/office/drawing/2014/main" val="1803864316"/>
                      </a:ext>
                    </a:extLst>
                  </a:tr>
                  <a:tr h="634927">
                    <a:tc>
                      <a:txBody>
                        <a:bodyPr/>
                        <a:lstStyle/>
                        <a:p>
                          <a:r>
                            <a:rPr lang="en-GB" b="1" dirty="0"/>
                            <a:t>2d Model</a:t>
                          </a:r>
                        </a:p>
                      </a:txBody>
                      <a:tcPr/>
                    </a:tc>
                    <a:tc>
                      <a:txBody>
                        <a:bodyPr/>
                        <a:lstStyle/>
                        <a:p>
                          <a:r>
                            <a:rPr lang="en-GB" dirty="0"/>
                            <a:t>- Fast RL iterations</a:t>
                          </a:r>
                        </a:p>
                        <a:p>
                          <a:r>
                            <a:rPr lang="en-GB" dirty="0"/>
                            <a:t>- Concept validation first</a:t>
                          </a:r>
                        </a:p>
                      </a:txBody>
                      <a:tcPr/>
                    </a:tc>
                    <a:tc>
                      <a:txBody>
                        <a:bodyPr/>
                        <a:lstStyle/>
                        <a:p>
                          <a:r>
                            <a:rPr lang="en-GB" dirty="0"/>
                            <a:t>- Computational complexity in 3d too big for RWA</a:t>
                          </a:r>
                        </a:p>
                      </a:txBody>
                      <a:tcPr/>
                    </a:tc>
                    <a:tc>
                      <a:txBody>
                        <a:bodyPr/>
                        <a:lstStyle/>
                        <a:p>
                          <a:r>
                            <a:rPr lang="en-GB" dirty="0"/>
                            <a:t>- Aim for simple model-architecture</a:t>
                          </a:r>
                        </a:p>
                      </a:txBody>
                      <a:tcPr/>
                    </a:tc>
                    <a:extLst>
                      <a:ext uri="{0D108BD9-81ED-4DB2-BD59-A6C34878D82A}">
                        <a16:rowId xmlns:a16="http://schemas.microsoft.com/office/drawing/2014/main" val="271853405"/>
                      </a:ext>
                    </a:extLst>
                  </a:tr>
                  <a:tr h="731520">
                    <a:tc>
                      <a:txBody>
                        <a:bodyPr/>
                        <a:lstStyle/>
                        <a:p>
                          <a:r>
                            <a:rPr lang="en-GB" b="1" dirty="0"/>
                            <a:t>Direct action input</a:t>
                          </a:r>
                        </a:p>
                      </a:txBody>
                      <a:tcPr/>
                    </a:tc>
                    <a:tc>
                      <a:txBody>
                        <a:bodyPr/>
                        <a:lstStyle/>
                        <a:p>
                          <a:r>
                            <a:rPr lang="en-GB" dirty="0"/>
                            <a:t>- Allows simple ML integration (continuous variable), vs “Command interface”</a:t>
                          </a:r>
                        </a:p>
                      </a:txBody>
                      <a:tcPr/>
                    </a:tc>
                    <a:tc>
                      <a:txBody>
                        <a:bodyPr/>
                        <a:lstStyle/>
                        <a:p>
                          <a:r>
                            <a:rPr lang="en-GB" dirty="0"/>
                            <a:t>- Manoeuvre planning more complex in RWA</a:t>
                          </a:r>
                        </a:p>
                      </a:txBody>
                      <a:tcPr/>
                    </a:tc>
                    <a:tc>
                      <a:txBody>
                        <a:bodyPr/>
                        <a:lstStyle/>
                        <a:p>
                          <a:pPr marL="285750" indent="-285750">
                            <a:buFontTx/>
                            <a:buChar char="-"/>
                          </a:pPr>
                          <a:r>
                            <a:rPr lang="en-GB" dirty="0"/>
                            <a:t>Model as “agent requests from OBC”</a:t>
                          </a:r>
                        </a:p>
                        <a:p>
                          <a:pPr marL="285750" indent="-285750">
                            <a:buFontTx/>
                            <a:buChar char="-"/>
                          </a:pPr>
                          <a:r>
                            <a:rPr lang="en-GB" dirty="0"/>
                            <a:t>Model safety methods per CI</a:t>
                          </a:r>
                        </a:p>
                      </a:txBody>
                      <a:tcPr/>
                    </a:tc>
                    <a:extLst>
                      <a:ext uri="{0D108BD9-81ED-4DB2-BD59-A6C34878D82A}">
                        <a16:rowId xmlns:a16="http://schemas.microsoft.com/office/drawing/2014/main" val="2308255672"/>
                      </a:ext>
                    </a:extLst>
                  </a:tr>
                  <a:tr h="731520">
                    <a:tc>
                      <a:txBody>
                        <a:bodyPr/>
                        <a:lstStyle/>
                        <a:p>
                          <a:r>
                            <a:rPr lang="en-GB" b="1" dirty="0"/>
                            <a:t>No sensor noise</a:t>
                          </a:r>
                        </a:p>
                      </a:txBody>
                      <a:tcPr/>
                    </a:tc>
                    <a:tc>
                      <a:txBody>
                        <a:bodyPr/>
                        <a:lstStyle/>
                        <a:p>
                          <a:pPr marL="285750" indent="-285750">
                            <a:buFontTx/>
                            <a:buChar char="-"/>
                          </a:pPr>
                          <a:r>
                            <a:rPr lang="en-GB" dirty="0"/>
                            <a:t>Additional overhead to model - little proof of concept gain</a:t>
                          </a:r>
                        </a:p>
                      </a:txBody>
                      <a:tcPr/>
                    </a:tc>
                    <a:tc>
                      <a:txBody>
                        <a:bodyPr/>
                        <a:lstStyle/>
                        <a:p>
                          <a:endParaRPr lang="en-CH"/>
                        </a:p>
                      </a:txBody>
                      <a:tcPr>
                        <a:blipFill>
                          <a:blip r:embed="rId2"/>
                          <a:stretch>
                            <a:fillRect l="-229120" t="-250000" r="-106772" b="-350000"/>
                          </a:stretch>
                        </a:blipFill>
                      </a:tcPr>
                    </a:tc>
                    <a:tc>
                      <a:txBody>
                        <a:bodyPr/>
                        <a:lstStyle/>
                        <a:p>
                          <a:r>
                            <a:rPr lang="en-GB" dirty="0"/>
                            <a:t>- Select few randomness injections</a:t>
                          </a:r>
                        </a:p>
                      </a:txBody>
                      <a:tcPr/>
                    </a:tc>
                    <a:extLst>
                      <a:ext uri="{0D108BD9-81ED-4DB2-BD59-A6C34878D82A}">
                        <a16:rowId xmlns:a16="http://schemas.microsoft.com/office/drawing/2014/main" val="3736707174"/>
                      </a:ext>
                    </a:extLst>
                  </a:tr>
                  <a:tr h="1158240">
                    <a:tc>
                      <a:txBody>
                        <a:bodyPr/>
                        <a:lstStyle/>
                        <a:p>
                          <a:r>
                            <a:rPr lang="en-GB" b="1" dirty="0"/>
                            <a:t>Simplified Cloud model, static, discretized to 1km</a:t>
                          </a:r>
                        </a:p>
                      </a:txBody>
                      <a:tcPr/>
                    </a:tc>
                    <a:tc>
                      <a:txBody>
                        <a:bodyPr/>
                        <a:lstStyle/>
                        <a:p>
                          <a:endParaRPr lang="en-CH"/>
                        </a:p>
                      </a:txBody>
                      <a:tcPr>
                        <a:blipFill>
                          <a:blip r:embed="rId2"/>
                          <a:stretch>
                            <a:fillRect l="-67492" t="-221053" r="-151155" b="-121053"/>
                          </a:stretch>
                        </a:blipFill>
                      </a:tcPr>
                    </a:tc>
                    <a:tc>
                      <a:txBody>
                        <a:bodyPr/>
                        <a:lstStyle/>
                        <a:p>
                          <a:pPr marL="285750" indent="-285750">
                            <a:buFontTx/>
                            <a:buChar char="-"/>
                          </a:pPr>
                          <a:r>
                            <a:rPr lang="en-GB" dirty="0"/>
                            <a:t>Overfit to simple cloud model</a:t>
                          </a:r>
                        </a:p>
                      </a:txBody>
                      <a:tcPr/>
                    </a:tc>
                    <a:tc>
                      <a:txBody>
                        <a:bodyPr/>
                        <a:lstStyle/>
                        <a:p>
                          <a:pPr marL="0" indent="0">
                            <a:buFontTx/>
                            <a:buNone/>
                          </a:pPr>
                          <a:r>
                            <a:rPr lang="en-GB" dirty="0"/>
                            <a:t>- Random initialization of cloud formations</a:t>
                          </a:r>
                        </a:p>
                      </a:txBody>
                      <a:tcPr/>
                    </a:tc>
                    <a:extLst>
                      <a:ext uri="{0D108BD9-81ED-4DB2-BD59-A6C34878D82A}">
                        <a16:rowId xmlns:a16="http://schemas.microsoft.com/office/drawing/2014/main" val="3633521475"/>
                      </a:ext>
                    </a:extLst>
                  </a:tr>
                  <a:tr h="1385220">
                    <a:tc>
                      <a:txBody>
                        <a:bodyPr/>
                        <a:lstStyle/>
                        <a:p>
                          <a:r>
                            <a:rPr lang="en-GB" b="1" dirty="0"/>
                            <a:t>No Air Drag</a:t>
                          </a:r>
                        </a:p>
                      </a:txBody>
                      <a:tcPr/>
                    </a:tc>
                    <a:tc>
                      <a:txBody>
                        <a:bodyPr/>
                        <a:lstStyle/>
                        <a:p>
                          <a:endParaRPr lang="en-CH"/>
                        </a:p>
                      </a:txBody>
                      <a:tcPr>
                        <a:blipFill>
                          <a:blip r:embed="rId2"/>
                          <a:stretch>
                            <a:fillRect l="-67492" t="-267544" r="-151155" b="-877"/>
                          </a:stretch>
                        </a:blipFill>
                      </a:tcPr>
                    </a:tc>
                    <a:tc>
                      <a:txBody>
                        <a:bodyPr/>
                        <a:lstStyle/>
                        <a:p>
                          <a:endParaRPr lang="en-GB" dirty="0"/>
                        </a:p>
                      </a:txBody>
                      <a:tcPr/>
                    </a:tc>
                    <a:tc>
                      <a:txBody>
                        <a:bodyPr/>
                        <a:lstStyle/>
                        <a:p>
                          <a:endParaRPr lang="en-GB" dirty="0"/>
                        </a:p>
                      </a:txBody>
                      <a:tcPr/>
                    </a:tc>
                    <a:extLst>
                      <a:ext uri="{0D108BD9-81ED-4DB2-BD59-A6C34878D82A}">
                        <a16:rowId xmlns:a16="http://schemas.microsoft.com/office/drawing/2014/main" val="1618139861"/>
                      </a:ext>
                    </a:extLst>
                  </a:tr>
                </a:tbl>
              </a:graphicData>
            </a:graphic>
          </p:graphicFrame>
        </mc:Fallback>
      </mc:AlternateContent>
      <p:sp>
        <p:nvSpPr>
          <p:cNvPr id="3" name="TextBox 2">
            <a:extLst>
              <a:ext uri="{FF2B5EF4-FFF2-40B4-BE49-F238E27FC236}">
                <a16:creationId xmlns:a16="http://schemas.microsoft.com/office/drawing/2014/main" id="{C0E91A7D-D7B6-2182-68EA-392D6CE24C06}"/>
              </a:ext>
            </a:extLst>
          </p:cNvPr>
          <p:cNvSpPr txBox="1"/>
          <p:nvPr/>
        </p:nvSpPr>
        <p:spPr>
          <a:xfrm>
            <a:off x="304800" y="728133"/>
            <a:ext cx="3276600" cy="523220"/>
          </a:xfrm>
          <a:prstGeom prst="rect">
            <a:avLst/>
          </a:prstGeom>
          <a:noFill/>
        </p:spPr>
        <p:txBody>
          <a:bodyPr wrap="square" rtlCol="0">
            <a:spAutoFit/>
          </a:bodyPr>
          <a:lstStyle/>
          <a:p>
            <a:r>
              <a:rPr lang="en-US" dirty="0"/>
              <a:t>Real world application:= RWA</a:t>
            </a:r>
          </a:p>
          <a:p>
            <a:endParaRPr lang="en-CH" dirty="0"/>
          </a:p>
        </p:txBody>
      </p:sp>
    </p:spTree>
    <p:extLst>
      <p:ext uri="{BB962C8B-B14F-4D97-AF65-F5344CB8AC3E}">
        <p14:creationId xmlns:p14="http://schemas.microsoft.com/office/powerpoint/2010/main" val="26106385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Environment initialization</a:t>
            </a:r>
            <a:endParaRPr dirty="0"/>
          </a:p>
        </p:txBody>
      </p:sp>
      <p:sp>
        <p:nvSpPr>
          <p:cNvPr id="4" name="TextBox 3"/>
          <p:cNvSpPr txBox="1"/>
          <p:nvPr/>
        </p:nvSpPr>
        <p:spPr>
          <a:xfrm>
            <a:off x="475488" y="1051560"/>
            <a:ext cx="2903359" cy="338554"/>
          </a:xfrm>
          <a:prstGeom prst="rect">
            <a:avLst/>
          </a:prstGeom>
          <a:noFill/>
        </p:spPr>
        <p:txBody>
          <a:bodyPr wrap="none">
            <a:spAutoFit/>
          </a:bodyPr>
          <a:lstStyle/>
          <a:p>
            <a:r>
              <a:rPr sz="1600" dirty="0">
                <a:solidFill>
                  <a:srgbClr val="000000"/>
                </a:solidFill>
                <a:latin typeface="Arial"/>
              </a:rPr>
              <a:t>Episode = one polar overflight</a:t>
            </a:r>
          </a:p>
        </p:txBody>
      </p:sp>
      <p:graphicFrame>
        <p:nvGraphicFramePr>
          <p:cNvPr id="8" name="Table 7">
            <a:extLst>
              <a:ext uri="{FF2B5EF4-FFF2-40B4-BE49-F238E27FC236}">
                <a16:creationId xmlns:a16="http://schemas.microsoft.com/office/drawing/2014/main" id="{2A08DD72-50F5-A728-6641-6368432C4713}"/>
              </a:ext>
            </a:extLst>
          </p:cNvPr>
          <p:cNvGraphicFramePr>
            <a:graphicFrameLocks noGrp="1"/>
          </p:cNvGraphicFramePr>
          <p:nvPr>
            <p:extLst>
              <p:ext uri="{D42A27DB-BD31-4B8C-83A1-F6EECF244321}">
                <p14:modId xmlns:p14="http://schemas.microsoft.com/office/powerpoint/2010/main" val="3486698591"/>
              </p:ext>
            </p:extLst>
          </p:nvPr>
        </p:nvGraphicFramePr>
        <p:xfrm>
          <a:off x="541867" y="1465241"/>
          <a:ext cx="10549466" cy="3026832"/>
        </p:xfrm>
        <a:graphic>
          <a:graphicData uri="http://schemas.openxmlformats.org/drawingml/2006/table">
            <a:tbl>
              <a:tblPr firstRow="1" bandRow="1">
                <a:tableStyleId>{8CE324DF-E4CA-492E-AE2F-25B033C11A72}</a:tableStyleId>
              </a:tblPr>
              <a:tblGrid>
                <a:gridCol w="5274733">
                  <a:extLst>
                    <a:ext uri="{9D8B030D-6E8A-4147-A177-3AD203B41FA5}">
                      <a16:colId xmlns:a16="http://schemas.microsoft.com/office/drawing/2014/main" val="1565084800"/>
                    </a:ext>
                  </a:extLst>
                </a:gridCol>
                <a:gridCol w="5274733">
                  <a:extLst>
                    <a:ext uri="{9D8B030D-6E8A-4147-A177-3AD203B41FA5}">
                      <a16:colId xmlns:a16="http://schemas.microsoft.com/office/drawing/2014/main" val="2764643995"/>
                    </a:ext>
                  </a:extLst>
                </a:gridCol>
              </a:tblGrid>
              <a:tr h="756708">
                <a:tc>
                  <a:txBody>
                    <a:bodyPr/>
                    <a:lstStyle/>
                    <a:p>
                      <a:pPr marR="0" algn="l" rtl="0">
                        <a:lnSpc>
                          <a:spcPct val="100000"/>
                        </a:lnSpc>
                        <a:spcBef>
                          <a:spcPts val="0"/>
                        </a:spcBef>
                        <a:spcAft>
                          <a:spcPts val="0"/>
                        </a:spcAft>
                        <a:buClr>
                          <a:srgbClr val="000000"/>
                        </a:buClr>
                        <a:buFont typeface="Arial"/>
                      </a:pPr>
                      <a:r>
                        <a:rPr sz="1600" b="1" i="0" u="none" strike="noStrike" cap="none" dirty="0">
                          <a:solidFill>
                            <a:schemeClr val="dk1"/>
                          </a:solidFill>
                          <a:latin typeface="Arial"/>
                          <a:cs typeface="Arial"/>
                          <a:sym typeface="Arial"/>
                        </a:rPr>
                        <a:t>Drawn each episode</a:t>
                      </a:r>
                    </a:p>
                  </a:txBody>
                  <a:tcPr marL="54864" marR="54864" marT="27432" marB="27432" anchor="ctr"/>
                </a:tc>
                <a:tc>
                  <a:txBody>
                    <a:bodyPr/>
                    <a:lstStyle/>
                    <a:p>
                      <a:pPr marR="0" algn="l" rtl="0">
                        <a:lnSpc>
                          <a:spcPct val="100000"/>
                        </a:lnSpc>
                        <a:spcBef>
                          <a:spcPts val="0"/>
                        </a:spcBef>
                        <a:spcAft>
                          <a:spcPts val="0"/>
                        </a:spcAft>
                        <a:buClr>
                          <a:srgbClr val="000000"/>
                        </a:buClr>
                        <a:buFont typeface="Arial"/>
                      </a:pPr>
                      <a:r>
                        <a:rPr sz="1600" b="1" i="0" u="none" strike="noStrike" cap="none" dirty="0">
                          <a:solidFill>
                            <a:schemeClr val="dk1"/>
                          </a:solidFill>
                          <a:latin typeface="Arial"/>
                          <a:cs typeface="Arial"/>
                          <a:sym typeface="Arial"/>
                        </a:rPr>
                        <a:t>Fixed across runs</a:t>
                      </a:r>
                    </a:p>
                  </a:txBody>
                  <a:tcPr marL="54864" marR="54864" marT="27432" marB="27432" anchor="ctr"/>
                </a:tc>
                <a:extLst>
                  <a:ext uri="{0D108BD9-81ED-4DB2-BD59-A6C34878D82A}">
                    <a16:rowId xmlns:a16="http://schemas.microsoft.com/office/drawing/2014/main" val="3527540231"/>
                  </a:ext>
                </a:extLst>
              </a:tr>
              <a:tr h="756708">
                <a:tc>
                  <a:txBody>
                    <a:bodyPr/>
                    <a:lstStyle/>
                    <a:p>
                      <a:pPr marR="0" algn="l" rtl="0">
                        <a:lnSpc>
                          <a:spcPct val="100000"/>
                        </a:lnSpc>
                        <a:spcBef>
                          <a:spcPts val="0"/>
                        </a:spcBef>
                        <a:spcAft>
                          <a:spcPts val="0"/>
                        </a:spcAft>
                        <a:buClr>
                          <a:srgbClr val="000000"/>
                        </a:buClr>
                        <a:buFont typeface="Arial"/>
                      </a:pPr>
                      <a:r>
                        <a:rPr sz="1600" b="0" i="0" u="none" strike="noStrike" cap="none" dirty="0">
                          <a:solidFill>
                            <a:schemeClr val="dk1"/>
                          </a:solidFill>
                          <a:latin typeface="Arial"/>
                          <a:cs typeface="Arial"/>
                          <a:sym typeface="Arial"/>
                        </a:rPr>
                        <a:t>Altitude ~U(510, 570) km</a:t>
                      </a:r>
                    </a:p>
                  </a:txBody>
                  <a:tcPr marL="54864" marR="54864" marT="27432" marB="27432" anchor="ctr"/>
                </a:tc>
                <a:tc>
                  <a:txBody>
                    <a:bodyPr/>
                    <a:lstStyle/>
                    <a:p>
                      <a:pPr marR="0" algn="l" rtl="0">
                        <a:lnSpc>
                          <a:spcPct val="100000"/>
                        </a:lnSpc>
                        <a:spcBef>
                          <a:spcPts val="0"/>
                        </a:spcBef>
                        <a:spcAft>
                          <a:spcPts val="0"/>
                        </a:spcAft>
                        <a:buClr>
                          <a:srgbClr val="000000"/>
                        </a:buClr>
                        <a:buFont typeface="Arial"/>
                      </a:pPr>
                      <a:r>
                        <a:rPr lang="en-US" sz="1600" b="0" i="0" u="none" strike="noStrike" cap="none" dirty="0">
                          <a:solidFill>
                            <a:schemeClr val="dk1"/>
                          </a:solidFill>
                          <a:latin typeface="Arial"/>
                          <a:cs typeface="Arial"/>
                          <a:sym typeface="Arial"/>
                        </a:rPr>
                        <a:t>Target grid</a:t>
                      </a:r>
                      <a:endParaRPr sz="1600" b="0" i="0" u="none" strike="noStrike" cap="none" dirty="0">
                        <a:solidFill>
                          <a:schemeClr val="dk1"/>
                        </a:solidFill>
                        <a:latin typeface="Arial"/>
                        <a:cs typeface="Arial"/>
                        <a:sym typeface="Arial"/>
                      </a:endParaRPr>
                    </a:p>
                  </a:txBody>
                  <a:tcPr marL="54864" marR="54864" marT="27432" marB="27432" anchor="ctr"/>
                </a:tc>
                <a:extLst>
                  <a:ext uri="{0D108BD9-81ED-4DB2-BD59-A6C34878D82A}">
                    <a16:rowId xmlns:a16="http://schemas.microsoft.com/office/drawing/2014/main" val="2021249669"/>
                  </a:ext>
                </a:extLst>
              </a:tr>
              <a:tr h="756708">
                <a:tc>
                  <a:txBody>
                    <a:bodyPr/>
                    <a:lstStyle/>
                    <a:p>
                      <a:pPr marR="0" algn="l" rtl="0">
                        <a:lnSpc>
                          <a:spcPct val="100000"/>
                        </a:lnSpc>
                        <a:spcBef>
                          <a:spcPts val="0"/>
                        </a:spcBef>
                        <a:spcAft>
                          <a:spcPts val="0"/>
                        </a:spcAft>
                        <a:buClr>
                          <a:srgbClr val="000000"/>
                        </a:buClr>
                        <a:buFont typeface="Arial"/>
                      </a:pPr>
                      <a:r>
                        <a:rPr sz="1600" b="0" i="0" u="none" strike="noStrike" cap="none" dirty="0">
                          <a:solidFill>
                            <a:schemeClr val="dk1"/>
                          </a:solidFill>
                          <a:latin typeface="Arial"/>
                          <a:cs typeface="Arial"/>
                          <a:sym typeface="Arial"/>
                        </a:rPr>
                        <a:t>Cloud field (seeded patches along corridor)</a:t>
                      </a:r>
                    </a:p>
                  </a:txBody>
                  <a:tcPr marL="54864" marR="54864" marT="27432" marB="27432" anchor="ctr"/>
                </a:tc>
                <a:tc>
                  <a:txBody>
                    <a:bodyPr/>
                    <a:lstStyle/>
                    <a:p>
                      <a:pPr marR="0" algn="l" rtl="0">
                        <a:lnSpc>
                          <a:spcPct val="100000"/>
                        </a:lnSpc>
                        <a:spcBef>
                          <a:spcPts val="0"/>
                        </a:spcBef>
                        <a:spcAft>
                          <a:spcPts val="0"/>
                        </a:spcAft>
                        <a:buClr>
                          <a:srgbClr val="000000"/>
                        </a:buClr>
                        <a:buFont typeface="Arial"/>
                      </a:pPr>
                      <a:r>
                        <a:rPr sz="1600" b="0" i="0" u="none" strike="noStrike" cap="none" dirty="0">
                          <a:solidFill>
                            <a:schemeClr val="dk1"/>
                          </a:solidFill>
                          <a:latin typeface="Arial"/>
                          <a:cs typeface="Arial"/>
                          <a:sym typeface="Arial"/>
                        </a:rPr>
                        <a:t>Reaction-wheel and safety limits</a:t>
                      </a:r>
                    </a:p>
                  </a:txBody>
                  <a:tcPr marL="54864" marR="54864" marT="27432" marB="27432" anchor="ctr"/>
                </a:tc>
                <a:extLst>
                  <a:ext uri="{0D108BD9-81ED-4DB2-BD59-A6C34878D82A}">
                    <a16:rowId xmlns:a16="http://schemas.microsoft.com/office/drawing/2014/main" val="3272014740"/>
                  </a:ext>
                </a:extLst>
              </a:tr>
              <a:tr h="756708">
                <a:tc>
                  <a:txBody>
                    <a:bodyPr/>
                    <a:lstStyle/>
                    <a:p>
                      <a:pPr marR="0" algn="l" rtl="0">
                        <a:lnSpc>
                          <a:spcPct val="100000"/>
                        </a:lnSpc>
                        <a:spcBef>
                          <a:spcPts val="0"/>
                        </a:spcBef>
                        <a:spcAft>
                          <a:spcPts val="0"/>
                        </a:spcAft>
                        <a:buClr>
                          <a:srgbClr val="000000"/>
                        </a:buClr>
                        <a:buFont typeface="Arial"/>
                      </a:pPr>
                      <a:r>
                        <a:rPr sz="1600" b="0" i="0" u="none" strike="noStrike" cap="none" dirty="0">
                          <a:solidFill>
                            <a:schemeClr val="dk1"/>
                          </a:solidFill>
                          <a:latin typeface="Arial"/>
                          <a:cs typeface="Arial"/>
                          <a:sym typeface="Arial"/>
                        </a:rPr>
                        <a:t>Initial attitude / phase</a:t>
                      </a:r>
                    </a:p>
                  </a:txBody>
                  <a:tcPr marL="54864" marR="54864" marT="27432" marB="27432" anchor="ctr"/>
                </a:tc>
                <a:tc>
                  <a:txBody>
                    <a:bodyPr/>
                    <a:lstStyle/>
                    <a:p>
                      <a:pPr marR="0" algn="l" rtl="0">
                        <a:lnSpc>
                          <a:spcPct val="100000"/>
                        </a:lnSpc>
                        <a:spcBef>
                          <a:spcPts val="0"/>
                        </a:spcBef>
                        <a:spcAft>
                          <a:spcPts val="0"/>
                        </a:spcAft>
                        <a:buClr>
                          <a:srgbClr val="000000"/>
                        </a:buClr>
                        <a:buFont typeface="Arial"/>
                      </a:pPr>
                      <a:r>
                        <a:rPr sz="1600" b="0" i="0" u="none" strike="noStrike" cap="none" dirty="0">
                          <a:solidFill>
                            <a:schemeClr val="dk1"/>
                          </a:solidFill>
                          <a:latin typeface="Arial"/>
                          <a:cs typeface="Arial"/>
                          <a:sym typeface="Arial"/>
                        </a:rPr>
                        <a:t>Reward term definitions</a:t>
                      </a:r>
                    </a:p>
                  </a:txBody>
                  <a:tcPr marL="54864" marR="54864" marT="27432" marB="27432" anchor="ctr"/>
                </a:tc>
                <a:extLst>
                  <a:ext uri="{0D108BD9-81ED-4DB2-BD59-A6C34878D82A}">
                    <a16:rowId xmlns:a16="http://schemas.microsoft.com/office/drawing/2014/main" val="453247304"/>
                  </a:ext>
                </a:extLst>
              </a:tr>
            </a:tbl>
          </a:graphicData>
        </a:graphic>
      </p:graphicFrame>
    </p:spTree>
  </p:cSld>
  <p:clrMapOvr>
    <a:masterClrMapping/>
  </p:clrMapOvr>
</p:sld>
</file>

<file path=ppt/theme/theme1.xml><?xml version="1.0" encoding="utf-8"?>
<a:theme xmlns:a="http://schemas.openxmlformats.org/drawingml/2006/main" name="ETH Zürich">
  <a:themeElements>
    <a:clrScheme name="ETH Zürich">
      <a:dk1>
        <a:srgbClr val="000000"/>
      </a:dk1>
      <a:lt1>
        <a:srgbClr val="FFFFFF"/>
      </a:lt1>
      <a:dk2>
        <a:srgbClr val="000000"/>
      </a:dk2>
      <a:lt2>
        <a:srgbClr val="FFFFFF"/>
      </a:lt2>
      <a:accent1>
        <a:srgbClr val="1269B0"/>
      </a:accent1>
      <a:accent2>
        <a:srgbClr val="91056A"/>
      </a:accent2>
      <a:accent3>
        <a:srgbClr val="007A96"/>
      </a:accent3>
      <a:accent4>
        <a:srgbClr val="485A2C"/>
      </a:accent4>
      <a:accent5>
        <a:srgbClr val="A8322D"/>
      </a:accent5>
      <a:accent6>
        <a:srgbClr val="72791C"/>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a:themeElements>
    <a:clrScheme name="ETH Zürich">
      <a:dk1>
        <a:srgbClr val="000000"/>
      </a:dk1>
      <a:lt1>
        <a:srgbClr val="FFFFFF"/>
      </a:lt1>
      <a:dk2>
        <a:srgbClr val="000000"/>
      </a:dk2>
      <a:lt2>
        <a:srgbClr val="FFFFFF"/>
      </a:lt2>
      <a:accent1>
        <a:srgbClr val="1269B0"/>
      </a:accent1>
      <a:accent2>
        <a:srgbClr val="91056A"/>
      </a:accent2>
      <a:accent3>
        <a:srgbClr val="007A96"/>
      </a:accent3>
      <a:accent4>
        <a:srgbClr val="485A2C"/>
      </a:accent4>
      <a:accent5>
        <a:srgbClr val="A8322D"/>
      </a:accent5>
      <a:accent6>
        <a:srgbClr val="72791C"/>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3836603109951843B65A813D06E4073A" ma:contentTypeVersion="14" ma:contentTypeDescription="Ein neues Dokument erstellen." ma:contentTypeScope="" ma:versionID="0464abfbe6e6cd5c5dc4f4365ef2b107">
  <xsd:schema xmlns:xsd="http://www.w3.org/2001/XMLSchema" xmlns:xs="http://www.w3.org/2001/XMLSchema" xmlns:p="http://schemas.microsoft.com/office/2006/metadata/properties" xmlns:ns3="3a054466-637b-4132-b55f-6b70403df2f6" xmlns:ns4="658a0950-b595-43c0-9c05-75e61f50a777" targetNamespace="http://schemas.microsoft.com/office/2006/metadata/properties" ma:root="true" ma:fieldsID="4be42dbcc628fdc826e4c66886f14cd5" ns3:_="" ns4:_="">
    <xsd:import namespace="3a054466-637b-4132-b55f-6b70403df2f6"/>
    <xsd:import namespace="658a0950-b595-43c0-9c05-75e61f50a777"/>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_activity" minOccurs="0"/>
                <xsd:element ref="ns3:MediaServiceObjectDetectorVersions" minOccurs="0"/>
                <xsd:element ref="ns3:MediaServiceSearchPropertie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a054466-637b-4132-b55f-6b70403df2f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_activity" ma:index="18" nillable="true" ma:displayName="_activity" ma:hidden="true" ma:internalName="_activity">
      <xsd:simpleType>
        <xsd:restriction base="dms:Note"/>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SystemTags" ma:index="21"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58a0950-b595-43c0-9c05-75e61f50a777" elementFormDefault="qualified">
    <xsd:import namespace="http://schemas.microsoft.com/office/2006/documentManagement/types"/>
    <xsd:import namespace="http://schemas.microsoft.com/office/infopath/2007/PartnerControls"/>
    <xsd:element name="SharedWithUsers" ma:index="15"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Freigegeben für - Details" ma:internalName="SharedWithDetails" ma:readOnly="true">
      <xsd:simpleType>
        <xsd:restriction base="dms:Note">
          <xsd:maxLength value="255"/>
        </xsd:restriction>
      </xsd:simpleType>
    </xsd:element>
    <xsd:element name="SharingHintHash" ma:index="17" nillable="true" ma:displayName="Freigabehinweis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3a054466-637b-4132-b55f-6b70403df2f6" xsi:nil="true"/>
  </documentManagement>
</p:properties>
</file>

<file path=customXml/itemProps1.xml><?xml version="1.0" encoding="utf-8"?>
<ds:datastoreItem xmlns:ds="http://schemas.openxmlformats.org/officeDocument/2006/customXml" ds:itemID="{6711D8E3-38BB-481B-8E8B-72EB12868A8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a054466-637b-4132-b55f-6b70403df2f6"/>
    <ds:schemaRef ds:uri="658a0950-b595-43c0-9c05-75e61f50a7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F1062CD-605A-4CDB-A801-2BE61AB71C16}">
  <ds:schemaRefs>
    <ds:schemaRef ds:uri="http://schemas.microsoft.com/sharepoint/v3/contenttype/forms"/>
  </ds:schemaRefs>
</ds:datastoreItem>
</file>

<file path=customXml/itemProps3.xml><?xml version="1.0" encoding="utf-8"?>
<ds:datastoreItem xmlns:ds="http://schemas.openxmlformats.org/officeDocument/2006/customXml" ds:itemID="{FAE2F39C-7EA2-4C6D-852E-5A505076F777}">
  <ds:schemaRefs>
    <ds:schemaRef ds:uri="http://schemas.microsoft.com/office/2006/metadata/properties"/>
    <ds:schemaRef ds:uri="http://www.w3.org/XML/1998/namespace"/>
    <ds:schemaRef ds:uri="http://purl.org/dc/elements/1.1/"/>
    <ds:schemaRef ds:uri="3a054466-637b-4132-b55f-6b70403df2f6"/>
    <ds:schemaRef ds:uri="http://purl.org/dc/terms/"/>
    <ds:schemaRef ds:uri="http://schemas.microsoft.com/office/2006/documentManagement/types"/>
    <ds:schemaRef ds:uri="http://purl.org/dc/dcmitype/"/>
    <ds:schemaRef ds:uri="http://schemas.microsoft.com/office/infopath/2007/PartnerControls"/>
    <ds:schemaRef ds:uri="http://schemas.openxmlformats.org/package/2006/metadata/core-properties"/>
    <ds:schemaRef ds:uri="658a0950-b595-43c0-9c05-75e61f50a777"/>
  </ds:schemaRefs>
</ds:datastoreItem>
</file>

<file path=docProps/app.xml><?xml version="1.0" encoding="utf-8"?>
<Properties xmlns="http://schemas.openxmlformats.org/officeDocument/2006/extended-properties" xmlns:vt="http://schemas.openxmlformats.org/officeDocument/2006/docPropsVTypes">
  <TotalTime>0</TotalTime>
  <Words>1401</Words>
  <Application>Microsoft Office PowerPoint</Application>
  <PresentationFormat>Widescreen</PresentationFormat>
  <Paragraphs>297</Paragraphs>
  <Slides>22</Slides>
  <Notes>4</Notes>
  <HiddenSlides>0</HiddenSlides>
  <MMClips>3</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Cambria Math</vt:lpstr>
      <vt:lpstr>Courier New</vt:lpstr>
      <vt:lpstr>Noto Sans Symbols</vt:lpstr>
      <vt:lpstr>Segoe UI</vt:lpstr>
      <vt:lpstr>Wingdings</vt:lpstr>
      <vt:lpstr>ETH Zürich</vt:lpstr>
      <vt:lpstr>Autonomous Satellite control  Cloud aware learned pointing</vt:lpstr>
      <vt:lpstr>PowerPoint Presentation</vt:lpstr>
      <vt:lpstr>Current approach: Deterministic Planning</vt:lpstr>
      <vt:lpstr>Research Question</vt:lpstr>
      <vt:lpstr>Deterministic baseline model: Demo</vt:lpstr>
      <vt:lpstr>Experiment Setup</vt:lpstr>
      <vt:lpstr>ML formulation: what the agent sees and decides</vt:lpstr>
      <vt:lpstr>Proposed Algorithm: MPO (Maximum a Posteriori Policy Optimization)</vt:lpstr>
      <vt:lpstr>Training / Scoring</vt:lpstr>
      <vt:lpstr>Experiments: ML tuning</vt:lpstr>
      <vt:lpstr>Sample Experiment – Exceed budget penalty (Exp 7): </vt:lpstr>
      <vt:lpstr>Training: SAC</vt:lpstr>
      <vt:lpstr>MPO: Broken!</vt:lpstr>
      <vt:lpstr>MPO: fixed? (Exp 8)</vt:lpstr>
      <vt:lpstr>MPO: fixed?</vt:lpstr>
      <vt:lpstr>Conclusion</vt:lpstr>
      <vt:lpstr>Recommendations:</vt:lpstr>
      <vt:lpstr>End</vt:lpstr>
      <vt:lpstr>BACKUP SLIDES</vt:lpstr>
      <vt:lpstr>Methodical learnings</vt:lpstr>
      <vt:lpstr>Simplifications</vt:lpstr>
      <vt:lpstr>Environment initialization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Cédric Grieder</dc:creator>
  <cp:lastModifiedBy>Grieder  Cédric</cp:lastModifiedBy>
  <cp:revision>7</cp:revision>
  <dcterms:modified xsi:type="dcterms:W3CDTF">2026-07-06T14:58:49Z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0x0101003836603109951843B65A813D06E4073A</vt:lpwstr>
  </property>
  <property fmtid="{D5CDD505-2E9C-101B-9397-08002B2CF9AE}" pid="3" name="MediaServiceImageTags">
    <vt:lpwstr/>
  </property>
</Properties>
</file>