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4"/>
  </p:sldMasterIdLst>
  <p:notesMasterIdLst>
    <p:notesMasterId r:id="rId14"/>
  </p:notesMasterIdLst>
  <p:sldIdLst>
    <p:sldId id="256" r:id="rId11"/>
    <p:sldId id="257" r:id="rId12"/>
    <p:sldId id="258" r:id="rId13"/>
    <p:sldId id="259" r:id="rId10"/>
    <p:sldId id="260" r:id="rId9"/>
    <p:sldId id="261" r:id="rId8"/>
    <p:sldId id="262" r:id="rId7"/>
    <p:sldId id="263" r:id="rId6"/>
    <p:sldId id="264" r:id="rId5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E08BE-EC61-4D45-92D9-FB018ADEA900}" v="31" dt="2026-07-01T15:19:23.028"/>
  </p1510:revLst>
</p1510:revInfo>
</file>

<file path=ppt/tableStyles.xml><?xml version="1.0" encoding="utf-8"?>
<a:tblStyleLst xmlns:a="http://schemas.openxmlformats.org/drawingml/2006/main" def="{8CE324DF-E4CA-492E-AE2F-25B033C11A72}">
  <a:tblStyle styleId="{8CE324DF-E4CA-492E-AE2F-25B033C11A7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9998217211235184 warmup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environment-hyperparameters.md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9998217211235184_ml_encoder_r2_sac_a1_03-06-04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diagrams/results_scoreboard.png — data from summary_metrics.json per 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 14 = ml_mpo_multienv_target_select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agent_reference_pointing experiment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ml_mpo_multienv_target_select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project-charter north-star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User-sign-off on frames before behavioral verdict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 04">
  <p:cSld name="Titelfolie 04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24000" tIns="11520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1" name="Google Shape;41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1838" y="360538"/>
            <a:ext cx="1765565" cy="2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1078515" y="5122625"/>
            <a:ext cx="10044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>
            <a:spLocks noGrp="1"/>
          </p:cNvSpPr>
          <p:nvPr>
            <p:ph type="pic" idx="2"/>
          </p:nvPr>
        </p:nvSpPr>
        <p:spPr>
          <a:xfrm>
            <a:off x="10200163" y="6489088"/>
            <a:ext cx="126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3"/>
          </p:nvPr>
        </p:nvSpPr>
        <p:spPr>
          <a:xfrm>
            <a:off x="9696449" y="316800"/>
            <a:ext cx="18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None/>
              <a:defRPr sz="1150"/>
            </a:lvl1pPr>
            <a:lvl2pPr marL="914400" lvl="1" indent="-3016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50"/>
              <a:buChar char="−"/>
              <a:defRPr sz="1150"/>
            </a:lvl2pPr>
            <a:lvl3pPr marL="1371600" lvl="2" indent="-3016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50"/>
              <a:buChar char="−"/>
              <a:defRPr sz="1150"/>
            </a:lvl3pPr>
            <a:lvl4pPr marL="1828800" lvl="3" indent="-3016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50"/>
              <a:buChar char="−"/>
              <a:defRPr sz="1150"/>
            </a:lvl4pPr>
            <a:lvl5pPr marL="2286000" lvl="4" indent="-3016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50"/>
              <a:buChar char="−"/>
              <a:defRPr sz="11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5" name="Google Shape;4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0171" y="260350"/>
            <a:ext cx="1260001" cy="493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8;p2">
            <a:extLst>
              <a:ext uri="{FF2B5EF4-FFF2-40B4-BE49-F238E27FC236}">
                <a16:creationId xmlns:a16="http://schemas.microsoft.com/office/drawing/2014/main" id="{07E86482-5124-EFFE-3705-F1A1DA39374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31838" y="360538"/>
            <a:ext cx="1765565" cy="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2;p2">
            <a:extLst>
              <a:ext uri="{FF2B5EF4-FFF2-40B4-BE49-F238E27FC236}">
                <a16:creationId xmlns:a16="http://schemas.microsoft.com/office/drawing/2014/main" id="{924FBF87-943D-4309-91CC-7C4E19AD0633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0171" y="260350"/>
            <a:ext cx="1260001" cy="493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850F40-417D-85A5-B3E7-C82BC87BA3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763979" y="0"/>
            <a:ext cx="2932470" cy="853158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0">
          <p15:clr>
            <a:srgbClr val="FBAE40"/>
          </p15:clr>
        </p15:guide>
        <p15:guide id="2" orient="horz" pos="395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dt" idx="10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pic>
        <p:nvPicPr>
          <p:cNvPr id="2" name="Google Shape;140;p16">
            <a:extLst>
              <a:ext uri="{FF2B5EF4-FFF2-40B4-BE49-F238E27FC236}">
                <a16:creationId xmlns:a16="http://schemas.microsoft.com/office/drawing/2014/main" id="{F4C9206E-5FD4-66EC-14E4-3CC3B6D006D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31837" y="6507088"/>
            <a:ext cx="984462" cy="1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41;p16">
            <a:extLst>
              <a:ext uri="{FF2B5EF4-FFF2-40B4-BE49-F238E27FC236}">
                <a16:creationId xmlns:a16="http://schemas.microsoft.com/office/drawing/2014/main" id="{9AE02FD0-4F85-83BF-172A-FAEDE5AF3B7D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126" y="6414749"/>
            <a:ext cx="826640" cy="32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A100C0-16BD-4F82-A4B0-7D9F3CDF769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75659" y="6226732"/>
            <a:ext cx="2032828" cy="5914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61">
          <p15:clr>
            <a:srgbClr val="F26B43"/>
          </p15:clr>
        </p15:guide>
        <p15:guide id="2" pos="7219">
          <p15:clr>
            <a:srgbClr val="F26B43"/>
          </p15:clr>
        </p15:guide>
        <p15:guide id="3" orient="horz" pos="164">
          <p15:clr>
            <a:srgbClr val="F26B43"/>
          </p15:clr>
        </p15:guide>
        <p15:guide id="4" orient="horz" pos="890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Autonomous Satellite control</a:t>
            </a:r>
          </a:p>
          <a:p>
            <a:r>
              <a:t>Cloud-aware learned pointing · making the problem engineerable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Cédric Grieder</a:t>
            </a:r>
          </a:p>
          <a:p>
            <a:r>
              <a:t>MSc Mechanical Engineering Student ETHZ</a:t>
            </a:r>
          </a:p>
          <a:p>
            <a:r>
              <a:t>06. July 2026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 I — Making the problem engineerable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Simulation, features, randomization, and a reproducible experiment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Motivation: clouds waste imaging opportunities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Satellites have limited onboard storage and downlink capacity.</a:t>
            </a:r>
          </a:p>
          <a:p>
            <a:r>
              <a:t>Cloud-blocked captures waste scarce imaging opportunities.</a:t>
            </a:r>
          </a:p>
          <a:p>
            <a:r>
              <a:t>The valuable decision is not only where to image, but also when.</a:t>
            </a:r>
          </a:p>
        </p:txBody>
      </p:sp>
      <p:pic>
        <p:nvPicPr>
          <p:cNvPr id="5" name="Picture 4" descr="m01_cloudy_rain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87267"/>
            <a:ext cx="5458968" cy="30721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Can a cloud-aware learned policy outperform the deterministic baseline on observation value?</a:t>
            </a:r>
          </a:p>
          <a:p>
            <a:r>
              <a:t>Compare learned policies against a fixed sequential baseline under matched simulation conditions.</a:t>
            </a:r>
          </a:p>
          <a:p>
            <a:r>
              <a:t>Focus on useful captures — not motion for its own sake.</a:t>
            </a:r>
          </a:p>
          <a:p>
            <a:r>
              <a:t>Status after early experiments: hypothesis not yet supported on matched episode return.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bar: deterministic baseline (~393 mean return)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Baseline = SequentialTargetBaselinePolicy: fixed target list, best-estimate capture timing.</a:t>
            </a:r>
          </a:p>
          <a:p>
            <a:r>
              <a:t>Matched warmup in SAC encoder run: return_mean ≈ 393, return_best ≈ 468 (summary_metrics.json).</a:t>
            </a:r>
          </a:p>
          <a:p>
            <a:r>
              <a:t>This is the reference bar — not the smaller ~89 smoke-run warmup.</a:t>
            </a:r>
          </a:p>
          <a:p>
            <a:r>
              <a:t>Every learned policy must be judged against this same-pipeline baseline.</a:t>
            </a:r>
          </a:p>
        </p:txBody>
      </p:sp>
      <p:pic>
        <p:nvPicPr>
          <p:cNvPr id="5" name="Picture 4" descr="poster_01_baseline_determini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88025"/>
            <a:ext cx="5458968" cy="30706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system: sim → artifact → learn → render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One episode = one canonical simulation rollout (SimulationStateSeries).</a:t>
            </a:r>
          </a:p>
          <a:p>
            <a:r>
              <a:t>Train, eval, and render consume the same simulation outputs.</a:t>
            </a:r>
          </a:p>
          <a:p>
            <a:r>
              <a:t>Simulation owns physics, sensing, and reward; rendering is view-only.</a:t>
            </a:r>
          </a:p>
        </p:txBody>
      </p:sp>
      <p:pic>
        <p:nvPicPr>
          <p:cNvPr id="5" name="Picture 4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56907"/>
            <a:ext cx="5458968" cy="31329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and reward — why learning could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Observations: orbit, attitude, primary + secondary vision lines, shutter budget.</a:t>
            </a:r>
          </a:p>
          <a:p>
            <a:r>
              <a:t>Actions: dim0 = control interface (see Act II); dim1 = shutter command.</a:t>
            </a:r>
          </a:p>
          <a:p>
            <a:r>
              <a:t>Reward: image quality × coverage × novelty; penalties for budget waste and pointing effort.</a:t>
            </a:r>
          </a:p>
          <a:p>
            <a:r>
              <a:t>Dense vision + shaped reward gives credit for timing clear windows — if the action interface is right.</a:t>
            </a:r>
          </a:p>
        </p:txBody>
      </p:sp>
      <p:pic>
        <p:nvPicPr>
          <p:cNvPr id="5" name="Picture 4" descr="reward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56907"/>
            <a:ext cx="5458968" cy="31329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Randomization and experiment method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0515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0000"/>
                </a:solidFill>
                <a:latin typeface="Arial"/>
              </a:rPr>
              <a:t>Episode = one polar overflight; pre-maneuver segment included in canonical rollout.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" y="1508760"/>
          <a:ext cx="11155680" cy="4846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0056"/>
                <a:gridCol w="6135624"/>
              </a:tblGrid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Drawn each episode</a:t>
                      </a:r>
                    </a:p>
                  </a:txBody>
                  <a:tcPr marL="54864" marR="54864" marT="27432" marB="27432" anchor="ctr">
                    <a:solidFill>
                      <a:srgbClr val="1269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Fixed across runs</a:t>
                      </a:r>
                    </a:p>
                  </a:txBody>
                  <a:tcPr marL="54864" marR="54864" marT="27432" marB="27432" anchor="ctr">
                    <a:solidFill>
                      <a:srgbClr val="1269B0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Altitude ~U(510, 570) km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Physics, camera model, dt = 1.5 s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~50-target polar stripe position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Reaction-wheel and safety limits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Cloud field (seeded patches along corridor)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Baseline target schedule logic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Initial attitude / phase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Reward term definitions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Hypothesis → isolated change → plot/video verdict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 II — Early experiments: hypothesis not proven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Learning signal yes; beating the ~393 baseline no — three action interfaces tested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Returns vs the baseline bar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SAC compressed encoder (50 train eps): train return_mean ≈ 1.2, train_best ≈ 137, eval ≈ 81.</a:t>
            </a:r>
          </a:p>
          <a:p>
            <a:r>
              <a:t>Warmup baseline in the same run: return_mean ≈ 393 — learned eval sits well below.</a:t>
            </a:r>
          </a:p>
          <a:p>
            <a:r>
              <a:t>One high train episode is not beating the baseline; the mean curve does not cross the bar.</a:t>
            </a:r>
          </a:p>
          <a:p>
            <a:r>
              <a:t>Dashed reference line in plot = deterministic warmup level.</a:t>
            </a:r>
          </a:p>
        </p:txBody>
      </p:sp>
      <p:pic>
        <p:nvPicPr>
          <p:cNvPr id="5" name="Picture 4" descr="sac_learns_encoder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3074057"/>
            <a:ext cx="5458968" cy="18986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learnability journey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Only runs with warmup baseline &gt; 300 (fairly tuned deterministic reference).</a:t>
            </a:r>
          </a:p>
          <a:p>
            <a:r>
              <a:t>Eval return (bars) vs same-run warmup (amber marker, ~393 for all shown).</a:t>
            </a:r>
          </a:p>
          <a:p>
            <a:r>
              <a:t>Green = learning signal inferred; red = none. Best eval SAC encoder +81 — still below ~393 bar.</a:t>
            </a:r>
          </a:p>
        </p:txBody>
      </p:sp>
      <p:pic>
        <p:nvPicPr>
          <p:cNvPr id="5" name="Picture 4" descr="results_scor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87641"/>
            <a:ext cx="5458968" cy="30714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MPO collapse (torque mode)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MPO torque experiments: eval ≈ −243, torque saturation, shutter spam.</a:t>
            </a:r>
          </a:p>
          <a:p>
            <a:r>
              <a:t>Safe-mode activations throughout — no useful captures.</a:t>
            </a:r>
          </a:p>
          <a:p>
            <a:r>
              <a:t>Motivated systematic experiment pipeline and implementation fixes (dual-KL bug).</a:t>
            </a:r>
          </a:p>
          <a:p>
            <a:r>
              <a:t>▶ 02_mpo_collapse_safemode.mp4 — click-to-play (embed in PowerPoint)</a:t>
            </a:r>
          </a:p>
        </p:txBody>
      </p:sp>
      <p:pic>
        <p:nvPicPr>
          <p:cNvPr id="5" name="Picture 4" descr="poster_02_mpo_collapse_safe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88025"/>
            <a:ext cx="5458968" cy="30706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ways to feed actions into the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05156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0000"/>
                </a:solidFill>
                <a:latin typeface="Arial"/>
              </a:rPr>
              <a:t>Same shutter dim; dim0 semantics climb from low-level torque toward mission planning.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" y="1508760"/>
          <a:ext cx="11155678" cy="4846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8022"/>
                <a:gridCol w="3123590"/>
                <a:gridCol w="3123590"/>
                <a:gridCol w="2900476"/>
              </a:tblGrid>
              <a:tr h="12115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Interface</a:t>
                      </a:r>
                    </a:p>
                  </a:txBody>
                  <a:tcPr marL="54864" marR="54864" marT="27432" marB="27432" anchor="ctr">
                    <a:solidFill>
                      <a:srgbClr val="1269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Agent decides</a:t>
                      </a:r>
                    </a:p>
                  </a:txBody>
                  <a:tcPr marL="54864" marR="54864" marT="27432" marB="27432" anchor="ctr">
                    <a:solidFill>
                      <a:srgbClr val="1269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Low-level executes</a:t>
                      </a:r>
                    </a:p>
                  </a:txBody>
                  <a:tcPr marL="54864" marR="54864" marT="27432" marB="27432" anchor="ctr">
                    <a:solidFill>
                      <a:srgbClr val="1269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Early outcome</a:t>
                      </a:r>
                    </a:p>
                  </a:txBody>
                  <a:tcPr marL="54864" marR="54864" marT="27432" marB="27432" anchor="ctr">
                    <a:solidFill>
                      <a:srgbClr val="1269B0"/>
                    </a:solidFill>
                  </a:tcPr>
                </a:tc>
              </a:tr>
              <a:tr h="12115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1 · Torque (Ref0)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RW torque + shutter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Safety controller arbitrates torque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Learning signal; far below ~393 bar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</a:tr>
              <a:tr h="12115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2 · Vector (Ref1)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Nadir-relative offset u + shutter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OBC PD → torque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Tested (Exp 4/11); still below bar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115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</a:rPr>
                        <a:t>3 · Target select (Exp 14)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Which target + move + shutter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PD OBC tracks latched target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Built &amp; run; learning_mode false — not successful yet</a:t>
                      </a:r>
                    </a:p>
                  </a:txBody>
                  <a:tcPr marL="54864" marR="54864" marT="27432" marB="27432"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1 vs 2: torque vs vector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Question: is torque too hard — should the agent command pointing, not wheel torque?</a:t>
            </a:r>
          </a:p>
          <a:p>
            <a:r>
              <a:t>Both arms show a learning signal; neither approaches warmup ~393 on eval return.</a:t>
            </a:r>
          </a:p>
          <a:p>
            <a:r>
              <a:t>SAC: torque eval −11.1 vs vector −24.1. MPO: vector +45.5 vs torque −81.1 — mode preference is algorithm-dependent.</a:t>
            </a:r>
          </a:p>
          <a:p>
            <a:r>
              <a:t>Partial segregation helps diagnostics; does not close the mission gap yet.</a:t>
            </a:r>
          </a:p>
        </p:txBody>
      </p:sp>
      <p:pic>
        <p:nvPicPr>
          <p:cNvPr id="5" name="Picture 4" descr="exp4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87641"/>
            <a:ext cx="5458968" cy="30714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3: target selection + OBC (Exp 14)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Radical shift: Categorical(50) target + move + shutter; PD OBC when move=True.</a:t>
            </a:r>
          </a:p>
          <a:p>
            <a:r>
              <a:t>Primary KPI = mission score (quality × coverage per capture), not raw return alone.</a:t>
            </a:r>
          </a:p>
          <a:p>
            <a:r>
              <a:t>Multi-environment curriculum; eval on unseen env seeds.</a:t>
            </a:r>
          </a:p>
          <a:p>
            <a:r>
              <a:t>Screen arm hp_default: learning_mode false; mission_score_mean ≈ 3.2; eval_return ≈ 0 — not successful yet.</a:t>
            </a:r>
          </a:p>
          <a:p>
            <a:r>
              <a:t>Critical implementation bugs found and fixed before Phase 2; architecture reuse validated.</a:t>
            </a:r>
          </a:p>
        </p:txBody>
      </p:sp>
      <p:pic>
        <p:nvPicPr>
          <p:cNvPr id="5" name="Picture 4" descr="ml_agent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56907"/>
            <a:ext cx="5458968" cy="31329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experiments did prove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problem is engineerable: reproducible runs, KPIs, videos, and isolated hypotheses.</a:t>
            </a:r>
          </a:p>
          <a:p>
            <a:r>
              <a:t>Failures are diagnosable (MPO dual bug, encoder choice, reward penalties, action interface).</a:t>
            </a:r>
          </a:p>
          <a:p>
            <a:r>
              <a:t>SAC and fixed MPO can learn non-trivial structure; MPO vector mode shows mode-dependent gains.</a:t>
            </a:r>
          </a:p>
          <a:p>
            <a:r>
              <a:t>Superiority over the ~393 deterministic baseline on matched return: not demonstrated.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 III — Why we still believe this path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Segregate learning from low-level control; let AI choose what to point 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Segregate concerns: planner · pilot · plant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North star: hierarchical mission planner over OBC low-level tracking.</a:t>
            </a:r>
          </a:p>
          <a:p>
            <a:r>
              <a:t>Wrong split: RL learns raw torque — couples timing, dynamics, and safety arbitration.</a:t>
            </a:r>
          </a:p>
          <a:p>
            <a:r>
              <a:t>Right split: RL chooses target / when to move / when to shoot; OBC closes the pointing loop.</a:t>
            </a:r>
          </a:p>
          <a:p>
            <a:r>
              <a:t>Exp 14 is the first prototype of that split — early run unsuccessful, direction unchanged.</a:t>
            </a:r>
          </a:p>
        </p:txBody>
      </p:sp>
      <p:pic>
        <p:nvPicPr>
          <p:cNvPr id="5" name="Picture 4" descr="safet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56907"/>
            <a:ext cx="5458968" cy="313290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Behavioral evidence below the return bar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75488" y="1847088"/>
            <a:ext cx="5458968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 when return &lt; baseline, eval video shows structured pointing and shutter timing.</a:t>
            </a:r>
          </a:p>
          <a:p>
            <a:r>
              <a:t>Behavioral claims require video — aggregate KPIs alone are insufficient.</a:t>
            </a:r>
          </a:p>
          <a:p>
            <a:r>
              <a:t>Return gap may be reward shaping / interface / training budget — not absence of learning.</a:t>
            </a:r>
          </a:p>
          <a:p>
            <a:r>
              <a:t>▶ 03_sac_first_good_result.mp4 — click-to-play (embed in PowerPoint)</a:t>
            </a:r>
          </a:p>
        </p:txBody>
      </p:sp>
      <p:pic>
        <p:nvPicPr>
          <p:cNvPr id="5" name="Picture 4" descr="poster_03_sac_first_good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488025"/>
            <a:ext cx="5458968" cy="307066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work and close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Align training reward with mission score; iterate Exp 14 curriculum and factorized policy.</a:t>
            </a:r>
          </a:p>
          <a:p>
            <a:r>
              <a:t>Matched eval protocol: same clouds / altitude / targets for best learned policy vs baseline ~393.</a:t>
            </a:r>
          </a:p>
          <a:p>
            <a:r>
              <a:t>Continue climbing the action ladder: torque → vector → target select → full mission planner.</a:t>
            </a:r>
          </a:p>
          <a:p>
            <a:r>
              <a:t>One-liner: we made cloud-aware onboard imaging an engineerable RL problem — hypothesis deferred, path convinced.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ETH Zürich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269B0"/>
      </a:accent1>
      <a:accent2>
        <a:srgbClr val="91056A"/>
      </a:accent2>
      <a:accent3>
        <a:srgbClr val="007A96"/>
      </a:accent3>
      <a:accent4>
        <a:srgbClr val="485A2C"/>
      </a:accent4>
      <a:accent5>
        <a:srgbClr val="A8322D"/>
      </a:accent5>
      <a:accent6>
        <a:srgbClr val="72791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ETH Zürich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269B0"/>
      </a:accent1>
      <a:accent2>
        <a:srgbClr val="91056A"/>
      </a:accent2>
      <a:accent3>
        <a:srgbClr val="007A96"/>
      </a:accent3>
      <a:accent4>
        <a:srgbClr val="485A2C"/>
      </a:accent4>
      <a:accent5>
        <a:srgbClr val="A8322D"/>
      </a:accent5>
      <a:accent6>
        <a:srgbClr val="72791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948412-d78e-4892-a4d8-571bd33514fd" xsi:nil="true"/>
    <lcf76f155ced4ddcb4097134ff3c332f xmlns="3c0e7bc4-6f83-4a7c-b452-3be35046f46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6FF753561470498BCBAE13BA235A47" ma:contentTypeVersion="16" ma:contentTypeDescription="Ein neues Dokument erstellen." ma:contentTypeScope="" ma:versionID="c566f16cc79c634bc569bce4419c41ec">
  <xsd:schema xmlns:xsd="http://www.w3.org/2001/XMLSchema" xmlns:xs="http://www.w3.org/2001/XMLSchema" xmlns:p="http://schemas.microsoft.com/office/2006/metadata/properties" xmlns:ns2="3c0e7bc4-6f83-4a7c-b452-3be35046f464" xmlns:ns3="bf948412-d78e-4892-a4d8-571bd33514fd" targetNamespace="http://schemas.microsoft.com/office/2006/metadata/properties" ma:root="true" ma:fieldsID="b910f3ffb31be8bb96108740195ffaa6" ns2:_="" ns3:_="">
    <xsd:import namespace="3c0e7bc4-6f83-4a7c-b452-3be35046f464"/>
    <xsd:import namespace="bf948412-d78e-4892-a4d8-571bd33514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0e7bc4-6f83-4a7c-b452-3be35046f4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3de204c0-5f5b-4590-a04e-c3c641a9c9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948412-d78e-4892-a4d8-571bd33514fd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0f4805ac-b13d-421b-9c12-dfca4e48660b}" ma:internalName="TaxCatchAll" ma:showField="CatchAllData" ma:web="bf948412-d78e-4892-a4d8-571bd33514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E2F39C-7EA2-4C6D-852E-5A505076F777}">
  <ds:schemaRefs>
    <ds:schemaRef ds:uri="3c0e7bc4-6f83-4a7c-b452-3be35046f464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bf948412-d78e-4892-a4d8-571bd33514fd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F1062CD-605A-4CDB-A801-2BE61AB71C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B25B42-C716-4815-B98D-61B7DE0DCE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0e7bc4-6f83-4a7c-b452-3be35046f464"/>
    <ds:schemaRef ds:uri="bf948412-d78e-4892-a4d8-571bd33514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Office PowerPoint</Application>
  <PresentationFormat>Widescreen</PresentationFormat>
  <Paragraphs>105</Paragraphs>
  <Slides>9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Noto Sans Symbols</vt:lpstr>
      <vt:lpstr>Segoe UI</vt:lpstr>
      <vt:lpstr>Wingdings</vt:lpstr>
      <vt:lpstr>ETH Zürich</vt:lpstr>
      <vt:lpstr>Autonomous Satellite control  Cloud aware learned pointing</vt:lpstr>
      <vt:lpstr>PowerPoint Presentation</vt:lpstr>
      <vt:lpstr>Current approach: Deterministic Planning</vt:lpstr>
      <vt:lpstr>Research Question</vt:lpstr>
      <vt:lpstr>Experiment Setup</vt:lpstr>
      <vt:lpstr>Simplifications</vt:lpstr>
      <vt:lpstr>Deterministic baseline model: Demo</vt:lpstr>
      <vt:lpstr>ML formulation: what the agent sees and decides</vt:lpstr>
      <vt:lpstr>BU: System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Cédric Grieder</dc:creator>
  <cp:lastModifiedBy>Cédric Grieder</cp:lastModifiedBy>
  <cp:revision>4</cp:revision>
  <dcterms:modified xsi:type="dcterms:W3CDTF">2026-07-04T12:57:13Z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0x010100EC6FF753561470498BCBAE13BA235A47</vt:lpwstr>
  </property>
  <property fmtid="{D5CDD505-2E9C-101B-9397-08002B2CF9AE}" pid="3" name="MediaServiceImageTags">
    <vt:lpwstr/>
  </property>
</Properties>
</file>