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4"/>
  </p:sldMasterIdLst>
  <p:notesMasterIdLst>
    <p:notesMasterId r:id="rId14"/>
  </p:notesMasterIdLst>
  <p:sldIdLst>
    <p:sldId id="259" r:id="rId5"/>
    <p:sldId id="277" r:id="rId6"/>
    <p:sldId id="261" r:id="rId7"/>
    <p:sldId id="278" r:id="rId8"/>
    <p:sldId id="279" r:id="rId9"/>
    <p:sldId id="262" r:id="rId10"/>
    <p:sldId id="263" r:id="rId11"/>
    <p:sldId id="282" r:id="rId12"/>
    <p:sldId id="281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5E08BE-EC61-4D45-92D9-FB018ADEA900}" v="31" dt="2026-07-01T15:19:23.028"/>
  </p1510:revLst>
</p1510:revInfo>
</file>

<file path=ppt/tableStyles.xml><?xml version="1.0" encoding="utf-8"?>
<a:tblStyleLst xmlns:a="http://schemas.openxmlformats.org/drawingml/2006/main" def="{8CE324DF-E4CA-492E-AE2F-25B033C11A72}">
  <a:tblStyle styleId="{8CE324DF-E4CA-492E-AE2F-25B033C11A7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  <a:fill>
          <a:solidFill>
            <a:schemeClr val="dk1">
              <a:alpha val="2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alpha val="20000"/>
            </a:schemeClr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>
          <a:bottom>
            <a:ln w="127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0EF3B-93A3-1CD9-6F9A-48A670EEA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680689-E42A-1C33-AA3F-58E9C9B6178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5F851F-81D8-9978-EC73-2F7803CFB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satellite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may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in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right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place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but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clouds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can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still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make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image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useless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motivates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onboard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de-CH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decision-making</a:t>
            </a:r>
            <a:r>
              <a:rPr lang="de-CH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5C519B-F3AA-9612-B34D-9272FC91C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103D58-B32D-4730-BA23-F9FDF23CB5A2}" type="slidenum">
              <a:rPr lang="it-CH" smtClean="0"/>
              <a:t>3</a:t>
            </a:fld>
            <a:endParaRPr lang="it-CH"/>
          </a:p>
        </p:txBody>
      </p:sp>
    </p:spTree>
    <p:extLst>
      <p:ext uri="{BB962C8B-B14F-4D97-AF65-F5344CB8AC3E}">
        <p14:creationId xmlns:p14="http://schemas.microsoft.com/office/powerpoint/2010/main" val="5814710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elfolie 04">
  <p:cSld name="Titelfolie 04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324000" tIns="115200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pic>
        <p:nvPicPr>
          <p:cNvPr id="41" name="Google Shape;41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31838" y="360538"/>
            <a:ext cx="1765565" cy="28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5"/>
          <p:cNvSpPr txBox="1">
            <a:spLocks noGrp="1"/>
          </p:cNvSpPr>
          <p:nvPr>
            <p:ph type="body" idx="1"/>
          </p:nvPr>
        </p:nvSpPr>
        <p:spPr>
          <a:xfrm>
            <a:off x="1078515" y="5122625"/>
            <a:ext cx="10044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5"/>
          <p:cNvSpPr>
            <a:spLocks noGrp="1"/>
          </p:cNvSpPr>
          <p:nvPr>
            <p:ph type="pic" idx="2"/>
          </p:nvPr>
        </p:nvSpPr>
        <p:spPr>
          <a:xfrm>
            <a:off x="10200163" y="6489088"/>
            <a:ext cx="126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Arial"/>
              <a:buNone/>
              <a:defRPr sz="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body" idx="3"/>
          </p:nvPr>
        </p:nvSpPr>
        <p:spPr>
          <a:xfrm>
            <a:off x="9696449" y="316800"/>
            <a:ext cx="18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None/>
              <a:defRPr sz="1150"/>
            </a:lvl1pPr>
            <a:lvl2pPr marL="914400" lvl="1" indent="-3016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0"/>
              <a:buChar char="−"/>
              <a:defRPr sz="1150"/>
            </a:lvl2pPr>
            <a:lvl3pPr marL="1371600" lvl="2" indent="-3016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0"/>
              <a:buChar char="−"/>
              <a:defRPr sz="1150"/>
            </a:lvl3pPr>
            <a:lvl4pPr marL="1828800" lvl="3" indent="-3016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0"/>
              <a:buChar char="−"/>
              <a:defRPr sz="1150"/>
            </a:lvl4pPr>
            <a:lvl5pPr marL="2286000" lvl="4" indent="-301625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50"/>
              <a:buChar char="−"/>
              <a:defRPr sz="115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45" name="Google Shape;45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0171" y="260350"/>
            <a:ext cx="1260001" cy="493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8;p2">
            <a:extLst>
              <a:ext uri="{FF2B5EF4-FFF2-40B4-BE49-F238E27FC236}">
                <a16:creationId xmlns:a16="http://schemas.microsoft.com/office/drawing/2014/main" id="{07E86482-5124-EFFE-3705-F1A1DA39374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31838" y="360538"/>
            <a:ext cx="1765565" cy="28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2;p2">
            <a:extLst>
              <a:ext uri="{FF2B5EF4-FFF2-40B4-BE49-F238E27FC236}">
                <a16:creationId xmlns:a16="http://schemas.microsoft.com/office/drawing/2014/main" id="{924FBF87-943D-4309-91CC-7C4E19AD0633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200171" y="260350"/>
            <a:ext cx="1260001" cy="4934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F850F40-417D-85A5-B3E7-C82BC87BA3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6763979" y="0"/>
            <a:ext cx="2932470" cy="853158"/>
          </a:xfrm>
          <a:prstGeom prst="rect">
            <a:avLst/>
          </a:prstGeom>
        </p:spPr>
      </p:pic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0">
          <p15:clr>
            <a:srgbClr val="FBAE40"/>
          </p15:clr>
        </p15:guide>
        <p15:guide id="2" orient="horz" pos="395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 type="obj">
  <p:cSld name="OBJEC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1pPr>
            <a:lvl2pPr marL="914400" lvl="1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2pPr>
            <a:lvl3pPr marL="1371600" lvl="2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3pPr>
            <a:lvl4pPr marL="1828800" lvl="3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4pPr>
            <a:lvl5pPr marL="2286000" lvl="4" indent="-3429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dt" idx="10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  <p:pic>
        <p:nvPicPr>
          <p:cNvPr id="2" name="Google Shape;140;p16">
            <a:extLst>
              <a:ext uri="{FF2B5EF4-FFF2-40B4-BE49-F238E27FC236}">
                <a16:creationId xmlns:a16="http://schemas.microsoft.com/office/drawing/2014/main" id="{F4C9206E-5FD4-66EC-14E4-3CC3B6D006D7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31837" y="6507088"/>
            <a:ext cx="984462" cy="1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41;p16">
            <a:extLst>
              <a:ext uri="{FF2B5EF4-FFF2-40B4-BE49-F238E27FC236}">
                <a16:creationId xmlns:a16="http://schemas.microsoft.com/office/drawing/2014/main" id="{9AE02FD0-4F85-83BF-172A-FAEDE5AF3B7D}"/>
              </a:ext>
            </a:extLst>
          </p:cNvPr>
          <p:cNvPicPr preferRelativeResize="0"/>
          <p:nvPr userDrawn="1"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97126" y="6414749"/>
            <a:ext cx="826640" cy="32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A100C0-16BD-4F82-A4B0-7D9F3CDF769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2875659" y="6226732"/>
            <a:ext cx="2032828" cy="591421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731837" y="260351"/>
            <a:ext cx="1072832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731837" y="1412875"/>
            <a:ext cx="10728325" cy="46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−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10473692" y="6522444"/>
            <a:ext cx="612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2171700" y="6522444"/>
            <a:ext cx="5400000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11137585" y="6522444"/>
            <a:ext cx="322577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1" r:id="rId1"/>
    <p:sldLayoutId id="2147483653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61">
          <p15:clr>
            <a:srgbClr val="F26B43"/>
          </p15:clr>
        </p15:guide>
        <p15:guide id="2" pos="7219">
          <p15:clr>
            <a:srgbClr val="F26B43"/>
          </p15:clr>
        </p15:guide>
        <p15:guide id="3" orient="horz" pos="164">
          <p15:clr>
            <a:srgbClr val="F26B43"/>
          </p15:clr>
        </p15:guide>
        <p15:guide id="4" orient="horz" pos="890">
          <p15:clr>
            <a:srgbClr val="F26B43"/>
          </p15:clr>
        </p15:guide>
        <p15:guide id="5" orient="horz" pos="4201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1"/>
          <p:cNvSpPr txBox="1">
            <a:spLocks noGrp="1"/>
          </p:cNvSpPr>
          <p:nvPr>
            <p:ph type="ctrTitle"/>
          </p:nvPr>
        </p:nvSpPr>
        <p:spPr>
          <a:xfrm>
            <a:off x="731837" y="1016000"/>
            <a:ext cx="10728326" cy="5256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324000" tIns="115200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de-CH" b="1" dirty="0" err="1"/>
              <a:t>Autonomous</a:t>
            </a:r>
            <a:r>
              <a:rPr lang="de-CH" b="1" dirty="0"/>
              <a:t> </a:t>
            </a:r>
            <a:r>
              <a:rPr lang="de-CH" b="1" dirty="0" err="1"/>
              <a:t>Satellite</a:t>
            </a:r>
            <a:r>
              <a:rPr lang="de-CH" b="1" dirty="0"/>
              <a:t> </a:t>
            </a:r>
            <a:r>
              <a:rPr lang="de-CH" b="1" dirty="0" err="1"/>
              <a:t>control</a:t>
            </a:r>
            <a:br>
              <a:rPr lang="de-CH" dirty="0"/>
            </a:br>
            <a:br>
              <a:rPr lang="de-CH" dirty="0"/>
            </a:br>
            <a:r>
              <a:rPr lang="de-CH" sz="2400" dirty="0"/>
              <a:t>Cloud </a:t>
            </a:r>
            <a:r>
              <a:rPr lang="de-CH" sz="2400" dirty="0" err="1"/>
              <a:t>aware</a:t>
            </a:r>
            <a:r>
              <a:rPr lang="de-CH" sz="2400" dirty="0"/>
              <a:t> </a:t>
            </a:r>
            <a:r>
              <a:rPr lang="de-CH" sz="2400" dirty="0" err="1"/>
              <a:t>learned</a:t>
            </a:r>
            <a:r>
              <a:rPr lang="de-CH" sz="2400" dirty="0"/>
              <a:t> </a:t>
            </a:r>
            <a:r>
              <a:rPr lang="de-CH" sz="2400" dirty="0" err="1"/>
              <a:t>pointing</a:t>
            </a:r>
            <a:endParaRPr dirty="0"/>
          </a:p>
        </p:txBody>
      </p:sp>
      <p:sp>
        <p:nvSpPr>
          <p:cNvPr id="175" name="Google Shape;175;p21"/>
          <p:cNvSpPr txBox="1">
            <a:spLocks noGrp="1"/>
          </p:cNvSpPr>
          <p:nvPr>
            <p:ph type="body" idx="1"/>
          </p:nvPr>
        </p:nvSpPr>
        <p:spPr>
          <a:xfrm>
            <a:off x="1078515" y="5122625"/>
            <a:ext cx="10044000" cy="10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de-CH" b="1" dirty="0"/>
              <a:t>Cédric Grieder</a:t>
            </a:r>
            <a:endParaRPr b="1"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de-CH" dirty="0" err="1"/>
              <a:t>MSc</a:t>
            </a:r>
            <a:r>
              <a:rPr lang="de-CH" dirty="0"/>
              <a:t> </a:t>
            </a:r>
            <a:r>
              <a:rPr lang="de-CH" dirty="0" err="1"/>
              <a:t>Mechanical</a:t>
            </a:r>
            <a:r>
              <a:rPr lang="de-CH" dirty="0"/>
              <a:t> Engineering Student ETHZ</a:t>
            </a:r>
            <a:endParaRPr dirty="0"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</a:pPr>
            <a:r>
              <a:rPr lang="de-CH" dirty="0"/>
              <a:t>06. </a:t>
            </a:r>
            <a:r>
              <a:rPr lang="de-CH" dirty="0" err="1"/>
              <a:t>July</a:t>
            </a:r>
            <a:r>
              <a:rPr lang="de-CH" dirty="0"/>
              <a:t> 2026</a:t>
            </a:r>
            <a:endParaRPr dirty="0"/>
          </a:p>
        </p:txBody>
      </p:sp>
      <p:sp>
        <p:nvSpPr>
          <p:cNvPr id="176" name="Google Shape;176;p21"/>
          <p:cNvSpPr>
            <a:spLocks noGrp="1"/>
          </p:cNvSpPr>
          <p:nvPr>
            <p:ph type="pic" idx="2"/>
          </p:nvPr>
        </p:nvSpPr>
        <p:spPr>
          <a:xfrm>
            <a:off x="10200163" y="6489088"/>
            <a:ext cx="126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1EB5DE-19ED-B800-3828-5817DAE0D7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 smtClean="0"/>
              <a:t>2</a:t>
            </a:fld>
            <a:endParaRPr lang="de-CH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15B7E24-9EA5-6111-D5D2-D1103A8E1071}"/>
              </a:ext>
            </a:extLst>
          </p:cNvPr>
          <p:cNvSpPr txBox="1">
            <a:spLocks/>
          </p:cNvSpPr>
          <p:nvPr/>
        </p:nvSpPr>
        <p:spPr>
          <a:xfrm>
            <a:off x="731837" y="260351"/>
            <a:ext cx="10728325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2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dirty="0"/>
              <a:t>Motivation: clouds waste satellite imaging opportunities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9D2A50E-80C9-C048-3D46-FB70A5F3E227}"/>
              </a:ext>
            </a:extLst>
          </p:cNvPr>
          <p:cNvSpPr txBox="1">
            <a:spLocks/>
          </p:cNvSpPr>
          <p:nvPr/>
        </p:nvSpPr>
        <p:spPr>
          <a:xfrm>
            <a:off x="479425" y="1849437"/>
            <a:ext cx="54610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Satellites have limited onboard storage and downlink capacity.</a:t>
            </a:r>
          </a:p>
          <a:p>
            <a:r>
              <a:rPr lang="en-US"/>
              <a:t>Cloud-blocked captures waste scarce imaging opportunities.</a:t>
            </a:r>
          </a:p>
          <a:p>
            <a:r>
              <a:rPr lang="en-US"/>
              <a:t>The valuable decision is not only where to image, but also when.</a:t>
            </a:r>
            <a:endParaRPr lang="en-US" dirty="0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C3A5F166-0089-EA94-8D92-1FD7A28950E2}"/>
              </a:ext>
            </a:extLst>
          </p:cNvPr>
          <p:cNvSpPr txBox="1">
            <a:spLocks/>
          </p:cNvSpPr>
          <p:nvPr/>
        </p:nvSpPr>
        <p:spPr>
          <a:xfrm>
            <a:off x="11137585" y="6522444"/>
            <a:ext cx="322577" cy="216000"/>
          </a:xfrm>
          <a:prstGeom prst="rect">
            <a:avLst/>
          </a:prstGeom>
          <a:noFill/>
          <a:ln>
            <a:noFill/>
          </a:ln>
        </p:spPr>
        <p:txBody>
          <a:bodyPr spcFirstLastPara="1" wrap="none" lIns="0" tIns="0" rIns="0" bIns="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spcAft>
                <a:spcPts val="600"/>
              </a:spcAft>
            </a:pPr>
            <a:fld id="{4F98EA4D-B0F8-40F3-B0F2-D3764ED79625}" type="slidenum">
              <a:rPr lang="en-GB" smtClean="0"/>
              <a:pPr>
                <a:spcAft>
                  <a:spcPts val="600"/>
                </a:spcAft>
              </a:pPr>
              <a:t>2</a:t>
            </a:fld>
            <a:endParaRPr lang="en-GB"/>
          </a:p>
        </p:txBody>
      </p:sp>
      <p:pic>
        <p:nvPicPr>
          <p:cNvPr id="6" name="Picture 5" descr="m01_cloudy_rainforest.jpg">
            <a:extLst>
              <a:ext uri="{FF2B5EF4-FFF2-40B4-BE49-F238E27FC236}">
                <a16:creationId xmlns:a16="http://schemas.microsoft.com/office/drawing/2014/main" id="{5E0E0E18-13C7-60B7-1FF0-D465DA3293C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212" r="10193" b="-1"/>
          <a:stretch>
            <a:fillRect/>
          </a:stretch>
        </p:blipFill>
        <p:spPr>
          <a:xfrm>
            <a:off x="6253160" y="1849437"/>
            <a:ext cx="5461000" cy="435133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656183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CEBA0-BDE6-0F96-52A5-DD2CE4BF1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7D3C0CF8-F0CE-01AA-CC38-7B7C75EE0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Current approach: Deterministic Planning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B8904F1-7CF9-CA6B-FB3B-C04FC320A0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8" y="1412875"/>
            <a:ext cx="6580748" cy="4680000"/>
          </a:xfrm>
        </p:spPr>
        <p:txBody>
          <a:bodyPr/>
          <a:lstStyle/>
          <a:p>
            <a:r>
              <a:rPr lang="en-US" dirty="0"/>
              <a:t>Targets are scheduled before the pass</a:t>
            </a:r>
          </a:p>
          <a:p>
            <a:r>
              <a:rPr lang="en-US" dirty="0"/>
              <a:t>The satellite points to each target and captures at the best estimated moment</a:t>
            </a:r>
          </a:p>
          <a:p>
            <a:r>
              <a:rPr lang="en-US" dirty="0"/>
              <a:t>Cloudy images are filtered later in post-processing</a:t>
            </a:r>
          </a:p>
          <a:p>
            <a:r>
              <a:rPr lang="en-US" dirty="0"/>
              <a:t>Limitation: no onboard reaction to current cloud cover.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774C7C-A727-AE75-1C76-5E453C89E7D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 wrap="none" anchor="t">
            <a:normAutofit/>
          </a:bodyPr>
          <a:lstStyle/>
          <a:p>
            <a:pPr>
              <a:spcAft>
                <a:spcPts val="600"/>
              </a:spcAft>
            </a:pPr>
            <a:fld id="{4F98EA4D-B0F8-40F3-B0F2-D3764ED79625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8D81D7-C93E-E6AE-2A15-2A8A84BB187C}"/>
              </a:ext>
            </a:extLst>
          </p:cNvPr>
          <p:cNvSpPr/>
          <p:nvPr/>
        </p:nvSpPr>
        <p:spPr>
          <a:xfrm>
            <a:off x="7572375" y="1294547"/>
            <a:ext cx="3257550" cy="7533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Mission Control: decide obs. targets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D478E-E3EE-A1BB-1C6E-3A766FB77758}"/>
              </a:ext>
            </a:extLst>
          </p:cNvPr>
          <p:cNvSpPr/>
          <p:nvPr/>
        </p:nvSpPr>
        <p:spPr>
          <a:xfrm>
            <a:off x="7572375" y="2221558"/>
            <a:ext cx="3257550" cy="75335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Satellite images areas; fixed budget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0CB1251-2269-13EA-1206-0BE7DFE0EAE0}"/>
              </a:ext>
            </a:extLst>
          </p:cNvPr>
          <p:cNvSpPr/>
          <p:nvPr/>
        </p:nvSpPr>
        <p:spPr>
          <a:xfrm>
            <a:off x="7572375" y="3148568"/>
            <a:ext cx="3257550" cy="5820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Downlink image data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6772DAF-2C48-31A9-5A22-21659F485C77}"/>
              </a:ext>
            </a:extLst>
          </p:cNvPr>
          <p:cNvSpPr/>
          <p:nvPr/>
        </p:nvSpPr>
        <p:spPr>
          <a:xfrm>
            <a:off x="7572375" y="3916946"/>
            <a:ext cx="3257550" cy="58202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Postprocess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55E29854-5D8C-E61B-FF02-7966FD4657A6}"/>
              </a:ext>
            </a:extLst>
          </p:cNvPr>
          <p:cNvSpPr/>
          <p:nvPr/>
        </p:nvSpPr>
        <p:spPr>
          <a:xfrm rot="6784359" flipV="1">
            <a:off x="8008590" y="4920026"/>
            <a:ext cx="1314450" cy="603841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Cloud</a:t>
            </a:r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D767C64D-25C0-AA3B-4555-9ADB24447A42}"/>
              </a:ext>
            </a:extLst>
          </p:cNvPr>
          <p:cNvSpPr/>
          <p:nvPr/>
        </p:nvSpPr>
        <p:spPr>
          <a:xfrm rot="3270899">
            <a:off x="9049038" y="4917875"/>
            <a:ext cx="1420434" cy="608144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 Cloud</a:t>
            </a:r>
          </a:p>
        </p:txBody>
      </p:sp>
      <p:pic>
        <p:nvPicPr>
          <p:cNvPr id="16" name="Graphic 15" descr="Garbage with solid fill">
            <a:extLst>
              <a:ext uri="{FF2B5EF4-FFF2-40B4-BE49-F238E27FC236}">
                <a16:creationId xmlns:a16="http://schemas.microsoft.com/office/drawing/2014/main" id="{4297DC27-7259-0002-4F04-9DB940063F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748785" y="5743575"/>
            <a:ext cx="914400" cy="914400"/>
          </a:xfrm>
          <a:prstGeom prst="rect">
            <a:avLst/>
          </a:prstGeom>
        </p:spPr>
      </p:pic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9FC5FCC-B3A4-F2C4-9506-F9501031DBE3}"/>
              </a:ext>
            </a:extLst>
          </p:cNvPr>
          <p:cNvCxnSpPr>
            <a:stCxn id="3" idx="2"/>
            <a:endCxn id="6" idx="0"/>
          </p:cNvCxnSpPr>
          <p:nvPr/>
        </p:nvCxnSpPr>
        <p:spPr>
          <a:xfrm>
            <a:off x="9201150" y="2047906"/>
            <a:ext cx="0" cy="173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A7171EC-5F58-7D79-E4AF-A2CEFC206D3C}"/>
              </a:ext>
            </a:extLst>
          </p:cNvPr>
          <p:cNvCxnSpPr/>
          <p:nvPr/>
        </p:nvCxnSpPr>
        <p:spPr>
          <a:xfrm>
            <a:off x="9213850" y="2974916"/>
            <a:ext cx="0" cy="173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512BC8E2-DBFF-BFE9-97E1-276FDB568FF5}"/>
              </a:ext>
            </a:extLst>
          </p:cNvPr>
          <p:cNvCxnSpPr/>
          <p:nvPr/>
        </p:nvCxnSpPr>
        <p:spPr>
          <a:xfrm>
            <a:off x="9220200" y="3730594"/>
            <a:ext cx="0" cy="1736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Graphic 23" descr="Aspiration outline">
            <a:extLst>
              <a:ext uri="{FF2B5EF4-FFF2-40B4-BE49-F238E27FC236}">
                <a16:creationId xmlns:a16="http://schemas.microsoft.com/office/drawing/2014/main" id="{0ED73BAA-A26E-6476-BA6D-42625A30B47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915524" y="5612547"/>
            <a:ext cx="1012825" cy="1012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451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9295A-F5F3-2909-A442-35FB7288F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Research Question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FB29F6-EC9D-E3E8-BD94-7E36B25965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>
              <a:lnSpc>
                <a:spcPts val="1500"/>
              </a:lnSpc>
              <a:buNone/>
            </a:pPr>
            <a:r>
              <a:rPr lang="de-CH" sz="2000" b="1" dirty="0">
                <a:latin typeface="Segoe UI" panose="020B0502040204020203" pitchFamily="34" charset="0"/>
              </a:rPr>
              <a:t>Can a </a:t>
            </a:r>
            <a:r>
              <a:rPr lang="de-CH" sz="2000" b="1" dirty="0" err="1">
                <a:latin typeface="Segoe UI" panose="020B0502040204020203" pitchFamily="34" charset="0"/>
              </a:rPr>
              <a:t>learned</a:t>
            </a:r>
            <a:r>
              <a:rPr lang="de-CH" sz="2000" b="1" dirty="0">
                <a:latin typeface="Segoe UI" panose="020B0502040204020203" pitchFamily="34" charset="0"/>
              </a:rPr>
              <a:t> </a:t>
            </a:r>
            <a:r>
              <a:rPr lang="de-CH" sz="2000" b="1" dirty="0" err="1">
                <a:latin typeface="Segoe UI" panose="020B0502040204020203" pitchFamily="34" charset="0"/>
              </a:rPr>
              <a:t>cloud</a:t>
            </a:r>
            <a:r>
              <a:rPr lang="de-CH" sz="2000" b="1" dirty="0">
                <a:latin typeface="Segoe UI" panose="020B0502040204020203" pitchFamily="34" charset="0"/>
              </a:rPr>
              <a:t>-aware </a:t>
            </a:r>
            <a:r>
              <a:rPr lang="de-CH" sz="2000" b="1" dirty="0" err="1">
                <a:latin typeface="Segoe UI" panose="020B0502040204020203" pitchFamily="34" charset="0"/>
              </a:rPr>
              <a:t>policy</a:t>
            </a:r>
            <a:r>
              <a:rPr lang="de-CH" sz="2000" b="1" dirty="0">
                <a:latin typeface="Segoe UI" panose="020B0502040204020203" pitchFamily="34" charset="0"/>
              </a:rPr>
              <a:t> </a:t>
            </a:r>
            <a:r>
              <a:rPr lang="de-CH" sz="2000" b="1" dirty="0" err="1">
                <a:latin typeface="Segoe UI" panose="020B0502040204020203" pitchFamily="34" charset="0"/>
              </a:rPr>
              <a:t>make</a:t>
            </a:r>
            <a:r>
              <a:rPr lang="de-CH" sz="2000" b="1" dirty="0">
                <a:latin typeface="Segoe UI" panose="020B0502040204020203" pitchFamily="34" charset="0"/>
              </a:rPr>
              <a:t> </a:t>
            </a:r>
            <a:r>
              <a:rPr lang="de-CH" sz="2000" b="1" dirty="0" err="1">
                <a:latin typeface="Segoe UI" panose="020B0502040204020203" pitchFamily="34" charset="0"/>
              </a:rPr>
              <a:t>better</a:t>
            </a:r>
            <a:r>
              <a:rPr lang="de-CH" sz="2000" b="1" dirty="0">
                <a:latin typeface="Segoe UI" panose="020B0502040204020203" pitchFamily="34" charset="0"/>
              </a:rPr>
              <a:t> </a:t>
            </a:r>
            <a:r>
              <a:rPr lang="de-CH" sz="2000" b="1" dirty="0" err="1">
                <a:latin typeface="Segoe UI" panose="020B0502040204020203" pitchFamily="34" charset="0"/>
              </a:rPr>
              <a:t>capture</a:t>
            </a:r>
            <a:r>
              <a:rPr lang="de-CH" sz="2000" b="1" dirty="0">
                <a:latin typeface="Segoe UI" panose="020B0502040204020203" pitchFamily="34" charset="0"/>
              </a:rPr>
              <a:t> </a:t>
            </a:r>
            <a:r>
              <a:rPr lang="de-CH" sz="2000" b="1" dirty="0" err="1">
                <a:latin typeface="Segoe UI" panose="020B0502040204020203" pitchFamily="34" charset="0"/>
              </a:rPr>
              <a:t>decisions</a:t>
            </a:r>
            <a:r>
              <a:rPr lang="de-CH" sz="2000" b="1" dirty="0">
                <a:latin typeface="Segoe UI" panose="020B0502040204020203" pitchFamily="34" charset="0"/>
              </a:rPr>
              <a:t> </a:t>
            </a:r>
            <a:r>
              <a:rPr lang="de-CH" sz="2000" b="1" dirty="0" err="1">
                <a:latin typeface="Segoe UI" panose="020B0502040204020203" pitchFamily="34" charset="0"/>
              </a:rPr>
              <a:t>than</a:t>
            </a:r>
            <a:r>
              <a:rPr lang="de-CH" sz="2000" b="1" dirty="0">
                <a:latin typeface="Segoe UI" panose="020B0502040204020203" pitchFamily="34" charset="0"/>
              </a:rPr>
              <a:t> a </a:t>
            </a:r>
            <a:r>
              <a:rPr lang="de-CH" sz="2000" b="1" dirty="0" err="1">
                <a:latin typeface="Segoe UI" panose="020B0502040204020203" pitchFamily="34" charset="0"/>
              </a:rPr>
              <a:t>fixed</a:t>
            </a:r>
            <a:r>
              <a:rPr lang="de-CH" sz="2000" b="1" dirty="0">
                <a:latin typeface="Segoe UI" panose="020B0502040204020203" pitchFamily="34" charset="0"/>
              </a:rPr>
              <a:t> </a:t>
            </a:r>
            <a:r>
              <a:rPr lang="de-CH" sz="2000" b="1" dirty="0" err="1">
                <a:latin typeface="Segoe UI" panose="020B0502040204020203" pitchFamily="34" charset="0"/>
              </a:rPr>
              <a:t>deterministic</a:t>
            </a:r>
            <a:r>
              <a:rPr lang="de-CH" sz="2000" b="1" dirty="0">
                <a:latin typeface="Segoe UI" panose="020B0502040204020203" pitchFamily="34" charset="0"/>
              </a:rPr>
              <a:t> </a:t>
            </a:r>
            <a:r>
              <a:rPr lang="de-CH" sz="2000" b="1" dirty="0" err="1">
                <a:latin typeface="Segoe UI" panose="020B0502040204020203" pitchFamily="34" charset="0"/>
              </a:rPr>
              <a:t>baseline</a:t>
            </a:r>
            <a:r>
              <a:rPr lang="de-CH" sz="2000" b="1" dirty="0">
                <a:latin typeface="Segoe UI" panose="020B0502040204020203" pitchFamily="34" charset="0"/>
              </a:rPr>
              <a:t>?</a:t>
            </a:r>
          </a:p>
          <a:p>
            <a:pPr fontAlgn="t">
              <a:lnSpc>
                <a:spcPts val="1500"/>
              </a:lnSpc>
              <a:buNone/>
            </a:pPr>
            <a:endParaRPr lang="de-CH" sz="2000" b="1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de-CH" dirty="0" err="1">
                <a:latin typeface="Segoe UI" panose="020B0502040204020203" pitchFamily="34" charset="0"/>
              </a:rPr>
              <a:t>Compare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learned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policy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against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deterministic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baseline</a:t>
            </a:r>
            <a:endParaRPr lang="de-CH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de-CH" dirty="0">
                <a:latin typeface="Segoe UI" panose="020B0502040204020203" pitchFamily="34" charset="0"/>
              </a:rPr>
              <a:t>Use </a:t>
            </a:r>
            <a:r>
              <a:rPr lang="de-CH" dirty="0" err="1">
                <a:latin typeface="Segoe UI" panose="020B0502040204020203" pitchFamily="34" charset="0"/>
              </a:rPr>
              <a:t>matched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simulation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conditions</a:t>
            </a:r>
            <a:endParaRPr lang="de-CH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Wingdings" panose="05000000000000000000" pitchFamily="2" charset="2"/>
              <a:buChar char="Ø"/>
            </a:pPr>
            <a:r>
              <a:rPr lang="de-CH" dirty="0">
                <a:latin typeface="Segoe UI" panose="020B0502040204020203" pitchFamily="34" charset="0"/>
              </a:rPr>
              <a:t>Focus on </a:t>
            </a:r>
            <a:r>
              <a:rPr lang="de-CH" dirty="0" err="1">
                <a:latin typeface="Segoe UI" panose="020B0502040204020203" pitchFamily="34" charset="0"/>
              </a:rPr>
              <a:t>useful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observation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value</a:t>
            </a:r>
            <a:r>
              <a:rPr lang="de-CH" dirty="0">
                <a:latin typeface="Segoe UI" panose="020B0502040204020203" pitchFamily="34" charset="0"/>
              </a:rPr>
              <a:t>, not just </a:t>
            </a:r>
            <a:r>
              <a:rPr lang="de-CH" dirty="0" err="1">
                <a:latin typeface="Segoe UI" panose="020B0502040204020203" pitchFamily="34" charset="0"/>
              </a:rPr>
              <a:t>movement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behavior</a:t>
            </a:r>
            <a:r>
              <a:rPr lang="de-CH" dirty="0">
                <a:latin typeface="Segoe UI" panose="020B0502040204020203" pitchFamily="34" charset="0"/>
              </a:rPr>
              <a:t>.</a:t>
            </a:r>
          </a:p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50D3D5-3ABC-D60F-A1E8-87117BB8016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 smtClean="0"/>
              <a:t>4</a:t>
            </a:fld>
            <a:endParaRPr lang="de-CH"/>
          </a:p>
        </p:txBody>
      </p:sp>
      <p:pic>
        <p:nvPicPr>
          <p:cNvPr id="6" name="Graphic 5" descr="Badge Question Mark outline">
            <a:extLst>
              <a:ext uri="{FF2B5EF4-FFF2-40B4-BE49-F238E27FC236}">
                <a16:creationId xmlns:a16="http://schemas.microsoft.com/office/drawing/2014/main" id="{40B93F71-3B4F-122F-6953-755A93A8231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15381" y="3144999"/>
            <a:ext cx="3200400" cy="320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4397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83D23-FC50-B8D9-04DF-7BBA32834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Experiment Setup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8816E-2AA1-863A-B9AB-5BAF9ADC1E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837" y="1412875"/>
            <a:ext cx="4566495" cy="4680000"/>
          </a:xfrm>
        </p:spPr>
        <p:txBody>
          <a:bodyPr/>
          <a:lstStyle/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de-CH" dirty="0">
                <a:latin typeface="Segoe UI" panose="020B0502040204020203" pitchFamily="34" charset="0"/>
              </a:rPr>
              <a:t>2D </a:t>
            </a:r>
            <a:r>
              <a:rPr lang="de-CH" dirty="0" err="1">
                <a:latin typeface="Segoe UI" panose="020B0502040204020203" pitchFamily="34" charset="0"/>
              </a:rPr>
              <a:t>satellite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overflight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simulation</a:t>
            </a:r>
            <a:endParaRPr lang="de-CH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de-CH" dirty="0">
                <a:latin typeface="Segoe UI" panose="020B0502040204020203" pitchFamily="34" charset="0"/>
              </a:rPr>
              <a:t>Cloud-aware </a:t>
            </a:r>
            <a:r>
              <a:rPr lang="de-CH" dirty="0" err="1">
                <a:latin typeface="Segoe UI" panose="020B0502040204020203" pitchFamily="34" charset="0"/>
              </a:rPr>
              <a:t>sensing</a:t>
            </a:r>
            <a:r>
              <a:rPr lang="de-CH" dirty="0">
                <a:latin typeface="Segoe UI" panose="020B0502040204020203" pitchFamily="34" charset="0"/>
              </a:rPr>
              <a:t> and </a:t>
            </a:r>
            <a:r>
              <a:rPr lang="de-CH" dirty="0" err="1">
                <a:latin typeface="Segoe UI" panose="020B0502040204020203" pitchFamily="34" charset="0"/>
              </a:rPr>
              <a:t>target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geometry</a:t>
            </a:r>
            <a:endParaRPr lang="de-CH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de-CH" dirty="0" err="1">
                <a:latin typeface="Segoe UI" panose="020B0502040204020203" pitchFamily="34" charset="0"/>
              </a:rPr>
              <a:t>Reward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model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for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useful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captures</a:t>
            </a:r>
            <a:endParaRPr lang="de-CH" dirty="0">
              <a:latin typeface="Segoe UI" panose="020B0502040204020203" pitchFamily="34" charset="0"/>
            </a:endParaRP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de-CH" dirty="0">
                <a:latin typeface="Segoe UI" panose="020B0502040204020203" pitchFamily="34" charset="0"/>
              </a:rPr>
              <a:t>ML </a:t>
            </a:r>
            <a:r>
              <a:rPr lang="de-CH" dirty="0" err="1">
                <a:latin typeface="Segoe UI" panose="020B0502040204020203" pitchFamily="34" charset="0"/>
              </a:rPr>
              <a:t>training</a:t>
            </a:r>
            <a:r>
              <a:rPr lang="de-CH" dirty="0">
                <a:latin typeface="Segoe UI" panose="020B0502040204020203" pitchFamily="34" charset="0"/>
              </a:rPr>
              <a:t>, </a:t>
            </a:r>
            <a:r>
              <a:rPr lang="de-CH" dirty="0" err="1">
                <a:latin typeface="Segoe UI" panose="020B0502040204020203" pitchFamily="34" charset="0"/>
              </a:rPr>
              <a:t>evaluation</a:t>
            </a:r>
            <a:r>
              <a:rPr lang="de-CH" dirty="0">
                <a:latin typeface="Segoe UI" panose="020B0502040204020203" pitchFamily="34" charset="0"/>
              </a:rPr>
              <a:t>, and </a:t>
            </a:r>
            <a:r>
              <a:rPr lang="de-CH" dirty="0" err="1">
                <a:latin typeface="Segoe UI" panose="020B0502040204020203" pitchFamily="34" charset="0"/>
              </a:rPr>
              <a:t>rendering</a:t>
            </a:r>
            <a:r>
              <a:rPr lang="de-CH" dirty="0">
                <a:latin typeface="Segoe UI" panose="020B0502040204020203" pitchFamily="34" charset="0"/>
              </a:rPr>
              <a:t> loop</a:t>
            </a:r>
          </a:p>
          <a:p>
            <a:pPr fontAlgn="t">
              <a:lnSpc>
                <a:spcPts val="1500"/>
              </a:lnSpc>
              <a:buFont typeface="Arial" panose="020B0604020202020204" pitchFamily="34" charset="0"/>
              <a:buChar char="•"/>
            </a:pPr>
            <a:r>
              <a:rPr lang="de-CH" dirty="0">
                <a:latin typeface="Segoe UI" panose="020B0502040204020203" pitchFamily="34" charset="0"/>
              </a:rPr>
              <a:t>Single </a:t>
            </a:r>
            <a:r>
              <a:rPr lang="de-CH" dirty="0" err="1">
                <a:latin typeface="Segoe UI" panose="020B0502040204020203" pitchFamily="34" charset="0"/>
              </a:rPr>
              <a:t>episode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artifact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shared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by</a:t>
            </a:r>
            <a:r>
              <a:rPr lang="de-CH" dirty="0">
                <a:latin typeface="Segoe UI" panose="020B0502040204020203" pitchFamily="34" charset="0"/>
              </a:rPr>
              <a:t> </a:t>
            </a:r>
            <a:r>
              <a:rPr lang="de-CH" dirty="0" err="1">
                <a:latin typeface="Segoe UI" panose="020B0502040204020203" pitchFamily="34" charset="0"/>
              </a:rPr>
              <a:t>training</a:t>
            </a:r>
            <a:r>
              <a:rPr lang="de-CH" dirty="0">
                <a:latin typeface="Segoe UI" panose="020B0502040204020203" pitchFamily="34" charset="0"/>
              </a:rPr>
              <a:t>, </a:t>
            </a:r>
            <a:r>
              <a:rPr lang="de-CH" dirty="0" err="1">
                <a:latin typeface="Segoe UI" panose="020B0502040204020203" pitchFamily="34" charset="0"/>
              </a:rPr>
              <a:t>evaluation</a:t>
            </a:r>
            <a:r>
              <a:rPr lang="de-CH" dirty="0">
                <a:latin typeface="Segoe UI" panose="020B0502040204020203" pitchFamily="34" charset="0"/>
              </a:rPr>
              <a:t>, and </a:t>
            </a:r>
            <a:r>
              <a:rPr lang="de-CH" dirty="0" err="1">
                <a:latin typeface="Segoe UI" panose="020B0502040204020203" pitchFamily="34" charset="0"/>
              </a:rPr>
              <a:t>visualization</a:t>
            </a:r>
            <a:endParaRPr lang="de-CH" dirty="0">
              <a:latin typeface="Segoe UI" panose="020B0502040204020203" pitchFamily="34" charset="0"/>
            </a:endParaRPr>
          </a:p>
          <a:p>
            <a:endParaRPr lang="en-GB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50044F-E381-603E-8D7C-E618C4A69B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 smtClean="0"/>
              <a:t>5</a:t>
            </a:fld>
            <a:endParaRPr lang="de-C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5A8F137-B6B3-0F96-5C3A-C03C0F2E6EA5}"/>
              </a:ext>
            </a:extLst>
          </p:cNvPr>
          <p:cNvSpPr/>
          <p:nvPr/>
        </p:nvSpPr>
        <p:spPr>
          <a:xfrm>
            <a:off x="5842639" y="3540678"/>
            <a:ext cx="3172691" cy="9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Simulation Kernel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CE95598-AFB5-A472-4A01-62D70A900F21}"/>
              </a:ext>
            </a:extLst>
          </p:cNvPr>
          <p:cNvSpPr/>
          <p:nvPr/>
        </p:nvSpPr>
        <p:spPr>
          <a:xfrm>
            <a:off x="6334401" y="2543208"/>
            <a:ext cx="2189165" cy="62197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Environment initialization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3341B1-1214-487A-C610-3E453369C110}"/>
              </a:ext>
            </a:extLst>
          </p:cNvPr>
          <p:cNvSpPr/>
          <p:nvPr/>
        </p:nvSpPr>
        <p:spPr>
          <a:xfrm>
            <a:off x="5842639" y="4996721"/>
            <a:ext cx="3172691" cy="9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Autonomous Agent (ML Model)</a:t>
            </a:r>
          </a:p>
        </p:txBody>
      </p:sp>
      <p:cxnSp>
        <p:nvCxnSpPr>
          <p:cNvPr id="12" name="Connector: Curved 11">
            <a:extLst>
              <a:ext uri="{FF2B5EF4-FFF2-40B4-BE49-F238E27FC236}">
                <a16:creationId xmlns:a16="http://schemas.microsoft.com/office/drawing/2014/main" id="{8B3DF955-8DBE-EF91-7DE3-D0B9645614E6}"/>
              </a:ext>
            </a:extLst>
          </p:cNvPr>
          <p:cNvCxnSpPr>
            <a:cxnSpLocks/>
            <a:stCxn id="5" idx="3"/>
            <a:endCxn id="7" idx="3"/>
          </p:cNvCxnSpPr>
          <p:nvPr/>
        </p:nvCxnSpPr>
        <p:spPr>
          <a:xfrm>
            <a:off x="9015330" y="3990678"/>
            <a:ext cx="12700" cy="1456043"/>
          </a:xfrm>
          <a:prstGeom prst="curvedConnector3">
            <a:avLst>
              <a:gd name="adj1" fmla="val 4710638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771F2A29-B1CE-7AA6-07B1-173D091769EC}"/>
              </a:ext>
            </a:extLst>
          </p:cNvPr>
          <p:cNvCxnSpPr>
            <a:cxnSpLocks/>
            <a:stCxn id="7" idx="1"/>
            <a:endCxn id="5" idx="1"/>
          </p:cNvCxnSpPr>
          <p:nvPr/>
        </p:nvCxnSpPr>
        <p:spPr>
          <a:xfrm rot="10800000">
            <a:off x="5842639" y="3990679"/>
            <a:ext cx="12700" cy="1456043"/>
          </a:xfrm>
          <a:prstGeom prst="curvedConnector3">
            <a:avLst>
              <a:gd name="adj1" fmla="val 4914890"/>
            </a:avLst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AD34A4A8-FCE9-0D19-B14E-BC5EE84592F2}"/>
              </a:ext>
            </a:extLst>
          </p:cNvPr>
          <p:cNvCxnSpPr>
            <a:cxnSpLocks/>
            <a:stCxn id="6" idx="2"/>
            <a:endCxn id="5" idx="0"/>
          </p:cNvCxnSpPr>
          <p:nvPr/>
        </p:nvCxnSpPr>
        <p:spPr>
          <a:xfrm>
            <a:off x="7428984" y="3165186"/>
            <a:ext cx="1" cy="37549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>
            <a:extLst>
              <a:ext uri="{FF2B5EF4-FFF2-40B4-BE49-F238E27FC236}">
                <a16:creationId xmlns:a16="http://schemas.microsoft.com/office/drawing/2014/main" id="{D4A1E6AC-AFC0-4123-B66B-A57AE61FC023}"/>
              </a:ext>
            </a:extLst>
          </p:cNvPr>
          <p:cNvSpPr/>
          <p:nvPr/>
        </p:nvSpPr>
        <p:spPr>
          <a:xfrm>
            <a:off x="9699321" y="4250151"/>
            <a:ext cx="1187044" cy="46854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5D5E492-DC66-C0E3-2F1C-512BCA2EBD15}"/>
              </a:ext>
            </a:extLst>
          </p:cNvPr>
          <p:cNvSpPr/>
          <p:nvPr/>
        </p:nvSpPr>
        <p:spPr>
          <a:xfrm>
            <a:off x="3873137" y="4484425"/>
            <a:ext cx="1187044" cy="46854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action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F2E5E65-4466-D360-CD9E-56ED2A00E604}"/>
              </a:ext>
            </a:extLst>
          </p:cNvPr>
          <p:cNvSpPr/>
          <p:nvPr/>
        </p:nvSpPr>
        <p:spPr>
          <a:xfrm>
            <a:off x="9699321" y="4886474"/>
            <a:ext cx="1187044" cy="4685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reward</a:t>
            </a:r>
          </a:p>
        </p:txBody>
      </p:sp>
      <p:cxnSp>
        <p:nvCxnSpPr>
          <p:cNvPr id="36" name="Connector: Curved 35">
            <a:extLst>
              <a:ext uri="{FF2B5EF4-FFF2-40B4-BE49-F238E27FC236}">
                <a16:creationId xmlns:a16="http://schemas.microsoft.com/office/drawing/2014/main" id="{3216AA89-8BF1-DAD4-073A-D740B74B3A9B}"/>
              </a:ext>
            </a:extLst>
          </p:cNvPr>
          <p:cNvCxnSpPr>
            <a:cxnSpLocks/>
            <a:stCxn id="5" idx="3"/>
            <a:endCxn id="7" idx="3"/>
          </p:cNvCxnSpPr>
          <p:nvPr/>
        </p:nvCxnSpPr>
        <p:spPr>
          <a:xfrm>
            <a:off x="9015330" y="3990678"/>
            <a:ext cx="12700" cy="1456043"/>
          </a:xfrm>
          <a:prstGeom prst="curvedConnector3">
            <a:avLst>
              <a:gd name="adj1" fmla="val 3434047"/>
            </a:avLst>
          </a:prstGeom>
          <a:ln w="28575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6876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0FB7DF-9590-EEAB-F0B5-38251F474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Simplifications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415E8-C38A-680F-D2BC-8CEF648C4C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2C4200E-C0B8-49E1-BC7A-2B8B2D8DA90B}" type="slidenum">
              <a:rPr lang="en-GB" smtClean="0"/>
              <a:pPr/>
              <a:t>6</a:t>
            </a:fld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A5E3E3A-71BF-AF53-93E5-D74B89E024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5083410"/>
              </p:ext>
            </p:extLst>
          </p:nvPr>
        </p:nvGraphicFramePr>
        <p:xfrm>
          <a:off x="479425" y="995680"/>
          <a:ext cx="11477625" cy="4015416"/>
        </p:xfrm>
        <a:graphic>
          <a:graphicData uri="http://schemas.openxmlformats.org/drawingml/2006/table">
            <a:tbl>
              <a:tblPr firstRow="1" bandRow="1"/>
              <a:tblGrid>
                <a:gridCol w="3825875">
                  <a:extLst>
                    <a:ext uri="{9D8B030D-6E8A-4147-A177-3AD203B41FA5}">
                      <a16:colId xmlns:a16="http://schemas.microsoft.com/office/drawing/2014/main" val="732531482"/>
                    </a:ext>
                  </a:extLst>
                </a:gridCol>
                <a:gridCol w="3825875">
                  <a:extLst>
                    <a:ext uri="{9D8B030D-6E8A-4147-A177-3AD203B41FA5}">
                      <a16:colId xmlns:a16="http://schemas.microsoft.com/office/drawing/2014/main" val="3164204260"/>
                    </a:ext>
                  </a:extLst>
                </a:gridCol>
                <a:gridCol w="3825875">
                  <a:extLst>
                    <a:ext uri="{9D8B030D-6E8A-4147-A177-3AD203B41FA5}">
                      <a16:colId xmlns:a16="http://schemas.microsoft.com/office/drawing/2014/main" val="3039810392"/>
                    </a:ext>
                  </a:extLst>
                </a:gridCol>
              </a:tblGrid>
              <a:tr h="454409"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327FEF"/>
                          </a:solidFill>
                        </a:rPr>
                        <a:t>Simplification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327FEF"/>
                          </a:solidFill>
                        </a:rPr>
                        <a:t>Reasoning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b="1" dirty="0">
                          <a:solidFill>
                            <a:srgbClr val="327FEF"/>
                          </a:solidFill>
                        </a:rPr>
                        <a:t>Risk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03864316"/>
                  </a:ext>
                </a:extLst>
              </a:tr>
              <a:tr h="634927">
                <a:tc>
                  <a:txBody>
                    <a:bodyPr/>
                    <a:lstStyle/>
                    <a:p>
                      <a:r>
                        <a:rPr lang="en-GB" dirty="0"/>
                        <a:t>2d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 Fast RL iterations</a:t>
                      </a:r>
                    </a:p>
                    <a:p>
                      <a:r>
                        <a:rPr lang="en-GB" dirty="0"/>
                        <a:t>- Concept validation 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 Computational complexity in 3d too big for real application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1853405"/>
                  </a:ext>
                </a:extLst>
              </a:tr>
              <a:tr h="454409">
                <a:tc>
                  <a:txBody>
                    <a:bodyPr/>
                    <a:lstStyle/>
                    <a:p>
                      <a:r>
                        <a:rPr lang="en-GB" dirty="0"/>
                        <a:t>Torque request 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 Allows simple ML integration (continuous variable), vs “Command interface”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 Manoeuvre planning more complex in real world application (RWA)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8255672"/>
                  </a:ext>
                </a:extLst>
              </a:tr>
              <a:tr h="454409">
                <a:tc>
                  <a:txBody>
                    <a:bodyPr/>
                    <a:lstStyle/>
                    <a:p>
                      <a:r>
                        <a:rPr lang="en-GB" dirty="0"/>
                        <a:t>Assuming no sensor noise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Additional overhead to model with little proof of concept gain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Sensor noise should be order of magnitudes lower for this high level control task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 Overfit to sat model (in RWA Sat 1 =! Sat 2)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6707174"/>
                  </a:ext>
                </a:extLst>
              </a:tr>
              <a:tr h="454409">
                <a:tc>
                  <a:txBody>
                    <a:bodyPr/>
                    <a:lstStyle/>
                    <a:p>
                      <a:r>
                        <a:rPr lang="en-GB" dirty="0"/>
                        <a:t>Simplified Cloud model, static, discretized to 1km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Keep computational and modelling complexity low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Overfit to simple cloud model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en-GB" dirty="0"/>
                        <a:t>→ random initialization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521475"/>
                  </a:ext>
                </a:extLst>
              </a:tr>
              <a:tr h="454409">
                <a:tc>
                  <a:txBody>
                    <a:bodyPr/>
                    <a:lstStyle/>
                    <a:p>
                      <a:r>
                        <a:rPr lang="en-GB" dirty="0"/>
                        <a:t>No Air Drag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Reduce unnecessary complexity</a:t>
                      </a:r>
                    </a:p>
                    <a:p>
                      <a:pPr marL="285750" indent="-285750">
                        <a:buFontTx/>
                        <a:buChar char="-"/>
                      </a:pPr>
                      <a:r>
                        <a:rPr lang="en-GB" dirty="0"/>
                        <a:t>Too low for partial orbit regime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8139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10638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D23A4B-01B8-ECD9-2FB0-AEAF22EB7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837" y="315125"/>
            <a:ext cx="10728325" cy="900000"/>
          </a:xfrm>
        </p:spPr>
        <p:txBody>
          <a:bodyPr/>
          <a:lstStyle/>
          <a:p>
            <a:r>
              <a:rPr lang="en-GB" dirty="0"/>
              <a:t>Deterministic baseline model: Demo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3BE39-3542-A36D-E749-888D31A26B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7387" y="5261563"/>
            <a:ext cx="5529264" cy="90000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Sequentially tracks scheduled targets.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Captures near the best geometric imaging opportunity.</a:t>
            </a:r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159E65-3BEB-CD6F-8A92-219C9592C5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42C4200E-C0B8-49E1-BC7A-2B8B2D8DA90B}" type="slidenum">
              <a:rPr lang="en-GB" smtClean="0"/>
              <a:pPr/>
              <a:t>7</a:t>
            </a:fld>
            <a:endParaRPr lang="en-GB" dirty="0"/>
          </a:p>
        </p:txBody>
      </p:sp>
      <p:pic>
        <p:nvPicPr>
          <p:cNvPr id="4" name="07-baseline-overflight-torque">
            <a:hlinkClick r:id="" action="ppaction://media"/>
            <a:extLst>
              <a:ext uri="{FF2B5EF4-FFF2-40B4-BE49-F238E27FC236}">
                <a16:creationId xmlns:a16="http://schemas.microsoft.com/office/drawing/2014/main" id="{2B11D016-BE9C-4338-FB9C-1F50628C907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44587" y="619562"/>
            <a:ext cx="8443913" cy="4749701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2E8ACC0-3BCA-5AA0-23D2-00E44CE3D40F}"/>
              </a:ext>
            </a:extLst>
          </p:cNvPr>
          <p:cNvSpPr txBox="1">
            <a:spLocks/>
          </p:cNvSpPr>
          <p:nvPr/>
        </p:nvSpPr>
        <p:spPr>
          <a:xfrm>
            <a:off x="5769609" y="5261563"/>
            <a:ext cx="5529264" cy="9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AutoNum type="arabicPeriod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Does not use live cloud awareness.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Used as the reference policy for learned approaches.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2154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9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42575-7CA0-A660-5B4F-49F70CE53D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61906-2CB5-7F82-C7F9-EECA1679E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ML formulation: what the agent sees and decides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AEB559-003D-E69B-E196-B7248F9347F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 smtClean="0"/>
              <a:t>8</a:t>
            </a:fld>
            <a:endParaRPr lang="de-CH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BDC1573-C737-F73E-B4D2-8B333C67CE0D}"/>
              </a:ext>
            </a:extLst>
          </p:cNvPr>
          <p:cNvSpPr/>
          <p:nvPr/>
        </p:nvSpPr>
        <p:spPr>
          <a:xfrm>
            <a:off x="731837" y="1042482"/>
            <a:ext cx="1187044" cy="46854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state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150EB7D-5991-6898-FFBB-75D3C6AB6D56}"/>
              </a:ext>
            </a:extLst>
          </p:cNvPr>
          <p:cNvSpPr/>
          <p:nvPr/>
        </p:nvSpPr>
        <p:spPr>
          <a:xfrm>
            <a:off x="3986993" y="1042482"/>
            <a:ext cx="1187044" cy="468548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action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E24FAEE-01E6-B9B5-4D6D-4F6F4E1A3C40}"/>
              </a:ext>
            </a:extLst>
          </p:cNvPr>
          <p:cNvSpPr/>
          <p:nvPr/>
        </p:nvSpPr>
        <p:spPr>
          <a:xfrm>
            <a:off x="7242149" y="1042482"/>
            <a:ext cx="1187044" cy="468548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reward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4A495D-4166-C2C6-0212-892F615ABDBB}"/>
              </a:ext>
            </a:extLst>
          </p:cNvPr>
          <p:cNvSpPr txBox="1"/>
          <p:nvPr/>
        </p:nvSpPr>
        <p:spPr>
          <a:xfrm>
            <a:off x="731837" y="1686128"/>
            <a:ext cx="290630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Orbit (</a:t>
            </a:r>
            <a:r>
              <a:rPr lang="en-GB" dirty="0" err="1"/>
              <a:t>pos</a:t>
            </a:r>
            <a:r>
              <a:rPr lang="en-GB" dirty="0"/>
              <a:t> relative to earth)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Attitude (orientation in space)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Pointing direction for targets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Primary and secondary vision array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Remaining image budget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B0A13A-2796-454E-85F4-E6E1D026176A}"/>
              </a:ext>
            </a:extLst>
          </p:cNvPr>
          <p:cNvSpPr txBox="1"/>
          <p:nvPr/>
        </p:nvSpPr>
        <p:spPr>
          <a:xfrm>
            <a:off x="3790545" y="1686128"/>
            <a:ext cx="290630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Pointing request (torque / vector) :</a:t>
            </a:r>
            <a:r>
              <a:rPr lang="en-GB" i="1" dirty="0" err="1"/>
              <a:t>continous</a:t>
            </a: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Shutter command :</a:t>
            </a:r>
            <a:r>
              <a:rPr lang="en-GB" i="1" dirty="0" err="1"/>
              <a:t>boolean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DBA924D-1A00-0E5D-81BC-A6B9C974A875}"/>
              </a:ext>
            </a:extLst>
          </p:cNvPr>
          <p:cNvSpPr txBox="1"/>
          <p:nvPr/>
        </p:nvSpPr>
        <p:spPr>
          <a:xfrm>
            <a:off x="6849253" y="1686128"/>
            <a:ext cx="290630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+ Image quality</a:t>
            </a:r>
          </a:p>
          <a:p>
            <a:r>
              <a:rPr lang="en-GB" dirty="0"/>
              <a:t>+ Coverage</a:t>
            </a:r>
          </a:p>
          <a:p>
            <a:r>
              <a:rPr lang="en-GB" dirty="0"/>
              <a:t>+ Novelty</a:t>
            </a:r>
          </a:p>
          <a:p>
            <a:r>
              <a:rPr lang="en-GB" dirty="0"/>
              <a:t>- Exceed shutter budget</a:t>
            </a:r>
          </a:p>
          <a:p>
            <a:r>
              <a:rPr lang="en-GB" dirty="0"/>
              <a:t>- non-zero pointing request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297770EE-54FF-25D9-C3F3-A03B6C556F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95268297"/>
              </p:ext>
            </p:extLst>
          </p:nvPr>
        </p:nvGraphicFramePr>
        <p:xfrm>
          <a:off x="1325359" y="3596900"/>
          <a:ext cx="8128000" cy="2372360"/>
        </p:xfrm>
        <a:graphic>
          <a:graphicData uri="http://schemas.openxmlformats.org/drawingml/2006/table">
            <a:tbl>
              <a:tblPr firstRow="1" bandRow="1">
                <a:tableStyleId>{8CE324DF-E4CA-492E-AE2F-25B033C11A72}</a:tableStyleId>
              </a:tblPr>
              <a:tblGrid>
                <a:gridCol w="1975560">
                  <a:extLst>
                    <a:ext uri="{9D8B030D-6E8A-4147-A177-3AD203B41FA5}">
                      <a16:colId xmlns:a16="http://schemas.microsoft.com/office/drawing/2014/main" val="1077034797"/>
                    </a:ext>
                  </a:extLst>
                </a:gridCol>
                <a:gridCol w="6152440">
                  <a:extLst>
                    <a:ext uri="{9D8B030D-6E8A-4147-A177-3AD203B41FA5}">
                      <a16:colId xmlns:a16="http://schemas.microsoft.com/office/drawing/2014/main" val="39054069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Reward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Justification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94776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Image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Avoid Motion Blur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02124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Fraction of the Image not covered by clouds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8635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Novelty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Imaging an area twice is redundant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05820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Exceed budget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When the budget is used up, we want to stop doing any manoeuvres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2072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/>
                        <a:t>Pointing 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Any pointing request has an actuator energy implied, limit </a:t>
                      </a:r>
                      <a:r>
                        <a:rPr lang="en-GB"/>
                        <a:t>random movement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6496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96656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BBABA-ACFC-EA76-17EC-42AACB941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BU: System Architecture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2B693E-4FE7-08C0-92E6-EBA777007B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183EAD-59F1-8394-D07E-E3D95FC363E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 smtClean="0"/>
              <a:t>9</a:t>
            </a:fld>
            <a:endParaRPr lang="de-CH"/>
          </a:p>
        </p:txBody>
      </p:sp>
      <p:pic>
        <p:nvPicPr>
          <p:cNvPr id="5" name="Picture 4" descr="architecture_overview.png">
            <a:extLst>
              <a:ext uri="{FF2B5EF4-FFF2-40B4-BE49-F238E27FC236}">
                <a16:creationId xmlns:a16="http://schemas.microsoft.com/office/drawing/2014/main" id="{4F3BDFE1-B4AB-D01D-32DC-82020033E2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-1" t="15708" r="2" b="5863"/>
          <a:stretch>
            <a:fillRect/>
          </a:stretch>
        </p:blipFill>
        <p:spPr>
          <a:xfrm>
            <a:off x="120650" y="997528"/>
            <a:ext cx="11950700" cy="538941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97852908"/>
      </p:ext>
    </p:extLst>
  </p:cSld>
  <p:clrMapOvr>
    <a:masterClrMapping/>
  </p:clrMapOvr>
</p:sld>
</file>

<file path=ppt/theme/theme1.xml><?xml version="1.0" encoding="utf-8"?>
<a:theme xmlns:a="http://schemas.openxmlformats.org/drawingml/2006/main" name="ETH Zürich">
  <a:themeElements>
    <a:clrScheme name="ETH Zürich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269B0"/>
      </a:accent1>
      <a:accent2>
        <a:srgbClr val="91056A"/>
      </a:accent2>
      <a:accent3>
        <a:srgbClr val="007A96"/>
      </a:accent3>
      <a:accent4>
        <a:srgbClr val="485A2C"/>
      </a:accent4>
      <a:accent5>
        <a:srgbClr val="A8322D"/>
      </a:accent5>
      <a:accent6>
        <a:srgbClr val="72791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ETH Zürich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269B0"/>
      </a:accent1>
      <a:accent2>
        <a:srgbClr val="91056A"/>
      </a:accent2>
      <a:accent3>
        <a:srgbClr val="007A96"/>
      </a:accent3>
      <a:accent4>
        <a:srgbClr val="485A2C"/>
      </a:accent4>
      <a:accent5>
        <a:srgbClr val="A8322D"/>
      </a:accent5>
      <a:accent6>
        <a:srgbClr val="72791C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f948412-d78e-4892-a4d8-571bd33514fd" xsi:nil="true"/>
    <lcf76f155ced4ddcb4097134ff3c332f xmlns="3c0e7bc4-6f83-4a7c-b452-3be35046f464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EC6FF753561470498BCBAE13BA235A47" ma:contentTypeVersion="16" ma:contentTypeDescription="Ein neues Dokument erstellen." ma:contentTypeScope="" ma:versionID="c566f16cc79c634bc569bce4419c41ec">
  <xsd:schema xmlns:xsd="http://www.w3.org/2001/XMLSchema" xmlns:xs="http://www.w3.org/2001/XMLSchema" xmlns:p="http://schemas.microsoft.com/office/2006/metadata/properties" xmlns:ns2="3c0e7bc4-6f83-4a7c-b452-3be35046f464" xmlns:ns3="bf948412-d78e-4892-a4d8-571bd33514fd" targetNamespace="http://schemas.microsoft.com/office/2006/metadata/properties" ma:root="true" ma:fieldsID="b910f3ffb31be8bb96108740195ffaa6" ns2:_="" ns3:_="">
    <xsd:import namespace="3c0e7bc4-6f83-4a7c-b452-3be35046f464"/>
    <xsd:import namespace="bf948412-d78e-4892-a4d8-571bd33514f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LengthInSecond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0e7bc4-6f83-4a7c-b452-3be35046f46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Bildmarkierungen" ma:readOnly="false" ma:fieldId="{5cf76f15-5ced-4ddc-b409-7134ff3c332f}" ma:taxonomyMulti="true" ma:sspId="3de204c0-5f5b-4590-a04e-c3c641a9c9a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f948412-d78e-4892-a4d8-571bd33514fd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0f4805ac-b13d-421b-9c12-dfca4e48660b}" ma:internalName="TaxCatchAll" ma:showField="CatchAllData" ma:web="bf948412-d78e-4892-a4d8-571bd33514f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AE2F39C-7EA2-4C6D-852E-5A505076F777}">
  <ds:schemaRefs>
    <ds:schemaRef ds:uri="3c0e7bc4-6f83-4a7c-b452-3be35046f464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bf948412-d78e-4892-a4d8-571bd33514fd"/>
    <ds:schemaRef ds:uri="http://purl.org/dc/elements/1.1/"/>
    <ds:schemaRef ds:uri="http://schemas.microsoft.com/office/2006/metadata/propertie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CF1062CD-605A-4CDB-A801-2BE61AB71C1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FB25B42-C716-4815-B98D-61B7DE0DCE5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c0e7bc4-6f83-4a7c-b452-3be35046f464"/>
    <ds:schemaRef ds:uri="bf948412-d78e-4892-a4d8-571bd33514f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524</Words>
  <Application>Microsoft Office PowerPoint</Application>
  <PresentationFormat>Widescreen</PresentationFormat>
  <Paragraphs>105</Paragraphs>
  <Slides>9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Noto Sans Symbols</vt:lpstr>
      <vt:lpstr>Segoe UI</vt:lpstr>
      <vt:lpstr>Wingdings</vt:lpstr>
      <vt:lpstr>ETH Zürich</vt:lpstr>
      <vt:lpstr>Autonomous Satellite control  Cloud aware learned pointing</vt:lpstr>
      <vt:lpstr>PowerPoint Presentation</vt:lpstr>
      <vt:lpstr>Current approach: Deterministic Planning</vt:lpstr>
      <vt:lpstr>Research Question</vt:lpstr>
      <vt:lpstr>Experiment Setup</vt:lpstr>
      <vt:lpstr>Simplifications</vt:lpstr>
      <vt:lpstr>Deterministic baseline model: Demo</vt:lpstr>
      <vt:lpstr>ML formulation: what the agent sees and decides</vt:lpstr>
      <vt:lpstr>BU: System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Cédric Grieder</dc:creator>
  <cp:lastModifiedBy>Cédric Grieder</cp:lastModifiedBy>
  <cp:revision>4</cp:revision>
  <dcterms:modified xsi:type="dcterms:W3CDTF">2026-07-04T12:57:13Z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0x010100EC6FF753561470498BCBAE13BA235A47</vt:lpwstr>
  </property>
  <property fmtid="{D5CDD505-2E9C-101B-9397-08002B2CF9AE}" pid="3" name="MediaServiceImageTags">
    <vt:lpwstr/>
  </property>
</Properties>
</file>