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Hook-first opening: the cloud-occlusion problem, made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Links the scheduling concept to the deterministic baseline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Embedded; click to play. Source: warmup rollout (baseline policy).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docs/project-charter.md.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Charter scope + north star.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diagrams/architecture_overview.png (presentation_diagrams.py).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diagrams/simulation_kernel_flow.png.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diagrams/ml_agents_flow.png.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Broad-audience explainer; non-ML coworkers.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machine-learning.md observations/actions.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diagrams/reward_anatomy.png. Source: autonomous_control/reward.py.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diagrams/image_quality.png. Source: simulation/image_quality.py.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constants/SATELLITE.py (MAX_PRIMARY_CAPTURES_PER_ORBIT=10); observation include_capture_budget; reward shutter-waste penalty.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technical-constants.md + environment-hyperparameters.md.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diagrams/safety_flow.png. simulation/attitude_controller.py + ATTITUDE_SAFETY.py.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diagrams/scientific_method.png.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STATUS_2026-06.md + pipeline docs; merges old Exp1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runs/ml_overnight_h1a_mpo_sparse_22-18-35/plots/learning_curves.png.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Embedded. runs/ml_overnight_h1a_mpo_sparse_22-18-35/videos/eval_best.mp4.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runs/9998217211235184_ml_encoder_r2_sac_a1_03-06-04/plots/returns_by_episode.png.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Embedded. runs/9998217211235184_ml_encoder_r2_sac_a1_03-06-04/videos/eval_best.mp4.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diagrams/exp3_compare.png from compare_sac_mpo.json.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diagrams/exp4_compare.png from agent_reference.json.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diagrams/results_scoreboard.png — verified from verdict JSONs + summary_metrics.json. Includes old KPI-summary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Partially tested; pipeline and learning loop in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Iterate until beat baseline; then mission planner.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User fills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User fills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sac_hparam_grid_summary.json.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agent_reference.json.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Embedded. runs/9998217182442815_ml_ref_ref1_vector_11-05-57/videos/eval_best.mp4.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Embedded. compare_sac_mpo.json.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docs/research/LITERATURE_HIGHLIGHTS.md (cross-paper cheat sheet) + DECISIONS.md.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docs/ml/STATUS_2026-06.md.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technical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30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3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19.png"/><Relationship Id="rId5" Type="http://schemas.openxmlformats.org/officeDocument/2006/relationships/notesSlide" Target="../notesSlides/notesSlide3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20.png"/><Relationship Id="rId5" Type="http://schemas.openxmlformats.org/officeDocument/2006/relationships/notesSlide" Target="../notesSlides/notesSlide3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2926080" cy="444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EAF0FB"/>
                </a:solidFill>
                <a:latin typeface="Segoe UI"/>
              </a:rPr>
              <a:t>Autonomous Satellite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977639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38BDF8"/>
                </a:solidFill>
                <a:latin typeface="Segoe UI"/>
              </a:rPr>
              <a:t>Cloud-aware learned pointing in a from-scratch 2D simulation · full work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350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3A4C3"/>
                </a:solidFill>
                <a:latin typeface="Segoe UI"/>
              </a:rPr>
              <a:t>Cedric Grieder  ·  ETH x Beyond Gravity semester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1463040"/>
          </a:xfrm>
          <a:prstGeom prst="rect">
            <a:avLst/>
          </a:prstGeom>
          <a:solidFill>
            <a:srgbClr val="16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788920"/>
            <a:ext cx="128016" cy="14630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48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8BDF8"/>
                </a:solidFill>
                <a:latin typeface="Segoe UI"/>
              </a:rPr>
              <a:t>S1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697480"/>
            <a:ext cx="10424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AF0FB"/>
                </a:solidFill>
                <a:latin typeface="Segoe UI"/>
              </a:rPr>
              <a:t>1 · Problem &amp; 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2976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3A4C3"/>
                </a:solidFill>
                <a:latin typeface="Segoe UI"/>
              </a:rPr>
              <a:t>Why cloud-aware Earth observation needs onboard intelligence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3A4C3"/>
                </a:solidFill>
                <a:latin typeface="Segoe UI"/>
              </a:rPr>
              <a:t>Autonomous Satellite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8BDF8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M01</a:t>
            </a:r>
            <a:r>
              <a:rPr sz="2200" b="1">
                <a:solidFill>
                  <a:srgbClr val="EAF0FB"/>
                </a:solidFill>
                <a:latin typeface="Segoe UI"/>
              </a:rPr>
              <a:t>   Rainforest EO under clouds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2286000" cy="304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44368" y="1078992"/>
            <a:ext cx="8823960" cy="12700"/>
          </a:xfrm>
          <a:prstGeom prst="rect">
            <a:avLst/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01_cloudy_rain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626" y="1280160"/>
            <a:ext cx="8123988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9436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250" b="0">
                <a:solidFill>
                  <a:srgbClr val="93A4C3"/>
                </a:solidFill>
                <a:latin typeface="Segoe UI"/>
              </a:rPr>
              <a:t>Earth observation of rainforests is constantly defeated by cloud cover.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250" b="0">
                <a:solidFill>
                  <a:srgbClr val="93A4C3"/>
                </a:solidFill>
                <a:latin typeface="Segoe UI"/>
              </a:rPr>
              <a:t>From orbit, much of every pass is cloud-blocked — capturing the clear moments is the whole game.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250" b="0">
                <a:solidFill>
                  <a:srgbClr val="93A4C3"/>
                </a:solidFill>
                <a:latin typeface="Segoe UI"/>
              </a:rPr>
              <a:t>Image: clouds scattered over the Amazon basin (Wikimedia Commons, NASA/aerial).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3A4C3"/>
                </a:solidFill>
                <a:latin typeface="Segoe UI"/>
              </a:rPr>
              <a:t>Autonomous Satellite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8BDF8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M02</a:t>
            </a:r>
            <a:r>
              <a:rPr sz="2200" b="1">
                <a:solidFill>
                  <a:srgbClr val="EAF0FB"/>
                </a:solidFill>
                <a:latin typeface="Segoe UI"/>
              </a:rPr>
              <a:t>  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2286000" cy="304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44368" y="1078992"/>
            <a:ext cx="8823960" cy="12700"/>
          </a:xfrm>
          <a:prstGeom prst="rect">
            <a:avLst/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1 · Problem &amp; mission — cloud-aware EO and today's deterministic baseline.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2 · The system we built from scratch — simulation, sensing, reward, ML, safety.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3 · Scientific method — the hypothesis-driven experiment pipeline.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4 · Results &amp; evidence — what learns, what does not, and the video proof.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5 · Conclusion &amp; next steps.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3A4C3"/>
                </a:solidFill>
                <a:latin typeface="Segoe UI"/>
              </a:rPr>
              <a:t>Autonomous Satellite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8BDF8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M03</a:t>
            </a:r>
            <a:r>
              <a:rPr sz="2200" b="1">
                <a:solidFill>
                  <a:srgbClr val="EAF0FB"/>
                </a:solidFill>
                <a:latin typeface="Segoe UI"/>
              </a:rPr>
              <a:t>   Current practice &amp; the baseline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2286000" cy="304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44368" y="1078992"/>
            <a:ext cx="8823960" cy="12700"/>
          </a:xfrm>
          <a:prstGeom prst="rect">
            <a:avLst/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Current practice: scientists pre-define which areas to image; cloudy frames are filtered out later in post-processing.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That spends scarce memory and downlink on cloud-blocked captures and cannot react to live conditions.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Our baseline mimics today's plan: a fixed set of targets along the pass, imaged at the best (closest) estimated quality, then move to the next.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Fixed attitude + pre-planned shutter — no onboard cloud awareness. Best seen in the video next.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3A4C3"/>
                </a:solidFill>
                <a:latin typeface="Segoe UI"/>
              </a:rPr>
              <a:t>Autonomous Satellite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8BDF8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M04</a:t>
            </a:r>
            <a:r>
              <a:rPr sz="2200" b="1">
                <a:solidFill>
                  <a:srgbClr val="EAF0FB"/>
                </a:solidFill>
                <a:latin typeface="Segoe UI"/>
              </a:rPr>
              <a:t>   The deterministic baseline (video)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2286000" cy="304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44368" y="1078992"/>
            <a:ext cx="8823960" cy="12700"/>
          </a:xfrm>
          <a:prstGeom prst="rect">
            <a:avLst/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475488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400" b="0">
                <a:solidFill>
                  <a:srgbClr val="EAF0FB"/>
                </a:solidFill>
                <a:latin typeface="Segoe UI"/>
              </a:rPr>
              <a:t>Deterministic baseline = SequentialTargetBaselinePolicy (OBC pointing).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400" b="0">
                <a:solidFill>
                  <a:srgbClr val="EAF0FB"/>
                </a:solidFill>
                <a:latin typeface="Segoe UI"/>
              </a:rPr>
              <a:t>Slews to point at each scheduled target, images at the best (closest) pass, then advances to the next.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400" b="0">
                <a:solidFill>
                  <a:srgbClr val="EAF0FB"/>
                </a:solidFill>
                <a:latin typeface="Segoe UI"/>
              </a:rPr>
              <a:t>Boresight tracks each target's line-of-sight (see 'Pointing vs nadir'), but it does not react to live cloud cover.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400" b="0">
                <a:solidFill>
                  <a:srgbClr val="EAF0FB"/>
                </a:solidFill>
                <a:latin typeface="Segoe UI"/>
              </a:rPr>
              <a:t>This is the reference every learned policy must beat (warmup mean return ~ +89).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400" b="0">
                <a:solidFill>
                  <a:srgbClr val="EAF0FB"/>
                </a:solidFill>
                <a:latin typeface="Segoe UI"/>
              </a:rPr>
              <a:t>Same dual-camera dashboard used for all clips in this deck.</a:t>
            </a:r>
          </a:p>
        </p:txBody>
      </p:sp>
      <p:pic>
        <p:nvPicPr>
          <p:cNvPr id="8" name="01_baseline_deterministi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06440" y="2064544"/>
            <a:ext cx="5989320" cy="33689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06440" y="5451824"/>
            <a:ext cx="5989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8BDF8"/>
                </a:solidFill>
                <a:latin typeface="Segoe UI"/>
              </a:rPr>
              <a:t>▶  click to play  ·  </a:t>
            </a:r>
            <a:r>
              <a:rPr sz="1100" b="0">
                <a:solidFill>
                  <a:srgbClr val="93A4C3"/>
                </a:solidFill>
                <a:latin typeface="Segoe UI"/>
              </a:rPr>
              <a:t>01_baseline_deterministic.mp4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3A4C3"/>
                </a:solidFill>
                <a:latin typeface="Segoe UI"/>
              </a:rPr>
              <a:t>Autonomous Satellite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8BDF8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M05</a:t>
            </a:r>
            <a:r>
              <a:rPr sz="2200" b="1">
                <a:solidFill>
                  <a:srgbClr val="EAF0FB"/>
                </a:solidFill>
                <a:latin typeface="Segoe UI"/>
              </a:rPr>
              <a:t>   Primary research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2286000" cy="304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44368" y="1078992"/>
            <a:ext cx="8823960" cy="12700"/>
          </a:xfrm>
          <a:prstGeom prst="rect">
            <a:avLst/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Can a cloud-aware learned policy outperform the deterministic baseline on observation value?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Observation value = successful captures weighted by image quality, coverage, and target novelty.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Compared on matched setups: same clouds, altitude, and target layout per episode.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3A4C3"/>
                </a:solidFill>
                <a:latin typeface="Segoe UI"/>
              </a:rPr>
              <a:t>Autonomous Satellite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8BDF8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M06</a:t>
            </a:r>
            <a:r>
              <a:rPr sz="2200" b="1">
                <a:solidFill>
                  <a:srgbClr val="EAF0FB"/>
                </a:solidFill>
                <a:latin typeface="Segoe UI"/>
              </a:rPr>
              <a:t>   Scope &amp; non-goals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2286000" cy="304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44368" y="1078992"/>
            <a:ext cx="8823960" cy="12700"/>
          </a:xfrm>
          <a:prstGeom prst="rect">
            <a:avLst/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In scope: single-satellite 2D overflight simulation with cloud-aware sensing, built from scratch.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Simplifications: 2D attitude, single pass, simulated vision — not flight hardware.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Non-goals: multi-satellite ops, 3D deliverable, SOTA RL benchmark chasing.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North star: hierarchical mission planner over OBC tracking; direct torque RL is interim.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3A4C3"/>
                </a:solidFill>
                <a:latin typeface="Segoe UI"/>
              </a:rPr>
              <a:t>Autonomous Satellite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8BDF8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1463040"/>
          </a:xfrm>
          <a:prstGeom prst="rect">
            <a:avLst/>
          </a:prstGeom>
          <a:solidFill>
            <a:srgbClr val="16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788920"/>
            <a:ext cx="128016" cy="14630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48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8BDF8"/>
                </a:solidFill>
                <a:latin typeface="Segoe UI"/>
              </a:rPr>
              <a:t>S2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697480"/>
            <a:ext cx="10424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AF0FB"/>
                </a:solidFill>
                <a:latin typeface="Segoe UI"/>
              </a:rPr>
              <a:t>2 · The system we built from scratch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2976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3A4C3"/>
                </a:solidFill>
                <a:latin typeface="Segoe UI"/>
              </a:rPr>
              <a:t>Simulation core, sensing, reward, ML loop and renderer — one converged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3A4C3"/>
                </a:solidFill>
                <a:latin typeface="Segoe UI"/>
              </a:rPr>
              <a:t>Autonomous Satellite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8BDF8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M07</a:t>
            </a:r>
            <a:r>
              <a:rPr sz="2200" b="1">
                <a:solidFill>
                  <a:srgbClr val="EAF0FB"/>
                </a:solidFill>
                <a:latin typeface="Segoe UI"/>
              </a:rPr>
              <a:t>   Converged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2286000" cy="304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44368" y="1078992"/>
            <a:ext cx="8823960" cy="12700"/>
          </a:xfrm>
          <a:prstGeom prst="rect">
            <a:avLst/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rchitectur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353" y="1280160"/>
            <a:ext cx="7966533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9436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250" b="0">
                <a:solidFill>
                  <a:srgbClr val="93A4C3"/>
                </a:solidFill>
                <a:latin typeface="Segoe UI"/>
              </a:rPr>
              <a:t>Config -&gt; simulation core -&gt; canonical artifact -&gt; learning loop &amp; render, with a closed action loop.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250" b="0">
                <a:solidFill>
                  <a:srgbClr val="93A4C3"/>
                </a:solidFill>
                <a:latin typeface="Segoe UI"/>
              </a:rPr>
              <a:t>Invariant: one episode = one SimulationStateSeries, shared by train, eval and render.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3A4C3"/>
                </a:solidFill>
                <a:latin typeface="Segoe UI"/>
              </a:rPr>
              <a:t>Autonomous Satellite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8BDF8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M07c</a:t>
            </a:r>
            <a:r>
              <a:rPr sz="2200" b="1">
                <a:solidFill>
                  <a:srgbClr val="EAF0FB"/>
                </a:solidFill>
                <a:latin typeface="Segoe UI"/>
              </a:rPr>
              <a:t>   Simulation kernel — build &amp; step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2286000" cy="304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44368" y="1078992"/>
            <a:ext cx="8823960" cy="12700"/>
          </a:xfrm>
          <a:prstGeom prst="rect">
            <a:avLst/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imulation_kernel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353" y="1280160"/>
            <a:ext cx="7966533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9436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250" b="0">
                <a:solidFill>
                  <a:srgbClr val="93A4C3"/>
                </a:solidFill>
                <a:latin typeface="Segoe UI"/>
              </a:rPr>
              <a:t>build_stepper() is the sole constructor; every step runs control -&gt; dynamics -&gt; sensor -&gt; reward.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250" b="0">
                <a:solidFill>
                  <a:srgbClr val="93A4C3"/>
                </a:solidFill>
                <a:latin typeface="Segoe UI"/>
              </a:rPr>
              <a:t>Torque, OBC-PD and vector paths all converge on the same dynamics and the same artifact.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3A4C3"/>
                </a:solidFill>
                <a:latin typeface="Segoe UI"/>
              </a:rPr>
              <a:t>Autonomous Satellite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8BDF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M07b</a:t>
            </a:r>
            <a:r>
              <a:rPr sz="2200" b="1">
                <a:solidFill>
                  <a:srgbClr val="EAF0FB"/>
                </a:solidFill>
                <a:latin typeface="Segoe UI"/>
              </a:rPr>
              <a:t>   ML training loop — SAC &amp; MPO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2286000" cy="304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44368" y="1078992"/>
            <a:ext cx="8823960" cy="12700"/>
          </a:xfrm>
          <a:prstGeom prst="rect">
            <a:avLst/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l_agents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353" y="1280160"/>
            <a:ext cx="7966533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9436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250" b="0">
                <a:solidFill>
                  <a:srgbClr val="93A4C3"/>
                </a:solidFill>
                <a:latin typeface="Segoe UI"/>
              </a:rPr>
              <a:t>Shared Encoder / Actor / Critic; per controller-tick store to the ReplayBuffer.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250" b="0">
                <a:solidFill>
                  <a:srgbClr val="93A4C3"/>
                </a:solidFill>
                <a:latin typeface="Segoe UI"/>
              </a:rPr>
              <a:t>Reward shaping (sparse / dense) and algorithm (SAC / MPO) are tuned independently — we test which pairing works.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3A4C3"/>
                </a:solidFill>
                <a:latin typeface="Segoe UI"/>
              </a:rPr>
              <a:t>Autonomous Satellite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8BDF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M09</a:t>
            </a:r>
            <a:r>
              <a:rPr sz="2200" b="1">
                <a:solidFill>
                  <a:srgbClr val="EAF0FB"/>
                </a:solidFill>
                <a:latin typeface="Segoe UI"/>
              </a:rPr>
              <a:t>   Algorithms in plain language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2286000" cy="304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44368" y="1078992"/>
            <a:ext cx="8823960" cy="12700"/>
          </a:xfrm>
          <a:prstGeom prst="rect">
            <a:avLst/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Both SAC and MPO are reinforcement-learning algorithms: they improve a control policy by trial-and-error from rewarded experience.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SAC (Soft Actor-Critic): off-policy, reuses past experience from a replay buffer, and adds an 'exploration bonus' to keep trying new actions. Stable and forgiving. Main knobs: exploration weight (alpha), learning rate, network width.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MPO (Max a-posteriori Policy Optimisation): updates the policy inside a 'trust region' so it can never change too fast. Powerful but sensitive. Main knobs: trust-region size (KL), the eta dual, learning rate.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Rule of thumb: SAC is the safe, simple choice; MPO can be stronger but is harder to keep stable.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On this task SAC produced learning where MPO collapsed (results section).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3A4C3"/>
                </a:solidFill>
                <a:latin typeface="Segoe UI"/>
              </a:rPr>
              <a:t>Autonomous Satellite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8BDF8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M08</a:t>
            </a:r>
            <a:r>
              <a:rPr sz="2200" b="1">
                <a:solidFill>
                  <a:srgbClr val="EAF0FB"/>
                </a:solidFill>
                <a:latin typeface="Segoe UI"/>
              </a:rPr>
              <a:t>   ML integration — observations &amp;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2286000" cy="304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44368" y="1078992"/>
            <a:ext cx="8823960" cy="12700"/>
          </a:xfrm>
          <a:prstGeom prst="rect">
            <a:avLst/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Observation: attitude + orbit scalars, primary/secondary camera observation-line codes, mission scalars (capture budget, per-target imaged mask, bearing errors).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Encoder: scalar MLP fused with a 1D-CNN over each camera line (k=5, channels 16-&gt;32, embed dim 32).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Action (2D): dim0 = reaction-wheel torque (Ref0) OR nadir-relative vector u (Ref1); dim1 = continuous shutter.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The same observation/action interface feeds either algorithm and either reward shaping.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3A4C3"/>
                </a:solidFill>
                <a:latin typeface="Segoe UI"/>
              </a:rPr>
              <a:t>Autonomous Satellite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8BDF8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M10</a:t>
            </a:r>
            <a:r>
              <a:rPr sz="2200" b="1">
                <a:solidFill>
                  <a:srgbClr val="EAF0FB"/>
                </a:solidFill>
                <a:latin typeface="Segoe UI"/>
              </a:rPr>
              <a:t>   Reward anatomy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2286000" cy="304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44368" y="1078992"/>
            <a:ext cx="8823960" cy="12700"/>
          </a:xfrm>
          <a:prstGeom prst="rect">
            <a:avLst/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ward_anat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353" y="1280160"/>
            <a:ext cx="7966533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9436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250" b="0">
                <a:solidFill>
                  <a:srgbClr val="93A4C3"/>
                </a:solidFill>
                <a:latin typeface="Segoe UI"/>
              </a:rPr>
              <a:t>Capture credit = quality x coverage x (1 - cloud_frac), paid only on budgeted, novel shutter events (&lt;=10/orbit).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250" b="0">
                <a:solidFill>
                  <a:srgbClr val="93A4C3"/>
                </a:solidFill>
                <a:latin typeface="Segoe UI"/>
              </a:rPr>
              <a:t>Dense penalties (shutter waste, torque effort) regularize control.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250" b="0">
                <a:solidFill>
                  <a:srgbClr val="93A4C3"/>
                </a:solidFill>
                <a:latin typeface="Segoe UI"/>
              </a:rPr>
              <a:t>'quality' is the image-quality term from motion smear — detailed on the next slide.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3A4C3"/>
                </a:solidFill>
                <a:latin typeface="Segoe UI"/>
              </a:rPr>
              <a:t>Autonomous Satellite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8BDF8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M10b</a:t>
            </a:r>
            <a:r>
              <a:rPr sz="2200" b="1">
                <a:solidFill>
                  <a:srgbClr val="EAF0FB"/>
                </a:solidFill>
                <a:latin typeface="Segoe UI"/>
              </a:rPr>
              <a:t>   How image quality is computed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2286000" cy="304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44368" y="1078992"/>
            <a:ext cx="8823960" cy="12700"/>
          </a:xfrm>
          <a:prstGeom prst="rect">
            <a:avLst/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353" y="1280160"/>
            <a:ext cx="7966533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9436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250" b="0">
                <a:solidFill>
                  <a:srgbClr val="93A4C3"/>
                </a:solidFill>
                <a:latin typeface="Segoe UI"/>
              </a:rPr>
              <a:t>Ground motion during the 100 us exposure blurs the frame: blur = |v_bore| x t_exp.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250" b="0">
                <a:solidFill>
                  <a:srgbClr val="93A4C3"/>
                </a:solidFill>
                <a:latin typeface="Segoe UI"/>
              </a:rPr>
              <a:t>quality = ref / (blur + ref), ref = 0.30 m -&gt; quality 0.5 at 0.30 m blur, ~1.0 at zero motion.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250" b="0">
                <a:solidFill>
                  <a:srgbClr val="93A4C3"/>
                </a:solidFill>
                <a:latin typeface="Segoe UI"/>
              </a:rPr>
              <a:t>Holding a target (low relative ground speed) -&gt; low blur -&gt; high quality; nadir coast smears more.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250" b="0">
                <a:solidFill>
                  <a:srgbClr val="93A4C3"/>
                </a:solidFill>
                <a:latin typeface="Segoe UI"/>
              </a:rPr>
              <a:t>quality scales the capture credit, so steady on-target pointing is rewarded.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3A4C3"/>
                </a:solidFill>
                <a:latin typeface="Segoe UI"/>
              </a:rPr>
              <a:t>Autonomous Satellite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8BDF8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M10c</a:t>
            </a:r>
            <a:r>
              <a:rPr sz="2200" b="1">
                <a:solidFill>
                  <a:srgbClr val="EAF0FB"/>
                </a:solidFill>
                <a:latin typeface="Segoe UI"/>
              </a:rPr>
              <a:t>   The shutter budget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2286000" cy="304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44368" y="1078992"/>
            <a:ext cx="8823960" cy="12700"/>
          </a:xfrm>
          <a:prstGeom prst="rect">
            <a:avLst/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Onboard limit: max 10 primary-camera captures per orbit (MAX_PRIMARY_CAPTURES_PER_ORBIT) — a memory + downlink budget. One episode ≈ one orbit pass.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The agent sees capture_budget_remaining in its observation, so it always knows how many shots are left.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Capture credit is paid only while budget remains and the target is novel; once the 10 shots are spent, extra shutter earns nothing and incurs the shutter-waste penalty.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So the task is to spend the best 10 moments — clear, high-quality, novel targets — not to shutter constantly.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This is why the MPO collapse (~516 shutter commands against a budget of 10) is almost pure waste.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3A4C3"/>
                </a:solidFill>
                <a:latin typeface="Segoe UI"/>
              </a:rPr>
              <a:t>Autonomous Satellite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8BDF8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M11</a:t>
            </a:r>
            <a:r>
              <a:rPr sz="2200" b="1">
                <a:solidFill>
                  <a:srgbClr val="EAF0FB"/>
                </a:solidFill>
                <a:latin typeface="Segoe UI"/>
              </a:rPr>
              <a:t>   Satellite &amp; sensor setup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2286000" cy="304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44368" y="1078992"/>
            <a:ext cx="8823960" cy="12700"/>
          </a:xfrm>
          <a:prstGeom prst="rect">
            <a:avLst/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3A4C3"/>
                </a:solidFill>
                <a:latin typeface="Segoe UI"/>
              </a:rPr>
              <a:t>"Bus" = the satellite platform (structure, power, wheels) that carries the camera payload.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20624" y="1828800"/>
          <a:ext cx="11338559" cy="4434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94483"/>
                <a:gridCol w="8844076"/>
              </a:tblGrid>
              <a:tr h="6335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1221"/>
                          </a:solidFill>
                          <a:latin typeface="Segoe UI"/>
                        </a:rPr>
                        <a:t>Subsystem</a:t>
                      </a:r>
                    </a:p>
                  </a:txBody>
                  <a:tcPr marL="73152" marR="73152" marT="27432" marB="27432" anchor="ctr">
                    <a:solidFill>
                      <a:srgbClr val="38B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1221"/>
                          </a:solidFill>
                          <a:latin typeface="Segoe UI"/>
                        </a:rPr>
                        <a:t>Key parameters</a:t>
                      </a:r>
                    </a:p>
                  </a:txBody>
                  <a:tcPr marL="73152" marR="73152" marT="27432" marB="27432" anchor="ctr">
                    <a:solidFill>
                      <a:srgbClr val="38BDF8"/>
                    </a:solidFill>
                  </a:tcPr>
                </a:tc>
              </a:tr>
              <a:tr h="6335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AF0FB"/>
                          </a:solidFill>
                          <a:latin typeface="Segoe UI"/>
                        </a:rPr>
                        <a:t>Platform (bus)</a:t>
                      </a:r>
                    </a:p>
                  </a:txBody>
                  <a:tcPr marL="73152" marR="73152" marT="27432" marB="27432" anchor="ctr">
                    <a:solidFill>
                      <a:srgbClr val="1622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AF0FB"/>
                          </a:solidFill>
                          <a:latin typeface="Segoe UI"/>
                        </a:rPr>
                        <a:t>250 kg  ·  2D env inertia Izz = 31.2 kg·m²</a:t>
                      </a:r>
                    </a:p>
                  </a:txBody>
                  <a:tcPr marL="73152" marR="73152" marT="27432" marB="27432" anchor="ctr">
                    <a:solidFill>
                      <a:srgbClr val="16223B"/>
                    </a:solidFill>
                  </a:tcPr>
                </a:tc>
              </a:tr>
              <a:tr h="6335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AF0FB"/>
                          </a:solidFill>
                          <a:latin typeface="Segoe UI"/>
                        </a:rPr>
                        <a:t>Reaction wheel</a:t>
                      </a:r>
                    </a:p>
                  </a:txBody>
                  <a:tcPr marL="73152" marR="73152" marT="27432" marB="27432" anchor="ctr">
                    <a:solidFill>
                      <a:srgbClr val="101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AF0FB"/>
                          </a:solidFill>
                          <a:latin typeface="Segoe UI"/>
                        </a:rPr>
                        <a:t>max torque 0.1 N·m  ·  momentum 0.4 N·m·s  ·  omega_w_max 150 rad/s</a:t>
                      </a:r>
                    </a:p>
                  </a:txBody>
                  <a:tcPr marL="73152" marR="73152" marT="27432" marB="27432" anchor="ctr">
                    <a:solidFill>
                      <a:srgbClr val="101A30"/>
                    </a:solidFill>
                  </a:tcPr>
                </a:tc>
              </a:tr>
              <a:tr h="6335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AF0FB"/>
                          </a:solidFill>
                          <a:latin typeface="Segoe UI"/>
                        </a:rPr>
                        <a:t>Attitude limits</a:t>
                      </a:r>
                    </a:p>
                  </a:txBody>
                  <a:tcPr marL="73152" marR="73152" marT="27432" marB="27432" anchor="ctr">
                    <a:solidFill>
                      <a:srgbClr val="1622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AF0FB"/>
                          </a:solidFill>
                          <a:latin typeface="Segoe UI"/>
                        </a:rPr>
                        <a:t>star-tracker slew 3°/s  ·  hard limit 45° off-nadir</a:t>
                      </a:r>
                    </a:p>
                  </a:txBody>
                  <a:tcPr marL="73152" marR="73152" marT="27432" marB="27432" anchor="ctr">
                    <a:solidFill>
                      <a:srgbClr val="16223B"/>
                    </a:solidFill>
                  </a:tcPr>
                </a:tc>
              </a:tr>
              <a:tr h="6335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AF0FB"/>
                          </a:solidFill>
                          <a:latin typeface="Segoe UI"/>
                        </a:rPr>
                        <a:t>Primary camera</a:t>
                      </a:r>
                    </a:p>
                  </a:txBody>
                  <a:tcPr marL="73152" marR="73152" marT="27432" marB="27432" anchor="ctr">
                    <a:solidFill>
                      <a:srgbClr val="101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AF0FB"/>
                          </a:solidFill>
                          <a:latin typeface="Segoe UI"/>
                        </a:rPr>
                        <a:t>9344×7000 px  ·  3.2 µm pitch  ·  1067 mm focal  ·  100 µs exposure</a:t>
                      </a:r>
                    </a:p>
                  </a:txBody>
                  <a:tcPr marL="73152" marR="73152" marT="27432" marB="27432" anchor="ctr">
                    <a:solidFill>
                      <a:srgbClr val="101A30"/>
                    </a:solidFill>
                  </a:tcPr>
                </a:tc>
              </a:tr>
              <a:tr h="6335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AF0FB"/>
                          </a:solidFill>
                          <a:latin typeface="Segoe UI"/>
                        </a:rPr>
                        <a:t>Sensing</a:t>
                      </a:r>
                    </a:p>
                  </a:txBody>
                  <a:tcPr marL="73152" marR="73152" marT="27432" marB="27432" anchor="ctr">
                    <a:solidFill>
                      <a:srgbClr val="1622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AF0FB"/>
                          </a:solidFill>
                          <a:latin typeface="Segoe UI"/>
                        </a:rPr>
                        <a:t>primary observation line 100 bins + secondary context 200 bins  ·  ray-traced clouds</a:t>
                      </a:r>
                    </a:p>
                  </a:txBody>
                  <a:tcPr marL="73152" marR="73152" marT="27432" marB="27432" anchor="ctr">
                    <a:solidFill>
                      <a:srgbClr val="16223B"/>
                    </a:solidFill>
                  </a:tcPr>
                </a:tc>
              </a:tr>
              <a:tr h="63355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AF0FB"/>
                          </a:solidFill>
                          <a:latin typeface="Segoe UI"/>
                        </a:rPr>
                        <a:t>Mission</a:t>
                      </a:r>
                    </a:p>
                  </a:txBody>
                  <a:tcPr marL="73152" marR="73152" marT="27432" marB="27432" anchor="ctr">
                    <a:solidFill>
                      <a:srgbClr val="101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AF0FB"/>
                          </a:solidFill>
                          <a:latin typeface="Segoe UI"/>
                        </a:rPr>
                        <a:t>altitude ~U(510, 570) km  ·  ~50-target polar stripe  ·  dt 1.5 s  ·  ≤1000 steps/episode</a:t>
                      </a:r>
                    </a:p>
                  </a:txBody>
                  <a:tcPr marL="73152" marR="73152" marT="27432" marB="27432" anchor="ctr">
                    <a:solidFill>
                      <a:srgbClr val="101A30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3A4C3"/>
                </a:solidFill>
                <a:latin typeface="Segoe UI"/>
              </a:rPr>
              <a:t>Autonomous Satellite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8BDF8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M12</a:t>
            </a:r>
            <a:r>
              <a:rPr sz="2200" b="1">
                <a:solidFill>
                  <a:srgbClr val="EAF0FB"/>
                </a:solidFill>
                <a:latin typeface="Segoe UI"/>
              </a:rPr>
              <a:t>   Safety — mode-specific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2286000" cy="304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44368" y="1078992"/>
            <a:ext cx="8823960" cy="12700"/>
          </a:xfrm>
          <a:prstGeom prst="rect">
            <a:avLst/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afety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353" y="1280160"/>
            <a:ext cx="7966533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9436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250" b="0">
                <a:solidFill>
                  <a:srgbClr val="93A4C3"/>
                </a:solidFill>
                <a:latin typeface="Segoe UI"/>
              </a:rPr>
              <a:t>Torque mode (Ref0): agent torque is arbitrated -&gt; pass-through / taper / safe-mode (BRAKE-&gt;CRUISE-&gt;SETTLE-&gt;LOCKOUT 60 s).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250" b="0">
                <a:solidFill>
                  <a:srgbClr val="93A4C3"/>
                </a:solidFill>
                <a:latin typeface="Segoe UI"/>
              </a:rPr>
              <a:t>Vector mode (Ref1): safety acts on the pointing request (hold-last at 45°), the torque-path safety is bypassed.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250" b="0">
                <a:solidFill>
                  <a:srgbClr val="93A4C3"/>
                </a:solidFill>
                <a:latin typeface="Segoe UI"/>
              </a:rPr>
              <a:t>Both paths share one reaction-wheel gate and the same dynamics; hard limit 45° off-nadir.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3A4C3"/>
                </a:solidFill>
                <a:latin typeface="Segoe UI"/>
              </a:rPr>
              <a:t>Autonomous Satellite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8BDF8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1463040"/>
          </a:xfrm>
          <a:prstGeom prst="rect">
            <a:avLst/>
          </a:prstGeom>
          <a:solidFill>
            <a:srgbClr val="16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788920"/>
            <a:ext cx="128016" cy="14630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48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8BDF8"/>
                </a:solidFill>
                <a:latin typeface="Segoe UI"/>
              </a:rPr>
              <a:t>S3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697480"/>
            <a:ext cx="10424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AF0FB"/>
                </a:solidFill>
                <a:latin typeface="Segoe UI"/>
              </a:rPr>
              <a:t>3 · Scientific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2976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3A4C3"/>
                </a:solidFill>
                <a:latin typeface="Segoe UI"/>
              </a:rPr>
              <a:t>Hypothesis-driven pipeline with frozen protocol and documented verdicts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3A4C3"/>
                </a:solidFill>
                <a:latin typeface="Segoe UI"/>
              </a:rPr>
              <a:t>Autonomous Satellite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8BDF8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M13</a:t>
            </a:r>
            <a:r>
              <a:rPr sz="2200" b="1">
                <a:solidFill>
                  <a:srgbClr val="EAF0FB"/>
                </a:solidFill>
                <a:latin typeface="Segoe UI"/>
              </a:rPr>
              <a:t>   How we experiment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2286000" cy="304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44368" y="1078992"/>
            <a:ext cx="8823960" cy="12700"/>
          </a:xfrm>
          <a:prstGeom prst="rect">
            <a:avLst/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ientific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353" y="1280160"/>
            <a:ext cx="7966533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9436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250" b="0">
                <a:solidFill>
                  <a:srgbClr val="93A4C3"/>
                </a:solidFill>
                <a:latin typeface="Segoe UI"/>
              </a:rPr>
              <a:t>Charter -&gt; literature -&gt; design (one delta/arm) -&gt; run -&gt; evidence -&gt; verdict card -&gt; loop.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250" b="0">
                <a:solidFill>
                  <a:srgbClr val="93A4C3"/>
                </a:solidFill>
                <a:latin typeface="Segoe UI"/>
              </a:rPr>
              <a:t>Frozen protocol (dt 1.5 s, seeds, episode counts); invalid runs documented and excluded; 16 decisions logged.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3A4C3"/>
                </a:solidFill>
                <a:latin typeface="Segoe UI"/>
              </a:rPr>
              <a:t>Autonomous Satellite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8BDF8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M14</a:t>
            </a:r>
            <a:r>
              <a:rPr sz="2200" b="1">
                <a:solidFill>
                  <a:srgbClr val="EAF0FB"/>
                </a:solidFill>
                <a:latin typeface="Segoe UI"/>
              </a:rPr>
              <a:t>   Experiment campaign (ML)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2286000" cy="304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44368" y="1078992"/>
            <a:ext cx="8823960" cy="12700"/>
          </a:xfrm>
          <a:prstGeom prst="rect">
            <a:avLst/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3A4C3"/>
                </a:solidFill>
                <a:latin typeface="Segoe UI"/>
              </a:rPr>
              <a:t>~6 ML experiment campaigns · 200+ training runs on disk · each row below = one hypothesis we tested (sim-dev work excluded).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20624" y="1828800"/>
          <a:ext cx="11338559" cy="4434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01568"/>
                <a:gridCol w="2607868"/>
                <a:gridCol w="1133856"/>
                <a:gridCol w="4195267"/>
              </a:tblGrid>
              <a:tr h="55435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1221"/>
                          </a:solidFill>
                          <a:latin typeface="Segoe UI"/>
                        </a:rPr>
                        <a:t>Question / hypothesis</a:t>
                      </a:r>
                    </a:p>
                  </a:txBody>
                  <a:tcPr marL="73152" marR="73152" marT="27432" marB="27432" anchor="ctr">
                    <a:solidFill>
                      <a:srgbClr val="38B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1221"/>
                          </a:solidFill>
                          <a:latin typeface="Segoe UI"/>
                        </a:rPr>
                        <a:t>What we changed</a:t>
                      </a:r>
                    </a:p>
                  </a:txBody>
                  <a:tcPr marL="73152" marR="73152" marT="27432" marB="27432" anchor="ctr">
                    <a:solidFill>
                      <a:srgbClr val="38B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1221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marL="73152" marR="73152" marT="27432" marB="27432" anchor="ctr">
                    <a:solidFill>
                      <a:srgbClr val="38B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1221"/>
                          </a:solidFill>
                          <a:latin typeface="Segoe UI"/>
                        </a:rPr>
                        <a:t>Result (verdict)</a:t>
                      </a:r>
                    </a:p>
                  </a:txBody>
                  <a:tcPr marL="73152" marR="73152" marT="27432" marB="27432" anchor="ctr">
                    <a:solidFill>
                      <a:srgbClr val="38BDF8"/>
                    </a:solidFill>
                  </a:tcPr>
                </a:tc>
              </a:tr>
              <a:tr h="554355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AF0FB"/>
                          </a:solidFill>
                          <a:latin typeface="Segoe UI"/>
                        </a:rPr>
                        <a:t>Agent always fires — is the shutter boolean threshold too low (tanh saturates near +1)?</a:t>
                      </a:r>
                    </a:p>
                  </a:txBody>
                  <a:tcPr marL="73152" marR="73152" marT="27432" marB="27432" anchor="ctr">
                    <a:solidFill>
                      <a:srgbClr val="1622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AF0FB"/>
                          </a:solidFill>
                          <a:latin typeface="Segoe UI"/>
                        </a:rPr>
                        <a:t>shutter threshold 0.5 -&gt; 0.9 (+15 s credit window)</a:t>
                      </a:r>
                    </a:p>
                  </a:txBody>
                  <a:tcPr marL="73152" marR="73152" marT="27432" marB="27432" anchor="ctr">
                    <a:solidFill>
                      <a:srgbClr val="1622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AF0FB"/>
                          </a:solidFill>
                          <a:latin typeface="Segoe UI"/>
                        </a:rPr>
                        <a:t>MPO</a:t>
                      </a:r>
                    </a:p>
                  </a:txBody>
                  <a:tcPr marL="73152" marR="73152" marT="27432" marB="27432" anchor="ctr">
                    <a:solidFill>
                      <a:srgbClr val="1622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AF0FB"/>
                          </a:solidFill>
                          <a:latin typeface="Segoe UI"/>
                        </a:rPr>
                        <a:t>No change: 516 -&gt; 514.9 cmds/ep, fires 99.8%; not the root cause (Exp 1, not supported)</a:t>
                      </a:r>
                    </a:p>
                  </a:txBody>
                  <a:tcPr marL="73152" marR="73152" marT="27432" marB="27432" anchor="ctr">
                    <a:solidFill>
                      <a:srgbClr val="16223B"/>
                    </a:solidFill>
                  </a:tcPr>
                </a:tc>
              </a:tr>
              <a:tr h="554355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AF0FB"/>
                          </a:solidFill>
                          <a:latin typeface="Segoe UI"/>
                        </a:rPr>
                        <a:t>Is the reward signal too sparse to learn?</a:t>
                      </a:r>
                    </a:p>
                  </a:txBody>
                  <a:tcPr marL="73152" marR="73152" marT="27432" marB="27432" anchor="ctr">
                    <a:solidFill>
                      <a:srgbClr val="101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AF0FB"/>
                          </a:solidFill>
                          <a:latin typeface="Segoe UI"/>
                        </a:rPr>
                        <a:t>introduce dense per-step credit</a:t>
                      </a:r>
                    </a:p>
                  </a:txBody>
                  <a:tcPr marL="73152" marR="73152" marT="27432" marB="27432" anchor="ctr">
                    <a:solidFill>
                      <a:srgbClr val="101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AF0FB"/>
                          </a:solidFill>
                          <a:latin typeface="Segoe UI"/>
                        </a:rPr>
                        <a:t>MPO</a:t>
                      </a:r>
                    </a:p>
                  </a:txBody>
                  <a:tcPr marL="73152" marR="73152" marT="27432" marB="27432" anchor="ctr">
                    <a:solidFill>
                      <a:srgbClr val="101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AF0FB"/>
                          </a:solidFill>
                          <a:latin typeface="Segoe UI"/>
                        </a:rPr>
                        <a:t>Still flat at -51.6; sparsity not the only blocker (Exp 3, inconclusive)</a:t>
                      </a:r>
                    </a:p>
                  </a:txBody>
                  <a:tcPr marL="73152" marR="73152" marT="27432" marB="27432" anchor="ctr">
                    <a:solidFill>
                      <a:srgbClr val="101A30"/>
                    </a:solidFill>
                  </a:tcPr>
                </a:tc>
              </a:tr>
              <a:tr h="554355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AF0FB"/>
                          </a:solidFill>
                          <a:latin typeface="Segoe UI"/>
                        </a:rPr>
                        <a:t>Overfitting to the time window where the baseline fires?</a:t>
                      </a:r>
                    </a:p>
                  </a:txBody>
                  <a:tcPr marL="73152" marR="73152" marT="27432" marB="27432" anchor="ctr">
                    <a:solidFill>
                      <a:srgbClr val="1622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AF0FB"/>
                          </a:solidFill>
                          <a:latin typeface="Segoe UI"/>
                        </a:rPr>
                        <a:t>first-10 targets -&gt; strided targeting (even baseline signal)</a:t>
                      </a:r>
                    </a:p>
                  </a:txBody>
                  <a:tcPr marL="73152" marR="73152" marT="27432" marB="27432" anchor="ctr">
                    <a:solidFill>
                      <a:srgbClr val="1622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AF0FB"/>
                          </a:solidFill>
                          <a:latin typeface="Segoe UI"/>
                        </a:rPr>
                        <a:t>all</a:t>
                      </a:r>
                    </a:p>
                  </a:txBody>
                  <a:tcPr marL="73152" marR="73152" marT="27432" marB="27432" anchor="ctr">
                    <a:solidFill>
                      <a:srgbClr val="1622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AF0FB"/>
                          </a:solidFill>
                          <a:latin typeface="Segoe UI"/>
                        </a:rPr>
                        <a:t>Evened the baseline signal across the pass (campaign setup)</a:t>
                      </a:r>
                    </a:p>
                  </a:txBody>
                  <a:tcPr marL="73152" marR="73152" marT="27432" marB="27432" anchor="ctr">
                    <a:solidFill>
                      <a:srgbClr val="16223B"/>
                    </a:solidFill>
                  </a:tcPr>
                </a:tc>
              </a:tr>
              <a:tr h="554355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AF0FB"/>
                          </a:solidFill>
                          <a:latin typeface="Segoe UI"/>
                        </a:rPr>
                        <a:t>Is model capacity / encoder structure enough?</a:t>
                      </a:r>
                    </a:p>
                  </a:txBody>
                  <a:tcPr marL="73152" marR="73152" marT="27432" marB="27432" anchor="ctr">
                    <a:solidFill>
                      <a:srgbClr val="101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AF0FB"/>
                          </a:solidFill>
                          <a:latin typeface="Segoe UI"/>
                        </a:rPr>
                        <a:t>flat vs compressed (1D-CNN) encoder</a:t>
                      </a:r>
                    </a:p>
                  </a:txBody>
                  <a:tcPr marL="73152" marR="73152" marT="27432" marB="27432" anchor="ctr">
                    <a:solidFill>
                      <a:srgbClr val="101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AF0FB"/>
                          </a:solidFill>
                          <a:latin typeface="Segoe UI"/>
                        </a:rPr>
                        <a:t>SAC</a:t>
                      </a:r>
                    </a:p>
                  </a:txBody>
                  <a:tcPr marL="73152" marR="73152" marT="27432" marB="27432" anchor="ctr">
                    <a:solidFill>
                      <a:srgbClr val="101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AF0FB"/>
                          </a:solidFill>
                          <a:latin typeface="Segoe UI"/>
                        </a:rPr>
                        <a:t>In learnable regime: compress +80.9 beats flat -3.9 (Exp 2, confirmed later)</a:t>
                      </a:r>
                    </a:p>
                  </a:txBody>
                  <a:tcPr marL="73152" marR="73152" marT="27432" marB="27432" anchor="ctr">
                    <a:solidFill>
                      <a:srgbClr val="101A30"/>
                    </a:solidFill>
                  </a:tcPr>
                </a:tc>
              </a:tr>
              <a:tr h="554355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AF0FB"/>
                          </a:solidFill>
                          <a:latin typeface="Segoe UI"/>
                        </a:rPr>
                        <a:t>Model does not learn — can a simpler algorithm produce learning?</a:t>
                      </a:r>
                    </a:p>
                  </a:txBody>
                  <a:tcPr marL="73152" marR="73152" marT="27432" marB="27432" anchor="ctr">
                    <a:solidFill>
                      <a:srgbClr val="1622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AF0FB"/>
                          </a:solidFill>
                          <a:latin typeface="Segoe UI"/>
                        </a:rPr>
                        <a:t>swap MPO -&gt; SAC (off-policy, simpler)</a:t>
                      </a:r>
                    </a:p>
                  </a:txBody>
                  <a:tcPr marL="73152" marR="73152" marT="27432" marB="27432" anchor="ctr">
                    <a:solidFill>
                      <a:srgbClr val="1622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AF0FB"/>
                          </a:solidFill>
                          <a:latin typeface="Segoe UI"/>
                        </a:rPr>
                        <a:t>SAC vs MPO</a:t>
                      </a:r>
                    </a:p>
                  </a:txBody>
                  <a:tcPr marL="73152" marR="73152" marT="27432" marB="27432" anchor="ctr">
                    <a:solidFill>
                      <a:srgbClr val="1622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AF0FB"/>
                          </a:solidFill>
                          <a:latin typeface="Segoe UI"/>
                        </a:rPr>
                        <a:t>SAC learns (+5.3 train, learning signal); MPO collapses (Exp 3, SAC supported)</a:t>
                      </a:r>
                    </a:p>
                  </a:txBody>
                  <a:tcPr marL="73152" marR="73152" marT="27432" marB="27432" anchor="ctr">
                    <a:solidFill>
                      <a:srgbClr val="16223B"/>
                    </a:solidFill>
                  </a:tcPr>
                </a:tc>
              </a:tr>
              <a:tr h="554355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AF0FB"/>
                          </a:solidFill>
                          <a:latin typeface="Segoe UI"/>
                        </a:rPr>
                        <a:t>Model outputs high torque always — penalize effort?</a:t>
                      </a:r>
                    </a:p>
                  </a:txBody>
                  <a:tcPr marL="73152" marR="73152" marT="27432" marB="27432" anchor="ctr">
                    <a:solidFill>
                      <a:srgbClr val="101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AF0FB"/>
                          </a:solidFill>
                          <a:latin typeface="Segoe UI"/>
                        </a:rPr>
                        <a:t>add torque-effort penalty -k(tau/tau_max)²</a:t>
                      </a:r>
                    </a:p>
                  </a:txBody>
                  <a:tcPr marL="73152" marR="73152" marT="27432" marB="27432" anchor="ctr">
                    <a:solidFill>
                      <a:srgbClr val="101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AF0FB"/>
                          </a:solidFill>
                          <a:latin typeface="Segoe UI"/>
                        </a:rPr>
                        <a:t>SAC/MPO</a:t>
                      </a:r>
                    </a:p>
                  </a:txBody>
                  <a:tcPr marL="73152" marR="73152" marT="27432" marB="27432" anchor="ctr">
                    <a:solidFill>
                      <a:srgbClr val="101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AF0FB"/>
                          </a:solidFill>
                          <a:latin typeface="Segoe UI"/>
                        </a:rPr>
                        <a:t>Late-episode torque becomes structured (not constant); regularizes control</a:t>
                      </a:r>
                    </a:p>
                  </a:txBody>
                  <a:tcPr marL="73152" marR="73152" marT="27432" marB="27432" anchor="ctr">
                    <a:solidFill>
                      <a:srgbClr val="101A30"/>
                    </a:solidFill>
                  </a:tcPr>
                </a:tc>
              </a:tr>
              <a:tr h="554355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AF0FB"/>
                          </a:solidFill>
                          <a:latin typeface="Segoe UI"/>
                        </a:rPr>
                        <a:t>Safe-mode triggers a lot — is torque control too hard to learn?</a:t>
                      </a:r>
                    </a:p>
                  </a:txBody>
                  <a:tcPr marL="73152" marR="73152" marT="27432" marB="27432" anchor="ctr">
                    <a:solidFill>
                      <a:srgbClr val="1622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AF0FB"/>
                          </a:solidFill>
                          <a:latin typeface="Segoe UI"/>
                        </a:rPr>
                        <a:t>vector (nadir-relative) action vs torque</a:t>
                      </a:r>
                    </a:p>
                  </a:txBody>
                  <a:tcPr marL="73152" marR="73152" marT="27432" marB="27432" anchor="ctr">
                    <a:solidFill>
                      <a:srgbClr val="1622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AF0FB"/>
                          </a:solidFill>
                          <a:latin typeface="Segoe UI"/>
                        </a:rPr>
                        <a:t>SAC</a:t>
                      </a:r>
                    </a:p>
                  </a:txBody>
                  <a:tcPr marL="73152" marR="73152" marT="27432" marB="27432" anchor="ctr">
                    <a:solidFill>
                      <a:srgbClr val="1622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AF0FB"/>
                          </a:solidFill>
                          <a:latin typeface="Segoe UI"/>
                        </a:rPr>
                        <a:t>Both learn, hold-last=0; torque eval -11.1 beats vector -24.1 (Exp 4, KPI pending)</a:t>
                      </a:r>
                    </a:p>
                  </a:txBody>
                  <a:tcPr marL="73152" marR="73152" marT="27432" marB="27432" anchor="ctr">
                    <a:solidFill>
                      <a:srgbClr val="16223B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3A4C3"/>
                </a:solidFill>
                <a:latin typeface="Segoe UI"/>
              </a:rPr>
              <a:t>Autonomous Satellite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8BDF8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1463040"/>
          </a:xfrm>
          <a:prstGeom prst="rect">
            <a:avLst/>
          </a:prstGeom>
          <a:solidFill>
            <a:srgbClr val="16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788920"/>
            <a:ext cx="128016" cy="14630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48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8BDF8"/>
                </a:solidFill>
                <a:latin typeface="Segoe UI"/>
              </a:rPr>
              <a:t>S4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697480"/>
            <a:ext cx="10424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AF0FB"/>
                </a:solidFill>
                <a:latin typeface="Segoe UI"/>
              </a:rPr>
              <a:t>4 · Results &amp;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2976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3A4C3"/>
                </a:solidFill>
                <a:latin typeface="Segoe UI"/>
              </a:rPr>
              <a:t>From a collapsed MPO start to a positive SAC result — examples first, then the summary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3A4C3"/>
                </a:solidFill>
                <a:latin typeface="Segoe UI"/>
              </a:rPr>
              <a:t>Autonomous Satellite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8BDF8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M15b</a:t>
            </a:r>
            <a:r>
              <a:rPr sz="2200" b="1">
                <a:solidFill>
                  <a:srgbClr val="EAF0FB"/>
                </a:solidFill>
                <a:latin typeface="Segoe UI"/>
              </a:rPr>
              <a:t>   First experiments — MPO collapse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2286000" cy="304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44368" y="1078992"/>
            <a:ext cx="8823960" cy="12700"/>
          </a:xfrm>
          <a:prstGeom prst="rect">
            <a:avLst/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journey_mpo_collap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906" y="1280160"/>
            <a:ext cx="6531428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9436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250" b="0">
                <a:solidFill>
                  <a:srgbClr val="93A4C3"/>
                </a:solidFill>
                <a:latin typeface="Segoe UI"/>
              </a:rPr>
              <a:t>Our first MPO experiments did not work — we call this the 'MPO collapse'.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250" b="0">
                <a:solidFill>
                  <a:srgbClr val="93A4C3"/>
                </a:solidFill>
                <a:latin typeface="Segoe UI"/>
              </a:rPr>
              <a:t>Overnight MPO sparse: eval -243.5, no learning signal; eta ~1.9e6, KL ~407k.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250" b="0">
                <a:solidFill>
                  <a:srgbClr val="93A4C3"/>
                </a:solidFill>
                <a:latin typeface="Segoe UI"/>
              </a:rPr>
              <a:t>Symptom: 100% torque saturation, ~1936 shutter cmds / 2 eval eps, 0 meaningful captures.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250" b="0">
                <a:solidFill>
                  <a:srgbClr val="93A4C3"/>
                </a:solidFill>
                <a:latin typeface="Segoe UI"/>
              </a:rPr>
              <a:t>Note: 'baseline' elsewhere is our deterministic reference (+89) — a different thing from this failed learned run.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3A4C3"/>
                </a:solidFill>
                <a:latin typeface="Segoe UI"/>
              </a:rPr>
              <a:t>Autonomous Satellite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8BDF8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M15c</a:t>
            </a:r>
            <a:r>
              <a:rPr sz="2200" b="1">
                <a:solidFill>
                  <a:srgbClr val="EAF0FB"/>
                </a:solidFill>
                <a:latin typeface="Segoe UI"/>
              </a:rPr>
              <a:t>   MPO collapse (video)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2286000" cy="304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44368" y="1078992"/>
            <a:ext cx="8823960" cy="12700"/>
          </a:xfrm>
          <a:prstGeom prst="rect">
            <a:avLst/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475488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400" b="0">
                <a:solidFill>
                  <a:srgbClr val="EAF0FB"/>
                </a:solidFill>
                <a:latin typeface="Segoe UI"/>
              </a:rPr>
              <a:t>Model: MPO, sparse reward, eval rollout.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400" b="0">
                <a:solidFill>
                  <a:srgbClr val="EAF0FB"/>
                </a:solidFill>
                <a:latin typeface="Segoe UI"/>
              </a:rPr>
              <a:t>Reaction-wheel torque pins to the limit (square-wave saturation).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400" b="0">
                <a:solidFill>
                  <a:srgbClr val="EAF0FB"/>
                </a:solidFill>
                <a:latin typeface="Segoe UI"/>
              </a:rPr>
              <a:t>Shutter fires almost every step (pink line) with ~0 useful captures.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400" b="0">
                <a:solidFill>
                  <a:srgbClr val="EAF0FB"/>
                </a:solidFill>
                <a:latin typeface="Segoe UI"/>
              </a:rPr>
              <a:t>Safe-mode activates repeatedly — the agent never settles on a target.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400" b="0">
                <a:solidFill>
                  <a:srgbClr val="EAF0FB"/>
                </a:solidFill>
                <a:latin typeface="Segoe UI"/>
              </a:rPr>
              <a:t>eval return -243.5; this failure motivated the whole experiment pipeline.</a:t>
            </a:r>
          </a:p>
        </p:txBody>
      </p:sp>
      <p:pic>
        <p:nvPicPr>
          <p:cNvPr id="8" name="02_mpo_collapse_safemod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06440" y="2064544"/>
            <a:ext cx="5989320" cy="33689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06440" y="5451824"/>
            <a:ext cx="5989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8BDF8"/>
                </a:solidFill>
                <a:latin typeface="Segoe UI"/>
              </a:rPr>
              <a:t>▶  click to play  ·  </a:t>
            </a:r>
            <a:r>
              <a:rPr sz="1100" b="0">
                <a:solidFill>
                  <a:srgbClr val="93A4C3"/>
                </a:solidFill>
                <a:latin typeface="Segoe UI"/>
              </a:rPr>
              <a:t>02_mpo_collapse_safemode.mp4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3A4C3"/>
                </a:solidFill>
                <a:latin typeface="Segoe UI"/>
              </a:rPr>
              <a:t>Autonomous Satellite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8BDF8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M16b</a:t>
            </a:r>
            <a:r>
              <a:rPr sz="2200" b="1">
                <a:solidFill>
                  <a:srgbClr val="EAF0FB"/>
                </a:solidFill>
                <a:latin typeface="Segoe UI"/>
              </a:rPr>
              <a:t>   Breakthrough — SAC learns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2286000" cy="304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44368" y="1078992"/>
            <a:ext cx="8823960" cy="12700"/>
          </a:xfrm>
          <a:prstGeom prst="rect">
            <a:avLst/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ac_learns_encoder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86458"/>
            <a:ext cx="11384280" cy="39594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9436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250" b="0">
                <a:solidFill>
                  <a:srgbClr val="93A4C3"/>
                </a:solidFill>
                <a:latin typeface="Segoe UI"/>
              </a:rPr>
              <a:t>Model: SAC, compressed 1D-CNN encoder, sparse reward, 50 episodes.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250" b="0">
                <a:solidFill>
                  <a:srgbClr val="93A4C3"/>
                </a:solidFill>
                <a:latin typeface="Segoe UI"/>
              </a:rPr>
              <a:t>Train return climbs from ~-75 to +137; eval stabilises at +80.9.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250" b="0">
                <a:solidFill>
                  <a:srgbClr val="93A4C3"/>
                </a:solidFill>
                <a:latin typeface="Segoe UI"/>
              </a:rPr>
              <a:t>Encoder reversal: compressed (A1) +80.9 beats flat (A0) -3.9 — Exp 2's deferred interest confirmed.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3A4C3"/>
                </a:solidFill>
                <a:latin typeface="Segoe UI"/>
              </a:rPr>
              <a:t>Autonomous Satellite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8BDF8"/>
                </a:solidFill>
                <a:latin typeface="Segoe UI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M16e</a:t>
            </a:r>
            <a:r>
              <a:rPr sz="2200" b="1">
                <a:solidFill>
                  <a:srgbClr val="EAF0FB"/>
                </a:solidFill>
                <a:latin typeface="Segoe UI"/>
              </a:rPr>
              <a:t>   First good SAC result (video)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2286000" cy="304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44368" y="1078992"/>
            <a:ext cx="8823960" cy="12700"/>
          </a:xfrm>
          <a:prstGeom prst="rect">
            <a:avLst/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475488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400" b="0">
                <a:solidFill>
                  <a:srgbClr val="EAF0FB"/>
                </a:solidFill>
                <a:latin typeface="Segoe UI"/>
              </a:rPr>
              <a:t>Model: SAC, compressed encoder, eval rollout — the best learned policy (+80.9).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400" b="0">
                <a:solidFill>
                  <a:srgbClr val="EAF0FB"/>
                </a:solidFill>
                <a:latin typeface="Segoe UI"/>
              </a:rPr>
              <a:t>Clean target captures; smear ~0.2 px; safe-mode activations = 0.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400" b="0">
                <a:solidFill>
                  <a:srgbClr val="EAF0FB"/>
                </a:solidFill>
                <a:latin typeface="Segoe UI"/>
              </a:rPr>
              <a:t>Reaction-wheel torque is structured, not saturated — pointing holds on target.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400" b="0">
                <a:solidFill>
                  <a:srgbClr val="EAF0FB"/>
                </a:solidFill>
                <a:latin typeface="Segoe UI"/>
              </a:rPr>
              <a:t>Contrast directly with the MPO collapse clip earlier.</a:t>
            </a:r>
          </a:p>
        </p:txBody>
      </p:sp>
      <p:pic>
        <p:nvPicPr>
          <p:cNvPr id="8" name="03_sac_first_good_result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06440" y="2064544"/>
            <a:ext cx="5989320" cy="33689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06440" y="5451824"/>
            <a:ext cx="5989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8BDF8"/>
                </a:solidFill>
                <a:latin typeface="Segoe UI"/>
              </a:rPr>
              <a:t>▶  click to play  ·  </a:t>
            </a:r>
            <a:r>
              <a:rPr sz="1100" b="0">
                <a:solidFill>
                  <a:srgbClr val="93A4C3"/>
                </a:solidFill>
                <a:latin typeface="Segoe UI"/>
              </a:rPr>
              <a:t>03_sac_first_good_result.mp4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3A4C3"/>
                </a:solidFill>
                <a:latin typeface="Segoe UI"/>
              </a:rPr>
              <a:t>Autonomous Satellite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8BDF8"/>
                </a:solidFill>
                <a:latin typeface="Segoe UI"/>
              </a:rPr>
              <a:t>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M16c</a:t>
            </a:r>
            <a:r>
              <a:rPr sz="2200" b="1">
                <a:solidFill>
                  <a:srgbClr val="EAF0FB"/>
                </a:solidFill>
                <a:latin typeface="Segoe UI"/>
              </a:rPr>
              <a:t>   Algorithm compare — SAC vs MPO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2286000" cy="304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44368" y="1078992"/>
            <a:ext cx="8823960" cy="12700"/>
          </a:xfrm>
          <a:prstGeom prst="rect">
            <a:avLst/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xp3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636" y="1280160"/>
            <a:ext cx="8125968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9436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250" b="0">
                <a:solidFill>
                  <a:srgbClr val="93A4C3"/>
                </a:solidFill>
                <a:latin typeface="Segoe UI"/>
              </a:rPr>
              <a:t>Exp 3: same task, SAC (sparse) vs MPO (dense), frozen 1.5 s timestep.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250" b="0">
                <a:solidFill>
                  <a:srgbClr val="93A4C3"/>
                </a:solidFill>
                <a:latin typeface="Segoe UI"/>
              </a:rPr>
              <a:t>Green line = SAC (learns, best train +5.3, eval -22.2); purple line = MPO (flat at -51.6).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250" b="0">
                <a:solidFill>
                  <a:srgbClr val="93A4C3"/>
                </a:solidFill>
                <a:latin typeface="Segoe UI"/>
              </a:rPr>
              <a:t>MPO never improves despite dense credit (inconclusive); SAC is the learnable choice here.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3A4C3"/>
                </a:solidFill>
                <a:latin typeface="Segoe UI"/>
              </a:rPr>
              <a:t>Autonomous Satellite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8BDF8"/>
                </a:solidFill>
                <a:latin typeface="Segoe UI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M16d</a:t>
            </a:r>
            <a:r>
              <a:rPr sz="2200" b="1">
                <a:solidFill>
                  <a:srgbClr val="EAF0FB"/>
                </a:solidFill>
                <a:latin typeface="Segoe UI"/>
              </a:rPr>
              <a:t>   Alternative action: nadir-relative vector vs torque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2286000" cy="304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44368" y="1078992"/>
            <a:ext cx="8823960" cy="12700"/>
          </a:xfrm>
          <a:prstGeom prst="rect">
            <a:avLst/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xp4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636" y="1280160"/>
            <a:ext cx="8125968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9436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250" b="0">
                <a:solidFill>
                  <a:srgbClr val="93A4C3"/>
                </a:solidFill>
                <a:latin typeface="Segoe UI"/>
              </a:rPr>
              <a:t>Question: torque control triggers safe-mode a lot — is a higher-level action easier to learn?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250" b="0">
                <a:solidFill>
                  <a:srgbClr val="93A4C3"/>
                </a:solidFill>
                <a:latin typeface="Segoe UI"/>
              </a:rPr>
              <a:t>Alternative action: u in [-1,1] -&gt; nadir-relative offset (max 45°) -&gt; PD -&gt; torque (torque-path safety bypassed).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250" b="0">
                <a:solidFill>
                  <a:srgbClr val="93A4C3"/>
                </a:solidFill>
                <a:latin typeface="Segoe UI"/>
              </a:rPr>
              <a:t>Model: SAC, 50 episodes, both arms; hold-last safety events = 0.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250" b="0">
                <a:solidFill>
                  <a:srgbClr val="93A4C3"/>
                </a:solidFill>
                <a:latin typeface="Segoe UI"/>
              </a:rPr>
              <a:t>Result: both show a learning signal; torque (Ref0) eval -11.1 still beats vector (Ref1) eval -24.1; vector peaks higher in training (+95.8).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250" b="0">
                <a:solidFill>
                  <a:srgbClr val="93A4C3"/>
                </a:solidFill>
                <a:latin typeface="Segoe UI"/>
              </a:rPr>
              <a:t>Vector OBC kept as the cleaner production safety interface (D-016); a KPI win is still pending.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3A4C3"/>
                </a:solidFill>
                <a:latin typeface="Segoe UI"/>
              </a:rPr>
              <a:t>Autonomous Satellite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8BDF8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M15</a:t>
            </a:r>
            <a:r>
              <a:rPr sz="2200" b="1">
                <a:solidFill>
                  <a:srgbClr val="EAF0FB"/>
                </a:solidFill>
                <a:latin typeface="Segoe UI"/>
              </a:rPr>
              <a:t>   The learnability journey (summary)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2286000" cy="304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44368" y="1078992"/>
            <a:ext cx="8823960" cy="12700"/>
          </a:xfrm>
          <a:prstGeom prst="rect">
            <a:avLst/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sults_score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636" y="1280160"/>
            <a:ext cx="8125968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9436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250" b="0">
                <a:solidFill>
                  <a:srgbClr val="93A4C3"/>
                </a:solidFill>
                <a:latin typeface="Segoe UI"/>
              </a:rPr>
              <a:t>Summary of the campaign: eval return from -243.5 (MPO collapse) to +80.9 (SAC compressed encoder).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250" b="0">
                <a:solidFill>
                  <a:srgbClr val="93A4C3"/>
                </a:solidFill>
                <a:latin typeface="Segoe UI"/>
              </a:rPr>
              <a:t>Dashed line = deterministic baseline (+89): the best SAC run (+80.9) is within reach but has not beaten it yet.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250" b="0">
                <a:solidFill>
                  <a:srgbClr val="93A4C3"/>
                </a:solidFill>
                <a:latin typeface="Segoe UI"/>
              </a:rPr>
              <a:t>Green = a learning signal was inferred (returns trending up, KL finite); red = none. This is our scientific read, not a knob we set.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250" b="0">
                <a:solidFill>
                  <a:srgbClr val="93A4C3"/>
                </a:solidFill>
                <a:latin typeface="Segoe UI"/>
              </a:rPr>
              <a:t>Open: a final matched eval (same clouds/altitude/targets) to claim superiority over the baseline (D-008).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3A4C3"/>
                </a:solidFill>
                <a:latin typeface="Segoe UI"/>
              </a:rPr>
              <a:t>Autonomous Satellite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8BDF8"/>
                </a:solidFill>
                <a:latin typeface="Segoe UI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1463040"/>
          </a:xfrm>
          <a:prstGeom prst="rect">
            <a:avLst/>
          </a:prstGeom>
          <a:solidFill>
            <a:srgbClr val="16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788920"/>
            <a:ext cx="128016" cy="14630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48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8BDF8"/>
                </a:solidFill>
                <a:latin typeface="Segoe UI"/>
              </a:rPr>
              <a:t>S5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697480"/>
            <a:ext cx="10424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AF0FB"/>
                </a:solidFill>
                <a:latin typeface="Segoe UI"/>
              </a:rPr>
              <a:t>5 · Conclusion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2976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3A4C3"/>
                </a:solidFill>
                <a:latin typeface="Segoe UI"/>
              </a:rPr>
              <a:t>What we proved, what is still open, and where this goes next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3A4C3"/>
                </a:solidFill>
                <a:latin typeface="Segoe UI"/>
              </a:rPr>
              <a:t>Autonomous Satellite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8BDF8"/>
                </a:solidFill>
                <a:latin typeface="Segoe UI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M20</a:t>
            </a:r>
            <a:r>
              <a:rPr sz="2200" b="1">
                <a:solidFill>
                  <a:srgbClr val="EAF0FB"/>
                </a:solidFill>
                <a:latin typeface="Segoe UI"/>
              </a:rPr>
              <a:t>  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2286000" cy="304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44368" y="1078992"/>
            <a:ext cx="8823960" cy="12700"/>
          </a:xfrm>
          <a:prstGeom prst="rect">
            <a:avLst/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Built a from-scratch, single-source-of-truth simulation + cloud-aware training loop end to end.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Demonstrated learnability: SAC sparse reaches positive eval (+80.9) from a -243.5 MPO collapse.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Negative results (Exp 1-2) and the algorithm compare (Exp 3) scientifically narrowed the design.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Superiority over the deterministic baseline (+89) is not yet proven on a final matched evaluation.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3A4C3"/>
                </a:solidFill>
                <a:latin typeface="Segoe UI"/>
              </a:rPr>
              <a:t>Autonomous Satellite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8BDF8"/>
                </a:solidFill>
                <a:latin typeface="Segoe UI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M21</a:t>
            </a:r>
            <a:r>
              <a:rPr sz="2200" b="1">
                <a:solidFill>
                  <a:srgbClr val="EAF0FB"/>
                </a:solidFill>
                <a:latin typeface="Segoe UI"/>
              </a:rPr>
              <a:t>   Further research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2286000" cy="304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44368" y="1078992"/>
            <a:ext cx="8823960" cy="12700"/>
          </a:xfrm>
          <a:prstGeom prst="rect">
            <a:avLst/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Run the final matched eval (same clouds/altitude/targets) of best SAC policy vs the deterministic baseline.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Close Exp 3-4 verdicts with frame-level behavioral review of the exported videos.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Iterate reward + control interface until the learned policy beats the baseline on observation value.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Then build the mission-planner layer above the OBC — the hierarchical north star.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3A4C3"/>
                </a:solidFill>
                <a:latin typeface="Segoe UI"/>
              </a:rPr>
              <a:t>Autonomous Satellite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8BDF8"/>
                </a:solidFill>
                <a:latin typeface="Segoe UI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M22</a:t>
            </a:r>
            <a:r>
              <a:rPr sz="2200" b="1">
                <a:solidFill>
                  <a:srgbClr val="EAF0FB"/>
                </a:solidFill>
                <a:latin typeface="Segoe UI"/>
              </a:rPr>
              <a:t>   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2286000" cy="304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44368" y="1078992"/>
            <a:ext cx="8823960" cy="12700"/>
          </a:xfrm>
          <a:prstGeom prst="rect">
            <a:avLst/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Questions?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Cedric Grieder · ETH x Beyond Gravity semester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3A4C3"/>
                </a:solidFill>
                <a:latin typeface="Segoe UI"/>
              </a:rPr>
              <a:t>Autonomous Satellite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8BDF8"/>
                </a:solidFill>
                <a:latin typeface="Segoe UI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109728" cy="56692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BBF24"/>
                </a:solidFill>
                <a:latin typeface="Segoe UI"/>
              </a:rPr>
              <a:t>A01</a:t>
            </a:r>
            <a:r>
              <a:rPr sz="2200" b="1">
                <a:solidFill>
                  <a:srgbClr val="EAF0FB"/>
                </a:solidFill>
                <a:latin typeface="Segoe UI"/>
              </a:rPr>
              <a:t>   Admin slide 1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2286000" cy="304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44368" y="1078992"/>
            <a:ext cx="8823960" cy="12700"/>
          </a:xfrm>
          <a:prstGeom prst="rect">
            <a:avLst/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FBBF24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Company / org content — add Beyond Gravity branding, context, or intro.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FBBF24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[YOUR CONTENT]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3A4C3"/>
                </a:solidFill>
                <a:latin typeface="Segoe UI"/>
              </a:rPr>
              <a:t>Autonomous Satellite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FBBF24"/>
                </a:solidFill>
                <a:latin typeface="Segoe UI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109728" cy="56692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BBF24"/>
                </a:solidFill>
                <a:latin typeface="Segoe UI"/>
              </a:rPr>
              <a:t>A02</a:t>
            </a:r>
            <a:r>
              <a:rPr sz="2200" b="1">
                <a:solidFill>
                  <a:srgbClr val="EAF0FB"/>
                </a:solidFill>
                <a:latin typeface="Segoe UI"/>
              </a:rPr>
              <a:t>   Admin slide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2286000" cy="304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44368" y="1078992"/>
            <a:ext cx="8823960" cy="12700"/>
          </a:xfrm>
          <a:prstGeom prst="rect">
            <a:avLst/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FBBF24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Second admin slide — team, project placement, or logistics.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FBBF24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[YOUR CONTENT]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3A4C3"/>
                </a:solidFill>
                <a:latin typeface="Segoe UI"/>
              </a:rPr>
              <a:t>Autonomous Satellite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FBBF24"/>
                </a:solidFill>
                <a:latin typeface="Segoe UI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109728" cy="5669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B01</a:t>
            </a:r>
            <a:r>
              <a:rPr sz="2200" b="1">
                <a:solidFill>
                  <a:srgbClr val="EAF0FB"/>
                </a:solidFill>
                <a:latin typeface="Segoe UI"/>
              </a:rPr>
              <a:t>   Backup — best SAC hparam run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2286000" cy="3048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44368" y="1078992"/>
            <a:ext cx="8823960" cy="12700"/>
          </a:xfrm>
          <a:prstGeom prst="rect">
            <a:avLst/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ac_best_hpa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86458"/>
            <a:ext cx="11384280" cy="39594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9436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▸  </a:t>
            </a:r>
            <a:r>
              <a:rPr sz="1250" b="0">
                <a:solidFill>
                  <a:srgbClr val="93A4C3"/>
                </a:solidFill>
                <a:latin typeface="Segoe UI"/>
              </a:rPr>
              <a:t>Experiment: SAC hparam grid · arm SAC-M sparse · 50 episodes.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▸  </a:t>
            </a:r>
            <a:r>
              <a:rPr sz="1250" b="0">
                <a:solidFill>
                  <a:srgbClr val="93A4C3"/>
                </a:solidFill>
                <a:latin typeface="Segoe UI"/>
              </a:rPr>
              <a:t>Result: train best +129.8, eval +50.6, learning signal inferred.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▸  </a:t>
            </a:r>
            <a:r>
              <a:rPr sz="1250" b="0">
                <a:solidFill>
                  <a:srgbClr val="93A4C3"/>
                </a:solidFill>
                <a:latin typeface="Segoe UI"/>
              </a:rPr>
              <a:t>run: 9998217230681332_ml_sac_hparam_sac_m_sparse_21-41-58.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3A4C3"/>
                </a:solidFill>
                <a:latin typeface="Segoe UI"/>
              </a:rPr>
              <a:t>Autonomous Satellite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4D399"/>
                </a:solidFill>
                <a:latin typeface="Segoe UI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109728" cy="5669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B02</a:t>
            </a:r>
            <a:r>
              <a:rPr sz="2200" b="1">
                <a:solidFill>
                  <a:srgbClr val="EAF0FB"/>
                </a:solidFill>
                <a:latin typeface="Segoe UI"/>
              </a:rPr>
              <a:t>   Backup — Exp 4 torque arm (Ref0)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2286000" cy="3048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44368" y="1078992"/>
            <a:ext cx="8823960" cy="12700"/>
          </a:xfrm>
          <a:prstGeom prst="rect">
            <a:avLst/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xp4_ref0_tor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86458"/>
            <a:ext cx="11384280" cy="39594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9436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▸  </a:t>
            </a:r>
            <a:r>
              <a:rPr sz="1250" b="0">
                <a:solidFill>
                  <a:srgbClr val="93A4C3"/>
                </a:solidFill>
                <a:latin typeface="Segoe UI"/>
              </a:rPr>
              <a:t>Experiment: Exp 4 agent-reference · arm Ref0 torque · SAC · 50 episodes.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▸  </a:t>
            </a:r>
            <a:r>
              <a:rPr sz="1250" b="0">
                <a:solidFill>
                  <a:srgbClr val="93A4C3"/>
                </a:solidFill>
                <a:latin typeface="Segoe UI"/>
              </a:rPr>
              <a:t>Result: eval -11.1, learning signal inferred, train spike +8.4 at ep 49.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▸  </a:t>
            </a:r>
            <a:r>
              <a:rPr sz="1250" b="0">
                <a:solidFill>
                  <a:srgbClr val="93A4C3"/>
                </a:solidFill>
                <a:latin typeface="Segoe UI"/>
              </a:rPr>
              <a:t>run: 9998217183842846_ml_ref_ref0_torque_10-42-36 · video: videos/05_torque_action_eval.mp4.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3A4C3"/>
                </a:solidFill>
                <a:latin typeface="Segoe UI"/>
              </a:rPr>
              <a:t>Autonomous Satellite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4D399"/>
                </a:solidFill>
                <a:latin typeface="Segoe UI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109728" cy="5669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B03</a:t>
            </a:r>
            <a:r>
              <a:rPr sz="2200" b="1">
                <a:solidFill>
                  <a:srgbClr val="EAF0FB"/>
                </a:solidFill>
                <a:latin typeface="Segoe UI"/>
              </a:rPr>
              <a:t>   Backup — vector action eval (video)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2286000" cy="3048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44368" y="1078992"/>
            <a:ext cx="8823960" cy="12700"/>
          </a:xfrm>
          <a:prstGeom prst="rect">
            <a:avLst/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475488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▸  </a:t>
            </a:r>
            <a:r>
              <a:rPr sz="1400" b="0">
                <a:solidFill>
                  <a:srgbClr val="EAF0FB"/>
                </a:solidFill>
                <a:latin typeface="Segoe UI"/>
              </a:rPr>
              <a:t>Experiment: Exp 4 agent-reference · arm Ref1 vector · SAC · 50 episodes.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▸  </a:t>
            </a:r>
            <a:r>
              <a:rPr sz="1400" b="0">
                <a:solidFill>
                  <a:srgbClr val="EAF0FB"/>
                </a:solidFill>
                <a:latin typeface="Segoe UI"/>
              </a:rPr>
              <a:t>Result: eval -24.1, train peak +95.8, hold-last safety events = 0.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▸  </a:t>
            </a:r>
            <a:r>
              <a:rPr sz="1400" b="0">
                <a:solidFill>
                  <a:srgbClr val="EAF0FB"/>
                </a:solidFill>
                <a:latin typeface="Segoe UI"/>
              </a:rPr>
              <a:t>Cleaner safety interface (D-016); promoted to production.</a:t>
            </a:r>
          </a:p>
        </p:txBody>
      </p:sp>
      <p:pic>
        <p:nvPicPr>
          <p:cNvPr id="8" name="04_vector_action_eval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06440" y="2064544"/>
            <a:ext cx="5989320" cy="33689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06440" y="5451824"/>
            <a:ext cx="5989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4D399"/>
                </a:solidFill>
                <a:latin typeface="Segoe UI"/>
              </a:rPr>
              <a:t>▶  click to play  ·  </a:t>
            </a:r>
            <a:r>
              <a:rPr sz="1100" b="0">
                <a:solidFill>
                  <a:srgbClr val="93A4C3"/>
                </a:solidFill>
                <a:latin typeface="Segoe UI"/>
              </a:rPr>
              <a:t>04_vector_action_eval.mp4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3A4C3"/>
                </a:solidFill>
                <a:latin typeface="Segoe UI"/>
              </a:rPr>
              <a:t>Autonomous Satellite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4D399"/>
                </a:solidFill>
                <a:latin typeface="Segoe UI"/>
              </a:rPr>
              <a:t>38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109728" cy="5669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B04</a:t>
            </a:r>
            <a:r>
              <a:rPr sz="2200" b="1">
                <a:solidFill>
                  <a:srgbClr val="EAF0FB"/>
                </a:solidFill>
                <a:latin typeface="Segoe UI"/>
              </a:rPr>
              <a:t>   Backup — Exp 3 SAC eval (video)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2286000" cy="3048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44368" y="1078992"/>
            <a:ext cx="8823960" cy="12700"/>
          </a:xfrm>
          <a:prstGeom prst="rect">
            <a:avLst/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475488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▸  </a:t>
            </a:r>
            <a:r>
              <a:rPr sz="1400" b="0">
                <a:solidFill>
                  <a:srgbClr val="EAF0FB"/>
                </a:solidFill>
                <a:latin typeface="Segoe UI"/>
              </a:rPr>
              <a:t>Experiment: Exp 3 SAC vs MPO · arm SAC sparse · dt 1.5 s, patience-stopped at 37 ep.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▸  </a:t>
            </a:r>
            <a:r>
              <a:rPr sz="1400" b="0">
                <a:solidFill>
                  <a:srgbClr val="EAF0FB"/>
                </a:solidFill>
                <a:latin typeface="Segoe UI"/>
              </a:rPr>
              <a:t>Result: supported, best train +5.33, eval -22.2 (learning signal).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▸  </a:t>
            </a:r>
            <a:r>
              <a:rPr sz="1400" b="0">
                <a:solidFill>
                  <a:srgbClr val="EAF0FB"/>
                </a:solidFill>
                <a:latin typeface="Segoe UI"/>
              </a:rPr>
              <a:t>MPO contrast arm: inconclusive, plateau -51.6, 22 ep.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▸  </a:t>
            </a:r>
            <a:r>
              <a:rPr sz="1400" b="0">
                <a:solidFill>
                  <a:srgbClr val="EAF0FB"/>
                </a:solidFill>
                <a:latin typeface="Segoe UI"/>
              </a:rPr>
              <a:t>docs/experiments/pipeline/1-built/03-sac-mpo-compare.md.</a:t>
            </a:r>
          </a:p>
        </p:txBody>
      </p:sp>
      <p:pic>
        <p:nvPicPr>
          <p:cNvPr id="8" name="06_exp3_sac_eval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06440" y="2064544"/>
            <a:ext cx="5989320" cy="33689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06440" y="5451824"/>
            <a:ext cx="5989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4D399"/>
                </a:solidFill>
                <a:latin typeface="Segoe UI"/>
              </a:rPr>
              <a:t>▶  click to play  ·  </a:t>
            </a:r>
            <a:r>
              <a:rPr sz="1100" b="0">
                <a:solidFill>
                  <a:srgbClr val="93A4C3"/>
                </a:solidFill>
                <a:latin typeface="Segoe UI"/>
              </a:rPr>
              <a:t>06_exp3_sac_eval.mp4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3A4C3"/>
                </a:solidFill>
                <a:latin typeface="Segoe UI"/>
              </a:rPr>
              <a:t>Autonomous Satellite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4D399"/>
                </a:solidFill>
                <a:latin typeface="Segoe UI"/>
              </a:rPr>
              <a:t>39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109728" cy="5669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B05</a:t>
            </a:r>
            <a:r>
              <a:rPr sz="2200" b="1">
                <a:solidFill>
                  <a:srgbClr val="EAF0FB"/>
                </a:solidFill>
                <a:latin typeface="Segoe UI"/>
              </a:rPr>
              <a:t>   Backup — experiment x research cross-map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2286000" cy="3048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44368" y="1078992"/>
            <a:ext cx="8823960" cy="12700"/>
          </a:xfrm>
          <a:prstGeom prst="rect">
            <a:avLst/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3A4C3"/>
                </a:solidFill>
                <a:latin typeface="Segoe UI"/>
              </a:rPr>
              <a:t>Each experiment is grounded in repo literature + logged decisions.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20624" y="1828800"/>
          <a:ext cx="11338558" cy="4434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14169"/>
                <a:gridCol w="2948025"/>
                <a:gridCol w="4308652"/>
                <a:gridCol w="2267712"/>
              </a:tblGrid>
              <a:tr h="88696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1221"/>
                          </a:solidFill>
                          <a:latin typeface="Segoe UI"/>
                        </a:rPr>
                        <a:t>Experiment</a:t>
                      </a:r>
                    </a:p>
                  </a:txBody>
                  <a:tcPr marL="73152" marR="73152" marT="27432" marB="27432" anchor="ctr">
                    <a:solidFill>
                      <a:srgbClr val="34D39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1221"/>
                          </a:solidFill>
                          <a:latin typeface="Segoe UI"/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solidFill>
                      <a:srgbClr val="34D39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1221"/>
                          </a:solidFill>
                          <a:latin typeface="Segoe UI"/>
                        </a:rPr>
                        <a:t>Papers / references (repo)</a:t>
                      </a:r>
                    </a:p>
                  </a:txBody>
                  <a:tcPr marL="73152" marR="73152" marT="27432" marB="27432" anchor="ctr">
                    <a:solidFill>
                      <a:srgbClr val="34D39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1221"/>
                          </a:solidFill>
                          <a:latin typeface="Segoe UI"/>
                        </a:rPr>
                        <a:t>Decisions / notes</a:t>
                      </a:r>
                    </a:p>
                  </a:txBody>
                  <a:tcPr marL="73152" marR="73152" marT="27432" marB="27432" anchor="ctr">
                    <a:solidFill>
                      <a:srgbClr val="34D399"/>
                    </a:solidFill>
                  </a:tcPr>
                </a:tc>
              </a:tr>
              <a:tr h="88696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AF0FB"/>
                          </a:solidFill>
                          <a:latin typeface="Segoe UI"/>
                        </a:rPr>
                        <a:t>Exp 1 — Shutter (MPO)</a:t>
                      </a:r>
                    </a:p>
                  </a:txBody>
                  <a:tcPr marL="73152" marR="73152" marT="27432" marB="27432" anchor="ctr">
                    <a:solidFill>
                      <a:srgbClr val="1622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AF0FB"/>
                          </a:solidFill>
                          <a:latin typeface="Segoe UI"/>
                        </a:rPr>
                        <a:t>shutter spam / sparse credit assignment</a:t>
                      </a:r>
                    </a:p>
                  </a:txBody>
                  <a:tcPr marL="73152" marR="73152" marT="27432" marB="27432" anchor="ctr">
                    <a:solidFill>
                      <a:srgbClr val="1622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AF0FB"/>
                          </a:solidFill>
                          <a:latin typeface="Segoe UI"/>
                        </a:rPr>
                        <a:t>Abdolmaleki 2018 (MPO); internal shutter mechanics</a:t>
                      </a:r>
                    </a:p>
                  </a:txBody>
                  <a:tcPr marL="73152" marR="73152" marT="27432" marB="27432" anchor="ctr">
                    <a:solidFill>
                      <a:srgbClr val="1622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AF0FB"/>
                          </a:solidFill>
                          <a:latin typeface="Segoe UI"/>
                        </a:rPr>
                        <a:t>D-009/010/011 · shutter-threshold-investigation.md</a:t>
                      </a:r>
                    </a:p>
                  </a:txBody>
                  <a:tcPr marL="73152" marR="73152" marT="27432" marB="27432" anchor="ctr">
                    <a:solidFill>
                      <a:srgbClr val="16223B"/>
                    </a:solidFill>
                  </a:tcPr>
                </a:tc>
              </a:tr>
              <a:tr h="88696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AF0FB"/>
                          </a:solidFill>
                          <a:latin typeface="Segoe UI"/>
                        </a:rPr>
                        <a:t>Exp 2 — Encoder (SAC)</a:t>
                      </a:r>
                    </a:p>
                  </a:txBody>
                  <a:tcPr marL="73152" marR="73152" marT="27432" marB="27432" anchor="ctr">
                    <a:solidFill>
                      <a:srgbClr val="101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AF0FB"/>
                          </a:solidFill>
                          <a:latin typeface="Segoe UI"/>
                        </a:rPr>
                        <a:t>flatten vs structured observations</a:t>
                      </a:r>
                    </a:p>
                  </a:txBody>
                  <a:tcPr marL="73152" marR="73152" marT="27432" marB="27432" anchor="ctr">
                    <a:solidFill>
                      <a:srgbClr val="101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AF0FB"/>
                          </a:solidFill>
                          <a:latin typeface="Segoe UI"/>
                        </a:rPr>
                        <a:t>Gorishniy 2022 · entity-based RL (2206.02855) · SRL survey (2506.17518) · Bruin 2018</a:t>
                      </a:r>
                    </a:p>
                  </a:txBody>
                  <a:tcPr marL="73152" marR="73152" marT="27432" marB="27432" anchor="ctr">
                    <a:solidFill>
                      <a:srgbClr val="101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AF0FB"/>
                          </a:solidFill>
                          <a:latin typeface="Segoe UI"/>
                        </a:rPr>
                        <a:t>D-014/015 · LITERATURE_HIGHLIGHTS.md</a:t>
                      </a:r>
                    </a:p>
                  </a:txBody>
                  <a:tcPr marL="73152" marR="73152" marT="27432" marB="27432" anchor="ctr">
                    <a:solidFill>
                      <a:srgbClr val="101A30"/>
                    </a:solidFill>
                  </a:tcPr>
                </a:tc>
              </a:tr>
              <a:tr h="88696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AF0FB"/>
                          </a:solidFill>
                          <a:latin typeface="Segoe UI"/>
                        </a:rPr>
                        <a:t>Exp 3 — SAC vs MPO</a:t>
                      </a:r>
                    </a:p>
                  </a:txBody>
                  <a:tcPr marL="73152" marR="73152" marT="27432" marB="27432" anchor="ctr">
                    <a:solidFill>
                      <a:srgbClr val="1622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AF0FB"/>
                          </a:solidFill>
                          <a:latin typeface="Segoe UI"/>
                        </a:rPr>
                        <a:t>which algorithm learns on this task</a:t>
                      </a:r>
                    </a:p>
                  </a:txBody>
                  <a:tcPr marL="73152" marR="73152" marT="27432" marB="27432" anchor="ctr">
                    <a:solidFill>
                      <a:srgbClr val="1622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AF0FB"/>
                          </a:solidFill>
                          <a:latin typeface="Segoe UI"/>
                        </a:rPr>
                        <a:t>Haarnoja 2018 (SAC) · Abdolmaleki 2018 (MPO)</a:t>
                      </a:r>
                    </a:p>
                  </a:txBody>
                  <a:tcPr marL="73152" marR="73152" marT="27432" marB="27432" anchor="ctr">
                    <a:solidFill>
                      <a:srgbClr val="1622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AF0FB"/>
                          </a:solidFill>
                          <a:latin typeface="Segoe UI"/>
                        </a:rPr>
                        <a:t>model-size-investigation.md</a:t>
                      </a:r>
                    </a:p>
                  </a:txBody>
                  <a:tcPr marL="73152" marR="73152" marT="27432" marB="27432" anchor="ctr">
                    <a:solidFill>
                      <a:srgbClr val="16223B"/>
                    </a:solidFill>
                  </a:tcPr>
                </a:tc>
              </a:tr>
              <a:tr h="88696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AF0FB"/>
                          </a:solidFill>
                          <a:latin typeface="Segoe UI"/>
                        </a:rPr>
                        <a:t>Exp 4 — Vector OBC</a:t>
                      </a:r>
                    </a:p>
                  </a:txBody>
                  <a:tcPr marL="73152" marR="73152" marT="27432" marB="27432" anchor="ctr">
                    <a:solidFill>
                      <a:srgbClr val="101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AF0FB"/>
                          </a:solidFill>
                          <a:latin typeface="Segoe UI"/>
                        </a:rPr>
                        <a:t>action interface &amp; safety</a:t>
                      </a:r>
                    </a:p>
                  </a:txBody>
                  <a:tcPr marL="73152" marR="73152" marT="27432" marB="27432" anchor="ctr">
                    <a:solidFill>
                      <a:srgbClr val="101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AF0FB"/>
                          </a:solidFill>
                          <a:latin typeface="Segoe UI"/>
                        </a:rPr>
                        <a:t>MPC lecture (rec 08, hierarchical reference)</a:t>
                      </a:r>
                    </a:p>
                  </a:txBody>
                  <a:tcPr marL="73152" marR="73152" marT="27432" marB="27432" anchor="ctr">
                    <a:solidFill>
                      <a:srgbClr val="101A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AF0FB"/>
                          </a:solidFill>
                          <a:latin typeface="Segoe UI"/>
                        </a:rPr>
                        <a:t>D-001 · D-016</a:t>
                      </a:r>
                    </a:p>
                  </a:txBody>
                  <a:tcPr marL="73152" marR="73152" marT="27432" marB="27432" anchor="ctr">
                    <a:solidFill>
                      <a:srgbClr val="101A30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3A4C3"/>
                </a:solidFill>
                <a:latin typeface="Segoe UI"/>
              </a:rPr>
              <a:t>Autonomous Satellite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4D399"/>
                </a:solidFill>
                <a:latin typeface="Segoe UI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109728" cy="5669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B06</a:t>
            </a:r>
            <a:r>
              <a:rPr sz="2200" b="1">
                <a:solidFill>
                  <a:srgbClr val="EAF0FB"/>
                </a:solidFill>
                <a:latin typeface="Segoe UI"/>
              </a:rPr>
              <a:t>   Backup — full experiment list &amp; verdicts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2286000" cy="3048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44368" y="1078992"/>
            <a:ext cx="8823960" cy="12700"/>
          </a:xfrm>
          <a:prstGeom prst="rect">
            <a:avLst/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Exp1 Shutter: not_supported · Exp2 Encoder: not_supported.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Exp3 SAC/MPO: SAC supported, MPO inconclusive · Exp4 Vector OBC: both learn, KPI pending.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Supporting: SAC hparam grid, MPO model-size, sim-timing, cloud-formation campaigns.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3A4C3"/>
                </a:solidFill>
                <a:latin typeface="Segoe UI"/>
              </a:rPr>
              <a:t>Autonomous Satellite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4D399"/>
                </a:solidFill>
                <a:latin typeface="Segoe UI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109728" cy="5669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B07</a:t>
            </a:r>
            <a:r>
              <a:rPr sz="2200" b="1">
                <a:solidFill>
                  <a:srgbClr val="EAF0FB"/>
                </a:solidFill>
                <a:latin typeface="Segoe UI"/>
              </a:rPr>
              <a:t>   Backup — reward &amp; environment constants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2286000" cy="3048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44368" y="1078992"/>
            <a:ext cx="8823960" cy="12700"/>
          </a:xfrm>
          <a:prstGeom prst="rect">
            <a:avLst/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docs/presentation/machine-learning.md (reward, losses, encoder).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docs/presentation/environment-hyperparameters.md (mission, clouds, sim constants).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docs/presentation/technical-constants.md (camera, bus, RW, safety).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3A4C3"/>
                </a:solidFill>
                <a:latin typeface="Segoe UI"/>
              </a:rPr>
              <a:t>Autonomous Satellite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4D399"/>
                </a:solidFill>
                <a:latin typeface="Segoe UI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57200"/>
            <a:ext cx="109728" cy="5669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B08</a:t>
            </a:r>
            <a:r>
              <a:rPr sz="2200" b="1">
                <a:solidFill>
                  <a:srgbClr val="EAF0FB"/>
                </a:solidFill>
                <a:latin typeface="Segoe UI"/>
              </a:rPr>
              <a:t>   Backup — literature &amp; decisions 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2286000" cy="3048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44368" y="1078992"/>
            <a:ext cx="8823960" cy="12700"/>
          </a:xfrm>
          <a:prstGeom prst="rect">
            <a:avLst/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docs/research/LITERATURE_HIGHLIGHTS.md.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docs/research/DECISIONS.md (D-002 dt, D-007 dense reward, D-013 video export, D-016 vector OBC, ...).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▸  </a:t>
            </a:r>
            <a:r>
              <a:rPr sz="1500" b="0">
                <a:solidFill>
                  <a:srgbClr val="EAF0FB"/>
                </a:solidFill>
                <a:latin typeface="Segoe UI"/>
              </a:rPr>
              <a:t>Hypothesis docs under backend/scripts/experiments/*/H*.md.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79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3A4C3"/>
                </a:solidFill>
                <a:latin typeface="Segoe UI"/>
              </a:rPr>
              <a:t>Autonomous Satellite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34D399"/>
                </a:solidFill>
                <a:latin typeface="Segoe UI"/>
              </a:rPr>
              <a:t>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